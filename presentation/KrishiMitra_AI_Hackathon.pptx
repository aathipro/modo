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1fd7206-6c41-54b7-53c5-f70375020146}">
          <p14:sldIdLst>
            <p14:sldId id="256"/>
            <p14:sldId id="257"/>
          </p14:sldIdLst>
        </p14:section>
        <p14:section name="The Problem" id="{12423129-a8f1-4204-f43b-710d4bd964cf}">
          <p14:sldIdLst>
            <p14:sldId id="258"/>
            <p14:sldId id="259"/>
            <p14:sldId id="260"/>
          </p14:sldIdLst>
        </p14:section>
        <p14:section name="The Solution" id="{11811f70-9194-d1df-ec6b-95e7f6bd075d}">
          <p14:sldIdLst>
            <p14:sldId id="261"/>
            <p14:sldId id="262"/>
            <p14:sldId id="263"/>
            <p14:sldId id="264"/>
            <p14:sldId id="265"/>
          </p14:sldIdLst>
        </p14:section>
        <p14:section name="The Harvest" id="{b22d801f-4c41-256c-e54c-19ea727f6290}">
          <p14:sldIdLst>
            <p14:sldId id="266"/>
            <p14:sldId id="267"/>
            <p14:sldId id="268"/>
            <p14:sldId id="269"/>
          </p14:sldIdLst>
        </p14:section>
        <p14:section name="Close" id="{2694fc18-7436-6666-5b56-1fd33a7f0786}">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FFFFFF"/>
                </a:solidFill>
                <a:latin typeface="+mn-lt"/>
              </a:defRPr>
            </a:pPr>
            <a:r>
              <a:rPr sz="1600" b="0" i="0" u="none" strike="noStrike">
                <a:solidFill>
                  <a:srgbClr val="FFFFFF"/>
                </a:solidFill>
                <a:latin typeface="+mn-lt"/>
              </a:rPr>
              <a:t>Farmer's share of every ₹100 you pay (%)</a:t>
            </a:r>
          </a:p>
        </c:rich>
      </c:tx>
      <c:layout/>
      <c:overlay val="0"/>
    </c:title>
    <c:autoTitleDeleted val="0"/>
    <c:plotArea>
      <c:layout/>
      <c:barChart>
        <c:barDir val="bar"/>
        <c:grouping val="clustered"/>
        <c:varyColors val="0"/>
        <c:ser>
          <c:idx val="0"/>
          <c:order val="0"/>
          <c:tx>
            <c:strRef>
              <c:f>Sheet1!$B$1</c:f>
              <c:strCache>
                <c:ptCount val="1"/>
                <c:pt idx="0">
                  <c:v>Farmer's share (%)</c:v>
                </c:pt>
              </c:strCache>
            </c:strRef>
          </c:tx>
          <c:spPr>
            <a:solidFill>
              <a:srgbClr val="F2B705"/>
            </a:solidFill>
            <a:effectLst/>
          </c:spPr>
          <c:invertIfNegative val="0"/>
          <c:dLbls>
            <c:numFmt formatCode="#,##0" sourceLinked="0"/>
            <c:txPr>
              <a:bodyPr/>
              <a:lstStyle/>
              <a:p>
                <a:pPr>
                  <a:defRPr b="0" i="0" strike="noStrike" sz="1300" u="none">
                    <a:solidFill>
                      <a:srgbClr val="FFFFFF"/>
                    </a:solidFill>
                    <a:latin typeface="+mn-lt"/>
                  </a:defRPr>
                </a:pPr>
              </a:p>
            </c:txPr>
            <c:showLegendKey val="0"/>
            <c:showVal val="1"/>
            <c:showCatName val="0"/>
            <c:showSerName val="0"/>
            <c:showPercent val="0"/>
            <c:showBubbleSize val="0"/>
            <c:showLeaderLines val="0"/>
          </c:dLbls>
          <c:cat>
            <c:multiLvlStrRef>
              <c:f>Sheet1!$A$2:$A$7</c:f>
              <c:multiLvlStrCache>
                <c:ptCount val="6"/>
                <c:lvl>
                  <c:pt idx="0">
                    <c:v>Mango</c:v>
                  </c:pt>
                  <c:pt idx="1">
                    <c:v>Grapes</c:v>
                  </c:pt>
                  <c:pt idx="2">
                    <c:v>Banana</c:v>
                  </c:pt>
                  <c:pt idx="3">
                    <c:v>Potato</c:v>
                  </c:pt>
                  <c:pt idx="4">
                    <c:v>Onion</c:v>
                  </c:pt>
                  <c:pt idx="5">
                    <c:v>Tomato</c:v>
                  </c:pt>
                </c:lvl>
              </c:multiLvlStrCache>
            </c:multiLvlStrRef>
          </c:cat>
          <c:val>
            <c:numRef>
              <c:f>Sheet1!$B$2:$B$7</c:f>
              <c:numCache>
                <c:formatCode>General</c:formatCode>
                <c:ptCount val="6"/>
                <c:pt idx="0">
                  <c:v>43</c:v>
                </c:pt>
                <c:pt idx="1">
                  <c:v>35</c:v>
                </c:pt>
                <c:pt idx="2">
                  <c:v>31</c:v>
                </c:pt>
                <c:pt idx="3">
                  <c:v>37</c:v>
                </c:pt>
                <c:pt idx="4">
                  <c:v>36</c:v>
                </c:pt>
                <c:pt idx="5">
                  <c:v>33</c:v>
                </c:pt>
              </c:numCache>
            </c:numRef>
          </c:val>
        </c:ser>
        <c:dLbls>
          <c:numFmt formatCode="#,##0" sourceLinked="0"/>
          <c:txPr>
            <a:bodyPr/>
            <a:lstStyle/>
            <a:p>
              <a:pPr>
                <a:defRPr b="0" i="0" strike="noStrike" sz="13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EAF4E4"/>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judges, and thank you to the Kai Sandai Hackathon. We are [team name]. Our project is KrishiMitra AI: Krishi means farming and Mitra means friend. It's an AI friend in every farmer's pocket that helps them diagnose crop disease, beat the weather and get a fair price, all in their own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pitch follows a crop's journey: first the soil (the problem farmers face), then the seed (our solution), and finally the harvest (the impact, why we win, the business model and our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India's farmers feed 1.4 billion people, yet most of them make critical decisions alone. They face four big problems: crop disease spotted too late, unpredictable weather, middlemen who exploit the information gap on prices, and expert advice that isn't in their language or within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scale of it. 86% of Indian farmers are small or marginal. Nearly half of the country's workforce depends on farming. Globally, up to 40% of crops are lost to pests and disease. And look at the chart: of every 100 rupees you pay for tomatoes, the farmer gets only about 33. The rest goes to the supply chain. (Verify these figures against the cited sources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Ramu, a 42-year-old cotton farmer from Vidarbha with 2 acres. In week 6 he sees spots on his leaves, and there's no expert nearby. In week 7 a shopkeeper sells him the wrong pesticide. In week 14 unexpected rain ruins his drying harvest. And at the end he sells below the market rate. Ramu is not one farmer: he stands for millions.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is KrishiMitra AI: one assistant with four superpowers. Snap a photo to diagnose disease. Ask questions by voice in your own language. Get hyperlocal weather alerts that tell you when to spray or sow. And find live mandi prices and the best place to sell. It works on Android, WhatsApp, a simple voice call or 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the Crop Doctor for instant disease diagnosis; a voice assistant in 10+ Indian languages; a weather shield that turns forecasts into actions; live mandi prices; a scheme finder that connects farmers to PM-KISAN and crop insurance; and an offline, low-data mode so no farmer is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it works. The farmer snaps a photo or asks a question by voice. Our multimodal AI reads the image, the voice and the location. It combines that with weather, soil and price data, and the farmer gets one clear action in their language. For example, Ramu gets a diagnosis, a dose and the right time to spray, all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has four layers. Farmers reach us through the app, WhatsApp, an IVR call or SMS. The AI engine uses Gemini's multimodal model, a crop-disease vision model and Indic speech models. The data layer pulls from trusted public sources: IMD weather, Agmarknet prices, Soil Health Cards and government scheme data. Everything runs on scalable cloud infrastructure with a privacy and consent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farmer sees. Screen one: snap a leaf, get the disease, confidence and treatment, and tap to hear it in Marathi. Screen two: just speak a question and get a spoken answer. Screen three: compare nearby mandi prices and see where to sell for more. (If you have a live demo, switch to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pilot targets: 30% less crop loss, 20% lower input costs, 15% better prices, and one million farmers reached in 18 months. The impact goes beyond income: less chemical overuse is better for the planet, and stronger farms mean stronger food security for India, in line with SDG 2: Zero Hunger.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are we different? Generic agri apps cover parts of the problem, and the Kisan Call Centre is great but needs a phone call and a wait. KrishiMitra brings everything together: photo diagnosis, voice in local languages, personalised advice, live prices, 24x7, and it even works without a smartphone.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Farmers never pay. That's how we build trust and scale. Revenue comes from three B2B streams: FPOs and co-operatives subscribe to a dashboard for their members; agri-input and insurance partners pay for verified listings and anonymised, consent-based insights; and governments and CSR programs fund white-label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follows the crop cycle. Today, the seed: our hackathon MVP. In 3 months, a sprout: a 500-farmer field pilot with an FPO partner. In 6 months we grow to 10 languages, offline mode and the scheme finder. And by month 18, the harvest: one million farmers across five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Behind every meal is a farmer like Ramu, and we believe no farmer should face a season alone. Jai Kisan! We'd love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THANKS-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498080" cy="123444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731520" y="3154680"/>
            <a:ext cx="6309360" cy="9601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548640" y="6382512"/>
            <a:ext cx="4572000" cy="274320"/>
          </a:xfrm>
          <a:prstGeom prst="rect">
            <a:avLst/>
          </a:prstGeom>
          <a:noFill/>
          <a:ln/>
        </p:spPr>
        <p:txBody>
          <a:bodyPr wrap="square" lIns="0" tIns="0" rIns="0" bIns="0" rtlCol="0" anchor="ctr"/>
          <a:lstStyle/>
          <a:p>
            <a:pPr indent="0" marL="0">
              <a:buNone/>
            </a:pPr>
            <a:r>
              <a:rPr lang="en-US" sz="1000" dirty="0">
                <a:solidFill>
                  <a:schemeClr val="bg2"/>
                </a:solidFill>
              </a:rPr>
              <a:t>KrishiMitra AI  ·  Kai Sandai Hackathon</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HANKS">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1325880"/>
          </a:xfrm>
          <a:prstGeom prst="rect">
            <a:avLst/>
          </a:prstGeom>
          <a:noFill/>
          <a:ln/>
        </p:spPr>
        <p:txBody>
          <a:bodyPr wrap="square" rtlCol="0"/>
          <a:lstStyle>
            <a:lvl1pPr algn="ctr" indent="0" marL="0">
              <a:buNone/>
              <a:defRPr lang="en-US" sz="8000" b="1" dirty="0">
                <a:solidFill>
                  <a:schemeClr val="bg1"/>
                </a:solidFill>
              </a:defRPr>
            </a:lvl1pPr>
          </a:lstStyle>
          <a:p>
            <a:pPr algn="ctr" indent="0" marL="0">
              <a:buNone/>
            </a:pPr>
            <a:endParaRPr lang="en-US" sz="8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label"/>
          <p:cNvSpPr txBox="1"/>
          <p:nvPr/>
        </p:nvSpPr>
        <p:spPr>
          <a:xfrm>
            <a:off x="731520" y="1417320"/>
            <a:ext cx="7498080" cy="320040"/>
          </a:xfrm>
          <a:prstGeom prst="rect">
            <a:avLst/>
          </a:prstGeom>
          <a:noFill/>
          <a:ln/>
        </p:spPr>
        <p:txBody>
          <a:bodyPr wrap="square" lIns="0" tIns="0" rIns="0" bIns="0" rtlCol="0" anchor="t"/>
          <a:lstStyle/>
          <a:p>
            <a:pPr indent="0" marL="0">
              <a:buNone/>
            </a:pPr>
            <a:r>
              <a:rPr lang="en-US" sz="1400" b="1" spc="400" kern="0" dirty="0">
                <a:solidFill>
                  <a:schemeClr val="accent1"/>
                </a:solidFill>
              </a:rPr>
              <a:t>KAI SANDAI HACKATHON  ·  AGRITECH TRACK</a:t>
            </a:r>
            <a:endParaRPr lang="en-US" sz="1400" dirty="0"/>
          </a:p>
        </p:txBody>
      </p:sp>
      <p:sp>
        <p:nvSpPr>
          <p:cNvPr id="3" name="Text 0"/>
          <p:cNvSpPr/>
          <p:nvPr>
            <p:ph idx="100" type="title" hasCustomPrompt="1"/>
          </p:nvPr>
        </p:nvSpPr>
        <p:spPr>
          <a:xfrm>
            <a:off x="731520" y="1828800"/>
            <a:ext cx="7498080" cy="1234440"/>
          </a:xfrm>
          <a:prstGeom prst="rect">
            <a:avLst/>
          </a:prstGeom>
          <a:noFill/>
          <a:ln/>
        </p:spPr>
        <p:txBody>
          <a:bodyPr wrap="square" lIns="0" tIns="0" rIns="0" bIns="0" rtlCol="0" anchor="ctr"/>
          <a:lstStyle/>
          <a:p>
            <a:pPr algn="l" indent="0" marL="0">
              <a:buNone/>
            </a:pPr>
            <a:r>
              <a:rPr lang="en-US" sz="6600" b="1" dirty="0">
                <a:solidFill>
                  <a:schemeClr val="bg1"/>
                </a:solidFill>
              </a:rPr>
              <a:t>Krishi</a:t>
            </a:r>
            <a:pPr algn="l" indent="0" marL="0">
              <a:buNone/>
            </a:pPr>
            <a:r>
              <a:rPr lang="en-US" sz="6600" b="1" dirty="0">
                <a:solidFill>
                  <a:schemeClr val="accent1"/>
                </a:solidFill>
              </a:rPr>
              <a:t>Mitra</a:t>
            </a:r>
            <a:pPr algn="l" indent="0" marL="0">
              <a:buNone/>
            </a:pPr>
            <a:r>
              <a:rPr lang="en-US" sz="6600" b="1" dirty="0">
                <a:solidFill>
                  <a:schemeClr val="bg1"/>
                </a:solidFill>
              </a:rPr>
              <a:t> AI</a:t>
            </a:r>
            <a:endParaRPr lang="en-US" sz="6600" dirty="0"/>
          </a:p>
        </p:txBody>
      </p:sp>
      <p:sp>
        <p:nvSpPr>
          <p:cNvPr id="4" name="Text 0"/>
          <p:cNvSpPr/>
          <p:nvPr>
            <p:ph idx="101" type="body" hasCustomPrompt="1"/>
          </p:nvPr>
        </p:nvSpPr>
        <p:spPr>
          <a:xfrm>
            <a:off x="731520" y="3154680"/>
            <a:ext cx="6309360" cy="960120"/>
          </a:xfrm>
          <a:prstGeom prst="rect">
            <a:avLst/>
          </a:prstGeom>
          <a:noFill/>
          <a:ln/>
        </p:spPr>
        <p:txBody>
          <a:bodyPr wrap="square" lIns="0" tIns="0" rIns="0" bIns="0" rtlCol="0" anchor="t"/>
          <a:lstStyle/>
          <a:p>
            <a:pPr indent="0" marL="0">
              <a:buNone/>
            </a:pPr>
            <a:r>
              <a:rPr lang="en-US" sz="2000" dirty="0">
                <a:solidFill>
                  <a:schemeClr val="bg2"/>
                </a:solidFill>
              </a:rPr>
              <a:t>The AI friend in every farmer's pocket: diagnose crops, beat the weather and get fair prices, in their own language.</a:t>
            </a:r>
            <a:endParaRPr lang="en-US" sz="2000" dirty="0"/>
          </a:p>
        </p:txBody>
      </p:sp>
      <p:sp>
        <p:nvSpPr>
          <p:cNvPr id="5" name="Diagnose circle"/>
          <p:cNvSpPr/>
          <p:nvPr/>
        </p:nvSpPr>
        <p:spPr>
          <a:xfrm>
            <a:off x="731520" y="4343400"/>
            <a:ext cx="502920" cy="502920"/>
          </a:xfrm>
          <a:prstGeom prst="ellipse">
            <a:avLst/>
          </a:prstGeom>
          <a:solidFill>
            <a:schemeClr val="accent1"/>
          </a:solidFill>
          <a:ln/>
        </p:spPr>
      </p:sp>
      <p:pic>
        <p:nvPicPr>
          <p:cNvPr id="6" name="Diagnose icon" descr="Diagnose">    </p:cNvPr>
          <p:cNvPicPr>
            <a:picLocks noChangeAspect="1"/>
          </p:cNvPicPr>
          <p:nvPr/>
        </p:nvPicPr>
        <p:blipFill>
          <a:blip r:embed="rId1"/>
          <a:stretch>
            <a:fillRect/>
          </a:stretch>
        </p:blipFill>
        <p:spPr>
          <a:xfrm>
            <a:off x="852221" y="4464101"/>
            <a:ext cx="261518" cy="261518"/>
          </a:xfrm>
          <a:prstGeom prst="rect">
            <a:avLst/>
          </a:prstGeom>
        </p:spPr>
      </p:pic>
      <p:sp>
        <p:nvSpPr>
          <p:cNvPr id="7" name="Diagnose label"/>
          <p:cNvSpPr txBox="1"/>
          <p:nvPr/>
        </p:nvSpPr>
        <p:spPr>
          <a:xfrm>
            <a:off x="1325880" y="4343400"/>
            <a:ext cx="960120" cy="502920"/>
          </a:xfrm>
          <a:prstGeom prst="rect">
            <a:avLst/>
          </a:prstGeom>
          <a:noFill/>
          <a:ln/>
        </p:spPr>
        <p:txBody>
          <a:bodyPr wrap="square" lIns="0" tIns="0" rIns="0" bIns="0" rtlCol="0" anchor="ctr"/>
          <a:lstStyle/>
          <a:p>
            <a:pPr indent="0" marL="0">
              <a:buNone/>
            </a:pPr>
            <a:r>
              <a:rPr lang="en-US" sz="1500" b="1" dirty="0">
                <a:solidFill>
                  <a:schemeClr val="bg1"/>
                </a:solidFill>
              </a:rPr>
              <a:t>Diagnose</a:t>
            </a:r>
            <a:endParaRPr lang="en-US" sz="1500" dirty="0"/>
          </a:p>
        </p:txBody>
      </p:sp>
      <p:sp>
        <p:nvSpPr>
          <p:cNvPr id="8" name="Predict circle"/>
          <p:cNvSpPr/>
          <p:nvPr/>
        </p:nvSpPr>
        <p:spPr>
          <a:xfrm>
            <a:off x="2331720" y="4343400"/>
            <a:ext cx="502920" cy="502920"/>
          </a:xfrm>
          <a:prstGeom prst="ellipse">
            <a:avLst/>
          </a:prstGeom>
          <a:solidFill>
            <a:schemeClr val="accent1"/>
          </a:solidFill>
          <a:ln/>
        </p:spPr>
      </p:sp>
      <p:pic>
        <p:nvPicPr>
          <p:cNvPr id="9" name="Predict icon" descr="Predict">    </p:cNvPr>
          <p:cNvPicPr>
            <a:picLocks noChangeAspect="1"/>
          </p:cNvPicPr>
          <p:nvPr/>
        </p:nvPicPr>
        <p:blipFill>
          <a:blip r:embed="rId2"/>
          <a:stretch>
            <a:fillRect/>
          </a:stretch>
        </p:blipFill>
        <p:spPr>
          <a:xfrm>
            <a:off x="2452421" y="4464101"/>
            <a:ext cx="261518" cy="261518"/>
          </a:xfrm>
          <a:prstGeom prst="rect">
            <a:avLst/>
          </a:prstGeom>
        </p:spPr>
      </p:pic>
      <p:sp>
        <p:nvSpPr>
          <p:cNvPr id="10" name="Predict label"/>
          <p:cNvSpPr txBox="1"/>
          <p:nvPr/>
        </p:nvSpPr>
        <p:spPr>
          <a:xfrm>
            <a:off x="2926080" y="4343400"/>
            <a:ext cx="960120" cy="502920"/>
          </a:xfrm>
          <a:prstGeom prst="rect">
            <a:avLst/>
          </a:prstGeom>
          <a:noFill/>
          <a:ln/>
        </p:spPr>
        <p:txBody>
          <a:bodyPr wrap="square" lIns="0" tIns="0" rIns="0" bIns="0" rtlCol="0" anchor="ctr"/>
          <a:lstStyle/>
          <a:p>
            <a:pPr indent="0" marL="0">
              <a:buNone/>
            </a:pPr>
            <a:r>
              <a:rPr lang="en-US" sz="1500" b="1" dirty="0">
                <a:solidFill>
                  <a:schemeClr val="bg1"/>
                </a:solidFill>
              </a:rPr>
              <a:t>Predict</a:t>
            </a:r>
            <a:endParaRPr lang="en-US" sz="1500" dirty="0"/>
          </a:p>
        </p:txBody>
      </p:sp>
      <p:sp>
        <p:nvSpPr>
          <p:cNvPr id="11" name="Price circle"/>
          <p:cNvSpPr/>
          <p:nvPr/>
        </p:nvSpPr>
        <p:spPr>
          <a:xfrm>
            <a:off x="3931920" y="4343400"/>
            <a:ext cx="502920" cy="502920"/>
          </a:xfrm>
          <a:prstGeom prst="ellipse">
            <a:avLst/>
          </a:prstGeom>
          <a:solidFill>
            <a:schemeClr val="accent1"/>
          </a:solidFill>
          <a:ln/>
        </p:spPr>
      </p:sp>
      <p:pic>
        <p:nvPicPr>
          <p:cNvPr id="12" name="Price icon" descr="Price">    </p:cNvPr>
          <p:cNvPicPr>
            <a:picLocks noChangeAspect="1"/>
          </p:cNvPicPr>
          <p:nvPr/>
        </p:nvPicPr>
        <p:blipFill>
          <a:blip r:embed="rId3"/>
          <a:stretch>
            <a:fillRect/>
          </a:stretch>
        </p:blipFill>
        <p:spPr>
          <a:xfrm>
            <a:off x="4052621" y="4464101"/>
            <a:ext cx="261518" cy="261518"/>
          </a:xfrm>
          <a:prstGeom prst="rect">
            <a:avLst/>
          </a:prstGeom>
        </p:spPr>
      </p:pic>
      <p:sp>
        <p:nvSpPr>
          <p:cNvPr id="13" name="Price label"/>
          <p:cNvSpPr txBox="1"/>
          <p:nvPr/>
        </p:nvSpPr>
        <p:spPr>
          <a:xfrm>
            <a:off x="4526280" y="4343400"/>
            <a:ext cx="960120" cy="502920"/>
          </a:xfrm>
          <a:prstGeom prst="rect">
            <a:avLst/>
          </a:prstGeom>
          <a:noFill/>
          <a:ln/>
        </p:spPr>
        <p:txBody>
          <a:bodyPr wrap="square" lIns="0" tIns="0" rIns="0" bIns="0" rtlCol="0" anchor="ctr"/>
          <a:lstStyle/>
          <a:p>
            <a:pPr indent="0" marL="0">
              <a:buNone/>
            </a:pPr>
            <a:r>
              <a:rPr lang="en-US" sz="1500" b="1" dirty="0">
                <a:solidFill>
                  <a:schemeClr val="bg1"/>
                </a:solidFill>
              </a:rPr>
              <a:t>Price</a:t>
            </a:r>
            <a:endParaRPr lang="en-US" sz="1500" dirty="0"/>
          </a:p>
        </p:txBody>
      </p:sp>
      <p:sp>
        <p:nvSpPr>
          <p:cNvPr id="14" name="Speak circle"/>
          <p:cNvSpPr/>
          <p:nvPr/>
        </p:nvSpPr>
        <p:spPr>
          <a:xfrm>
            <a:off x="5532120" y="4343400"/>
            <a:ext cx="502920" cy="502920"/>
          </a:xfrm>
          <a:prstGeom prst="ellipse">
            <a:avLst/>
          </a:prstGeom>
          <a:solidFill>
            <a:schemeClr val="accent1"/>
          </a:solidFill>
          <a:ln/>
        </p:spPr>
      </p:sp>
      <p:pic>
        <p:nvPicPr>
          <p:cNvPr id="15" name="Speak icon" descr="Speak">    </p:cNvPr>
          <p:cNvPicPr>
            <a:picLocks noChangeAspect="1"/>
          </p:cNvPicPr>
          <p:nvPr/>
        </p:nvPicPr>
        <p:blipFill>
          <a:blip r:embed="rId4"/>
          <a:stretch>
            <a:fillRect/>
          </a:stretch>
        </p:blipFill>
        <p:spPr>
          <a:xfrm>
            <a:off x="5652821" y="4464101"/>
            <a:ext cx="261518" cy="261518"/>
          </a:xfrm>
          <a:prstGeom prst="rect">
            <a:avLst/>
          </a:prstGeom>
        </p:spPr>
      </p:pic>
      <p:sp>
        <p:nvSpPr>
          <p:cNvPr id="16" name="Speak label"/>
          <p:cNvSpPr txBox="1"/>
          <p:nvPr/>
        </p:nvSpPr>
        <p:spPr>
          <a:xfrm>
            <a:off x="6126480" y="4343400"/>
            <a:ext cx="960120" cy="502920"/>
          </a:xfrm>
          <a:prstGeom prst="rect">
            <a:avLst/>
          </a:prstGeom>
          <a:noFill/>
          <a:ln/>
        </p:spPr>
        <p:txBody>
          <a:bodyPr wrap="square" lIns="0" tIns="0" rIns="0" bIns="0" rtlCol="0" anchor="ctr"/>
          <a:lstStyle/>
          <a:p>
            <a:pPr indent="0" marL="0">
              <a:buNone/>
            </a:pPr>
            <a:r>
              <a:rPr lang="en-US" sz="1500" b="1" dirty="0">
                <a:solidFill>
                  <a:schemeClr val="bg1"/>
                </a:solidFill>
              </a:rPr>
              <a:t>Speak</a:t>
            </a:r>
            <a:endParaRPr lang="en-US" sz="1500" dirty="0"/>
          </a:p>
        </p:txBody>
      </p:sp>
      <p:sp>
        <p:nvSpPr>
          <p:cNvPr id="17" name="Team pill"/>
          <p:cNvSpPr/>
          <p:nvPr/>
        </p:nvSpPr>
        <p:spPr>
          <a:xfrm>
            <a:off x="731520" y="5257800"/>
            <a:ext cx="4206240" cy="548640"/>
          </a:xfrm>
          <a:prstGeom prst="roundRect">
            <a:avLst>
              <a:gd name="adj" fmla="val 50000"/>
            </a:avLst>
          </a:prstGeom>
          <a:solidFill>
            <a:schemeClr val="tx1">
              <a:alpha val="70000"/>
            </a:schemeClr>
          </a:solidFill>
          <a:ln w="15875">
            <a:solidFill>
              <a:schemeClr val="accent1"/>
            </a:solidFill>
            <a:prstDash val="solid"/>
          </a:ln>
        </p:spPr>
      </p:sp>
      <p:sp>
        <p:nvSpPr>
          <p:cNvPr id="18" name="Team name"/>
          <p:cNvSpPr txBox="1"/>
          <p:nvPr/>
        </p:nvSpPr>
        <p:spPr>
          <a:xfrm>
            <a:off x="731520" y="5257800"/>
            <a:ext cx="4206240" cy="548640"/>
          </a:xfrm>
          <a:prstGeom prst="rect">
            <a:avLst/>
          </a:prstGeom>
          <a:noFill/>
          <a:ln/>
        </p:spPr>
        <p:txBody>
          <a:bodyPr wrap="square" lIns="0" tIns="0" rIns="0" bIns="0" rtlCol="0" anchor="ctr"/>
          <a:lstStyle/>
          <a:p>
            <a:pPr algn="ctr" indent="0" marL="0">
              <a:buNone/>
            </a:pPr>
            <a:r>
              <a:rPr lang="en-US" sz="1600" dirty="0">
                <a:solidFill>
                  <a:schemeClr val="bg2"/>
                </a:solidFill>
              </a:rPr>
              <a:t>Presented by  </a:t>
            </a:r>
            <a:pPr algn="ctr" indent="0" marL="0">
              <a:buNone/>
            </a:pPr>
            <a:r>
              <a:rPr lang="en-US" sz="1600" b="1" dirty="0">
                <a:solidFill>
                  <a:schemeClr val="accent1"/>
                </a:solidFill>
              </a:rPr>
              <a:t>[Your Team Name]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AGENDA</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From Seed to Harvest: Our Pitch Today</a:t>
            </a:r>
            <a:endParaRPr lang="en-US" sz="3600" dirty="0"/>
          </a:p>
        </p:txBody>
      </p:sp>
      <p:sp>
        <p:nvSpPr>
          <p:cNvPr id="4" name="The Problem card"/>
          <p:cNvSpPr/>
          <p:nvPr/>
        </p:nvSpPr>
        <p:spPr>
          <a:xfrm>
            <a:off x="548640" y="1691640"/>
            <a:ext cx="3520440" cy="4389120"/>
          </a:xfrm>
          <a:prstGeom prst="roundRect">
            <a:avLst>
              <a:gd name="adj" fmla="val 3117"/>
            </a:avLst>
          </a:prstGeom>
          <a:solidFill>
            <a:schemeClr val="tx2">
              <a:alpha val="85000"/>
            </a:schemeClr>
          </a:solidFill>
          <a:ln w="9525">
            <a:solidFill>
              <a:schemeClr val="accent2">
                <a:alpha val="35000"/>
              </a:schemeClr>
            </a:solidFill>
            <a:prstDash val="solid"/>
          </a:ln>
        </p:spPr>
      </p:sp>
      <p:sp>
        <p:nvSpPr>
          <p:cNvPr id="5" name="The Problem circle"/>
          <p:cNvSpPr/>
          <p:nvPr/>
        </p:nvSpPr>
        <p:spPr>
          <a:xfrm>
            <a:off x="822960" y="1965960"/>
            <a:ext cx="822960" cy="822960"/>
          </a:xfrm>
          <a:prstGeom prst="ellipse">
            <a:avLst/>
          </a:prstGeom>
          <a:solidFill>
            <a:schemeClr val="accent1"/>
          </a:solidFill>
          <a:ln/>
        </p:spPr>
      </p:sp>
      <p:pic>
        <p:nvPicPr>
          <p:cNvPr id="6" name="The Problem icon" descr="The Problem">    </p:cNvPr>
          <p:cNvPicPr>
            <a:picLocks noChangeAspect="1"/>
          </p:cNvPicPr>
          <p:nvPr/>
        </p:nvPicPr>
        <p:blipFill>
          <a:blip r:embed="rId1"/>
          <a:stretch>
            <a:fillRect/>
          </a:stretch>
        </p:blipFill>
        <p:spPr>
          <a:xfrm>
            <a:off x="1020470" y="2163470"/>
            <a:ext cx="427939" cy="427939"/>
          </a:xfrm>
          <a:prstGeom prst="rect">
            <a:avLst/>
          </a:prstGeom>
        </p:spPr>
      </p:pic>
      <p:sp>
        <p:nvSpPr>
          <p:cNvPr id="7" name="Text 4"/>
          <p:cNvSpPr txBox="1"/>
          <p:nvPr/>
        </p:nvSpPr>
        <p:spPr>
          <a:xfrm>
            <a:off x="1828800" y="2020824"/>
            <a:ext cx="21031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1 · THE SOIL</a:t>
            </a:r>
            <a:endParaRPr lang="en-US" sz="1200" dirty="0"/>
          </a:p>
        </p:txBody>
      </p:sp>
      <p:sp>
        <p:nvSpPr>
          <p:cNvPr id="8" name="Text 5"/>
          <p:cNvSpPr txBox="1"/>
          <p:nvPr/>
        </p:nvSpPr>
        <p:spPr>
          <a:xfrm>
            <a:off x="1828800" y="2295144"/>
            <a:ext cx="2103120" cy="45720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The Problem</a:t>
            </a:r>
            <a:endParaRPr lang="en-US" sz="2200" dirty="0"/>
          </a:p>
        </p:txBody>
      </p:sp>
      <p:sp>
        <p:nvSpPr>
          <p:cNvPr id="9" name="Text 6"/>
          <p:cNvSpPr txBox="1"/>
          <p:nvPr/>
        </p:nvSpPr>
        <p:spPr>
          <a:xfrm>
            <a:off x="868680" y="3108960"/>
            <a:ext cx="548640" cy="41148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01</a:t>
            </a:r>
            <a:endParaRPr lang="en-US" sz="2000" dirty="0"/>
          </a:p>
        </p:txBody>
      </p:sp>
      <p:sp>
        <p:nvSpPr>
          <p:cNvPr id="10" name="Text 7"/>
          <p:cNvSpPr txBox="1"/>
          <p:nvPr/>
        </p:nvSpPr>
        <p:spPr>
          <a:xfrm>
            <a:off x="1463040" y="3108960"/>
            <a:ext cx="2377440" cy="411480"/>
          </a:xfrm>
          <a:prstGeom prst="rect">
            <a:avLst/>
          </a:prstGeom>
          <a:noFill/>
          <a:ln/>
        </p:spPr>
        <p:txBody>
          <a:bodyPr wrap="square" lIns="0" tIns="0" rIns="0" bIns="0" rtlCol="0" anchor="ctr"/>
          <a:lstStyle/>
          <a:p>
            <a:pPr indent="0" marL="0">
              <a:buNone/>
            </a:pPr>
            <a:r>
              <a:rPr lang="en-US" sz="1700" dirty="0">
                <a:solidFill>
                  <a:schemeClr val="bg1"/>
                </a:solidFill>
              </a:rPr>
              <a:t>The Problem</a:t>
            </a:r>
            <a:endParaRPr lang="en-US" sz="1700" dirty="0"/>
          </a:p>
        </p:txBody>
      </p:sp>
      <p:sp>
        <p:nvSpPr>
          <p:cNvPr id="11" name="Text 8"/>
          <p:cNvSpPr txBox="1"/>
          <p:nvPr/>
        </p:nvSpPr>
        <p:spPr>
          <a:xfrm>
            <a:off x="868680" y="3657600"/>
            <a:ext cx="548640" cy="41148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02</a:t>
            </a:r>
            <a:endParaRPr lang="en-US" sz="2000" dirty="0"/>
          </a:p>
        </p:txBody>
      </p:sp>
      <p:sp>
        <p:nvSpPr>
          <p:cNvPr id="12" name="Text 9"/>
          <p:cNvSpPr txBox="1"/>
          <p:nvPr/>
        </p:nvSpPr>
        <p:spPr>
          <a:xfrm>
            <a:off x="1463040" y="3657600"/>
            <a:ext cx="2377440" cy="411480"/>
          </a:xfrm>
          <a:prstGeom prst="rect">
            <a:avLst/>
          </a:prstGeom>
          <a:noFill/>
          <a:ln/>
        </p:spPr>
        <p:txBody>
          <a:bodyPr wrap="square" lIns="0" tIns="0" rIns="0" bIns="0" rtlCol="0" anchor="ctr"/>
          <a:lstStyle/>
          <a:p>
            <a:pPr indent="0" marL="0">
              <a:buNone/>
            </a:pPr>
            <a:r>
              <a:rPr lang="en-US" sz="1700" dirty="0">
                <a:solidFill>
                  <a:schemeClr val="bg1"/>
                </a:solidFill>
              </a:rPr>
              <a:t>By the Numbers</a:t>
            </a:r>
            <a:endParaRPr lang="en-US" sz="1700" dirty="0"/>
          </a:p>
        </p:txBody>
      </p:sp>
      <p:sp>
        <p:nvSpPr>
          <p:cNvPr id="13" name="Text 10"/>
          <p:cNvSpPr txBox="1"/>
          <p:nvPr/>
        </p:nvSpPr>
        <p:spPr>
          <a:xfrm>
            <a:off x="868680" y="4206240"/>
            <a:ext cx="548640" cy="41148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03</a:t>
            </a:r>
            <a:endParaRPr lang="en-US" sz="2000" dirty="0"/>
          </a:p>
        </p:txBody>
      </p:sp>
      <p:sp>
        <p:nvSpPr>
          <p:cNvPr id="14" name="Text 11"/>
          <p:cNvSpPr txBox="1"/>
          <p:nvPr/>
        </p:nvSpPr>
        <p:spPr>
          <a:xfrm>
            <a:off x="1463040" y="4206240"/>
            <a:ext cx="2377440" cy="411480"/>
          </a:xfrm>
          <a:prstGeom prst="rect">
            <a:avLst/>
          </a:prstGeom>
          <a:noFill/>
          <a:ln/>
        </p:spPr>
        <p:txBody>
          <a:bodyPr wrap="square" lIns="0" tIns="0" rIns="0" bIns="0" rtlCol="0" anchor="ctr"/>
          <a:lstStyle/>
          <a:p>
            <a:pPr indent="0" marL="0">
              <a:buNone/>
            </a:pPr>
            <a:r>
              <a:rPr lang="en-US" sz="1700" dirty="0">
                <a:solidFill>
                  <a:schemeClr val="bg1"/>
                </a:solidFill>
              </a:rPr>
              <a:t>Meet Ramu</a:t>
            </a:r>
            <a:endParaRPr lang="en-US" sz="1700" dirty="0"/>
          </a:p>
        </p:txBody>
      </p:sp>
      <p:sp>
        <p:nvSpPr>
          <p:cNvPr id="15" name="Our Solution card"/>
          <p:cNvSpPr/>
          <p:nvPr/>
        </p:nvSpPr>
        <p:spPr>
          <a:xfrm>
            <a:off x="4334256" y="1691640"/>
            <a:ext cx="3520440" cy="4389120"/>
          </a:xfrm>
          <a:prstGeom prst="roundRect">
            <a:avLst>
              <a:gd name="adj" fmla="val 3117"/>
            </a:avLst>
          </a:prstGeom>
          <a:solidFill>
            <a:schemeClr val="tx2">
              <a:alpha val="85000"/>
            </a:schemeClr>
          </a:solidFill>
          <a:ln w="9525">
            <a:solidFill>
              <a:schemeClr val="accent2">
                <a:alpha val="35000"/>
              </a:schemeClr>
            </a:solidFill>
            <a:prstDash val="solid"/>
          </a:ln>
        </p:spPr>
      </p:sp>
      <p:sp>
        <p:nvSpPr>
          <p:cNvPr id="16" name="Our Solution circle"/>
          <p:cNvSpPr/>
          <p:nvPr/>
        </p:nvSpPr>
        <p:spPr>
          <a:xfrm>
            <a:off x="4608576" y="1965960"/>
            <a:ext cx="822960" cy="822960"/>
          </a:xfrm>
          <a:prstGeom prst="ellipse">
            <a:avLst/>
          </a:prstGeom>
          <a:solidFill>
            <a:schemeClr val="accent1"/>
          </a:solidFill>
          <a:ln/>
        </p:spPr>
      </p:sp>
      <p:pic>
        <p:nvPicPr>
          <p:cNvPr id="17" name="Our Solution icon" descr="Our Solution">    </p:cNvPr>
          <p:cNvPicPr>
            <a:picLocks noChangeAspect="1"/>
          </p:cNvPicPr>
          <p:nvPr/>
        </p:nvPicPr>
        <p:blipFill>
          <a:blip r:embed="rId2"/>
          <a:stretch>
            <a:fillRect/>
          </a:stretch>
        </p:blipFill>
        <p:spPr>
          <a:xfrm>
            <a:off x="4806086" y="2163470"/>
            <a:ext cx="427939" cy="427939"/>
          </a:xfrm>
          <a:prstGeom prst="rect">
            <a:avLst/>
          </a:prstGeom>
        </p:spPr>
      </p:pic>
      <p:sp>
        <p:nvSpPr>
          <p:cNvPr id="18" name="Text 14"/>
          <p:cNvSpPr txBox="1"/>
          <p:nvPr/>
        </p:nvSpPr>
        <p:spPr>
          <a:xfrm>
            <a:off x="5614416" y="2020824"/>
            <a:ext cx="21031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2 · THE SEED</a:t>
            </a:r>
            <a:endParaRPr lang="en-US" sz="1200" dirty="0"/>
          </a:p>
        </p:txBody>
      </p:sp>
      <p:sp>
        <p:nvSpPr>
          <p:cNvPr id="19" name="Text 15"/>
          <p:cNvSpPr txBox="1"/>
          <p:nvPr/>
        </p:nvSpPr>
        <p:spPr>
          <a:xfrm>
            <a:off x="5614416" y="2295144"/>
            <a:ext cx="2103120" cy="45720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Our Solution</a:t>
            </a:r>
            <a:endParaRPr lang="en-US" sz="2200" dirty="0"/>
          </a:p>
        </p:txBody>
      </p:sp>
      <p:sp>
        <p:nvSpPr>
          <p:cNvPr id="20" name="Text 16"/>
          <p:cNvSpPr txBox="1"/>
          <p:nvPr/>
        </p:nvSpPr>
        <p:spPr>
          <a:xfrm>
            <a:off x="4654296" y="3108960"/>
            <a:ext cx="548640" cy="41148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04</a:t>
            </a:r>
            <a:endParaRPr lang="en-US" sz="2000" dirty="0"/>
          </a:p>
        </p:txBody>
      </p:sp>
      <p:sp>
        <p:nvSpPr>
          <p:cNvPr id="21" name="Text 17"/>
          <p:cNvSpPr txBox="1"/>
          <p:nvPr/>
        </p:nvSpPr>
        <p:spPr>
          <a:xfrm>
            <a:off x="5248656" y="3108960"/>
            <a:ext cx="2377440" cy="411480"/>
          </a:xfrm>
          <a:prstGeom prst="rect">
            <a:avLst/>
          </a:prstGeom>
          <a:noFill/>
          <a:ln/>
        </p:spPr>
        <p:txBody>
          <a:bodyPr wrap="square" lIns="0" tIns="0" rIns="0" bIns="0" rtlCol="0" anchor="ctr"/>
          <a:lstStyle/>
          <a:p>
            <a:pPr indent="0" marL="0">
              <a:buNone/>
            </a:pPr>
            <a:r>
              <a:rPr lang="en-US" sz="1700" dirty="0">
                <a:solidFill>
                  <a:schemeClr val="bg1"/>
                </a:solidFill>
              </a:rPr>
              <a:t>Our Solution</a:t>
            </a:r>
            <a:endParaRPr lang="en-US" sz="1700" dirty="0"/>
          </a:p>
        </p:txBody>
      </p:sp>
      <p:sp>
        <p:nvSpPr>
          <p:cNvPr id="22" name="Text 18"/>
          <p:cNvSpPr txBox="1"/>
          <p:nvPr/>
        </p:nvSpPr>
        <p:spPr>
          <a:xfrm>
            <a:off x="4654296" y="3657600"/>
            <a:ext cx="548640" cy="41148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05</a:t>
            </a:r>
            <a:endParaRPr lang="en-US" sz="2000" dirty="0"/>
          </a:p>
        </p:txBody>
      </p:sp>
      <p:sp>
        <p:nvSpPr>
          <p:cNvPr id="23" name="Text 19"/>
          <p:cNvSpPr txBox="1"/>
          <p:nvPr/>
        </p:nvSpPr>
        <p:spPr>
          <a:xfrm>
            <a:off x="5248656" y="3657600"/>
            <a:ext cx="2377440" cy="411480"/>
          </a:xfrm>
          <a:prstGeom prst="rect">
            <a:avLst/>
          </a:prstGeom>
          <a:noFill/>
          <a:ln/>
        </p:spPr>
        <p:txBody>
          <a:bodyPr wrap="square" lIns="0" tIns="0" rIns="0" bIns="0" rtlCol="0" anchor="ctr"/>
          <a:lstStyle/>
          <a:p>
            <a:pPr indent="0" marL="0">
              <a:buNone/>
            </a:pPr>
            <a:r>
              <a:rPr lang="en-US" sz="1700" dirty="0">
                <a:solidFill>
                  <a:schemeClr val="bg1"/>
                </a:solidFill>
              </a:rPr>
              <a:t>Key Features</a:t>
            </a:r>
            <a:endParaRPr lang="en-US" sz="1700" dirty="0"/>
          </a:p>
        </p:txBody>
      </p:sp>
      <p:sp>
        <p:nvSpPr>
          <p:cNvPr id="24" name="Text 20"/>
          <p:cNvSpPr txBox="1"/>
          <p:nvPr/>
        </p:nvSpPr>
        <p:spPr>
          <a:xfrm>
            <a:off x="4654296" y="4206240"/>
            <a:ext cx="548640" cy="41148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06</a:t>
            </a:r>
            <a:endParaRPr lang="en-US" sz="2000" dirty="0"/>
          </a:p>
        </p:txBody>
      </p:sp>
      <p:sp>
        <p:nvSpPr>
          <p:cNvPr id="25" name="Text 21"/>
          <p:cNvSpPr txBox="1"/>
          <p:nvPr/>
        </p:nvSpPr>
        <p:spPr>
          <a:xfrm>
            <a:off x="5248656" y="4206240"/>
            <a:ext cx="2377440" cy="411480"/>
          </a:xfrm>
          <a:prstGeom prst="rect">
            <a:avLst/>
          </a:prstGeom>
          <a:noFill/>
          <a:ln/>
        </p:spPr>
        <p:txBody>
          <a:bodyPr wrap="square" lIns="0" tIns="0" rIns="0" bIns="0" rtlCol="0" anchor="ctr"/>
          <a:lstStyle/>
          <a:p>
            <a:pPr indent="0" marL="0">
              <a:buNone/>
            </a:pPr>
            <a:r>
              <a:rPr lang="en-US" sz="1700" dirty="0">
                <a:solidFill>
                  <a:schemeClr val="bg1"/>
                </a:solidFill>
              </a:rPr>
              <a:t>How It Works</a:t>
            </a:r>
            <a:endParaRPr lang="en-US" sz="1700" dirty="0"/>
          </a:p>
        </p:txBody>
      </p:sp>
      <p:sp>
        <p:nvSpPr>
          <p:cNvPr id="26" name="Text 22"/>
          <p:cNvSpPr txBox="1"/>
          <p:nvPr/>
        </p:nvSpPr>
        <p:spPr>
          <a:xfrm>
            <a:off x="4654296" y="4754880"/>
            <a:ext cx="548640" cy="41148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07</a:t>
            </a:r>
            <a:endParaRPr lang="en-US" sz="2000" dirty="0"/>
          </a:p>
        </p:txBody>
      </p:sp>
      <p:sp>
        <p:nvSpPr>
          <p:cNvPr id="27" name="Text 23"/>
          <p:cNvSpPr txBox="1"/>
          <p:nvPr/>
        </p:nvSpPr>
        <p:spPr>
          <a:xfrm>
            <a:off x="5248656" y="4754880"/>
            <a:ext cx="2377440" cy="411480"/>
          </a:xfrm>
          <a:prstGeom prst="rect">
            <a:avLst/>
          </a:prstGeom>
          <a:noFill/>
          <a:ln/>
        </p:spPr>
        <p:txBody>
          <a:bodyPr wrap="square" lIns="0" tIns="0" rIns="0" bIns="0" rtlCol="0" anchor="ctr"/>
          <a:lstStyle/>
          <a:p>
            <a:pPr indent="0" marL="0">
              <a:buNone/>
            </a:pPr>
            <a:r>
              <a:rPr lang="en-US" sz="1700" dirty="0">
                <a:solidFill>
                  <a:schemeClr val="bg1"/>
                </a:solidFill>
              </a:rPr>
              <a:t>Architecture</a:t>
            </a:r>
            <a:endParaRPr lang="en-US" sz="1700" dirty="0"/>
          </a:p>
        </p:txBody>
      </p:sp>
      <p:sp>
        <p:nvSpPr>
          <p:cNvPr id="28" name="Text 24"/>
          <p:cNvSpPr txBox="1"/>
          <p:nvPr/>
        </p:nvSpPr>
        <p:spPr>
          <a:xfrm>
            <a:off x="4654296" y="5303520"/>
            <a:ext cx="548640" cy="41148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08</a:t>
            </a:r>
            <a:endParaRPr lang="en-US" sz="2000" dirty="0"/>
          </a:p>
        </p:txBody>
      </p:sp>
      <p:sp>
        <p:nvSpPr>
          <p:cNvPr id="29" name="Text 25"/>
          <p:cNvSpPr txBox="1"/>
          <p:nvPr/>
        </p:nvSpPr>
        <p:spPr>
          <a:xfrm>
            <a:off x="5248656" y="5303520"/>
            <a:ext cx="2377440" cy="411480"/>
          </a:xfrm>
          <a:prstGeom prst="rect">
            <a:avLst/>
          </a:prstGeom>
          <a:noFill/>
          <a:ln/>
        </p:spPr>
        <p:txBody>
          <a:bodyPr wrap="square" lIns="0" tIns="0" rIns="0" bIns="0" rtlCol="0" anchor="ctr"/>
          <a:lstStyle/>
          <a:p>
            <a:pPr indent="0" marL="0">
              <a:buNone/>
            </a:pPr>
            <a:r>
              <a:rPr lang="en-US" sz="1700" dirty="0">
                <a:solidFill>
                  <a:schemeClr val="bg1"/>
                </a:solidFill>
              </a:rPr>
              <a:t>App Walkthrough</a:t>
            </a:r>
            <a:endParaRPr lang="en-US" sz="1700" dirty="0"/>
          </a:p>
        </p:txBody>
      </p:sp>
      <p:sp>
        <p:nvSpPr>
          <p:cNvPr id="30" name="The Impact card"/>
          <p:cNvSpPr/>
          <p:nvPr/>
        </p:nvSpPr>
        <p:spPr>
          <a:xfrm>
            <a:off x="8119872" y="1691640"/>
            <a:ext cx="3520440" cy="4389120"/>
          </a:xfrm>
          <a:prstGeom prst="roundRect">
            <a:avLst>
              <a:gd name="adj" fmla="val 3117"/>
            </a:avLst>
          </a:prstGeom>
          <a:solidFill>
            <a:schemeClr val="tx2">
              <a:alpha val="85000"/>
            </a:schemeClr>
          </a:solidFill>
          <a:ln w="9525">
            <a:solidFill>
              <a:schemeClr val="accent2">
                <a:alpha val="35000"/>
              </a:schemeClr>
            </a:solidFill>
            <a:prstDash val="solid"/>
          </a:ln>
        </p:spPr>
      </p:sp>
      <p:sp>
        <p:nvSpPr>
          <p:cNvPr id="31" name="The Impact circle"/>
          <p:cNvSpPr/>
          <p:nvPr/>
        </p:nvSpPr>
        <p:spPr>
          <a:xfrm>
            <a:off x="8394192" y="1965960"/>
            <a:ext cx="822960" cy="822960"/>
          </a:xfrm>
          <a:prstGeom prst="ellipse">
            <a:avLst/>
          </a:prstGeom>
          <a:solidFill>
            <a:schemeClr val="accent1"/>
          </a:solidFill>
          <a:ln/>
        </p:spPr>
      </p:sp>
      <p:pic>
        <p:nvPicPr>
          <p:cNvPr id="32" name="The Impact icon" descr="The Impact">    </p:cNvPr>
          <p:cNvPicPr>
            <a:picLocks noChangeAspect="1"/>
          </p:cNvPicPr>
          <p:nvPr/>
        </p:nvPicPr>
        <p:blipFill>
          <a:blip r:embed="rId3"/>
          <a:stretch>
            <a:fillRect/>
          </a:stretch>
        </p:blipFill>
        <p:spPr>
          <a:xfrm>
            <a:off x="8591702" y="2163470"/>
            <a:ext cx="427939" cy="427939"/>
          </a:xfrm>
          <a:prstGeom prst="rect">
            <a:avLst/>
          </a:prstGeom>
        </p:spPr>
      </p:pic>
      <p:sp>
        <p:nvSpPr>
          <p:cNvPr id="33" name="Text 28"/>
          <p:cNvSpPr txBox="1"/>
          <p:nvPr/>
        </p:nvSpPr>
        <p:spPr>
          <a:xfrm>
            <a:off x="9400032" y="2020824"/>
            <a:ext cx="21031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PART 3 · THE HARVEST</a:t>
            </a:r>
            <a:endParaRPr lang="en-US" sz="1200" dirty="0"/>
          </a:p>
        </p:txBody>
      </p:sp>
      <p:sp>
        <p:nvSpPr>
          <p:cNvPr id="34" name="Text 29"/>
          <p:cNvSpPr txBox="1"/>
          <p:nvPr/>
        </p:nvSpPr>
        <p:spPr>
          <a:xfrm>
            <a:off x="9400032" y="2295144"/>
            <a:ext cx="2103120" cy="45720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The Impact</a:t>
            </a:r>
            <a:endParaRPr lang="en-US" sz="2200" dirty="0"/>
          </a:p>
        </p:txBody>
      </p:sp>
      <p:sp>
        <p:nvSpPr>
          <p:cNvPr id="35" name="Text 30"/>
          <p:cNvSpPr txBox="1"/>
          <p:nvPr/>
        </p:nvSpPr>
        <p:spPr>
          <a:xfrm>
            <a:off x="8439912" y="3108960"/>
            <a:ext cx="548640" cy="41148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09</a:t>
            </a:r>
            <a:endParaRPr lang="en-US" sz="2000" dirty="0"/>
          </a:p>
        </p:txBody>
      </p:sp>
      <p:sp>
        <p:nvSpPr>
          <p:cNvPr id="36" name="Text 31"/>
          <p:cNvSpPr txBox="1"/>
          <p:nvPr/>
        </p:nvSpPr>
        <p:spPr>
          <a:xfrm>
            <a:off x="9034272" y="3108960"/>
            <a:ext cx="2377440" cy="411480"/>
          </a:xfrm>
          <a:prstGeom prst="rect">
            <a:avLst/>
          </a:prstGeom>
          <a:noFill/>
          <a:ln/>
        </p:spPr>
        <p:txBody>
          <a:bodyPr wrap="square" lIns="0" tIns="0" rIns="0" bIns="0" rtlCol="0" anchor="ctr"/>
          <a:lstStyle/>
          <a:p>
            <a:pPr indent="0" marL="0">
              <a:buNone/>
            </a:pPr>
            <a:r>
              <a:rPr lang="en-US" sz="1700" dirty="0">
                <a:solidFill>
                  <a:schemeClr val="bg1"/>
                </a:solidFill>
              </a:rPr>
              <a:t>Impact</a:t>
            </a:r>
            <a:endParaRPr lang="en-US" sz="1700" dirty="0"/>
          </a:p>
        </p:txBody>
      </p:sp>
      <p:sp>
        <p:nvSpPr>
          <p:cNvPr id="37" name="Text 32"/>
          <p:cNvSpPr txBox="1"/>
          <p:nvPr/>
        </p:nvSpPr>
        <p:spPr>
          <a:xfrm>
            <a:off x="8439912" y="3657600"/>
            <a:ext cx="548640" cy="41148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10</a:t>
            </a:r>
            <a:endParaRPr lang="en-US" sz="2000" dirty="0"/>
          </a:p>
        </p:txBody>
      </p:sp>
      <p:sp>
        <p:nvSpPr>
          <p:cNvPr id="38" name="Text 33"/>
          <p:cNvSpPr txBox="1"/>
          <p:nvPr/>
        </p:nvSpPr>
        <p:spPr>
          <a:xfrm>
            <a:off x="9034272" y="3657600"/>
            <a:ext cx="2377440" cy="411480"/>
          </a:xfrm>
          <a:prstGeom prst="rect">
            <a:avLst/>
          </a:prstGeom>
          <a:noFill/>
          <a:ln/>
        </p:spPr>
        <p:txBody>
          <a:bodyPr wrap="square" lIns="0" tIns="0" rIns="0" bIns="0" rtlCol="0" anchor="ctr"/>
          <a:lstStyle/>
          <a:p>
            <a:pPr indent="0" marL="0">
              <a:buNone/>
            </a:pPr>
            <a:r>
              <a:rPr lang="en-US" sz="1700" dirty="0">
                <a:solidFill>
                  <a:schemeClr val="bg1"/>
                </a:solidFill>
              </a:rPr>
              <a:t>Why Us</a:t>
            </a:r>
            <a:endParaRPr lang="en-US" sz="1700" dirty="0"/>
          </a:p>
        </p:txBody>
      </p:sp>
      <p:sp>
        <p:nvSpPr>
          <p:cNvPr id="39" name="Text 34"/>
          <p:cNvSpPr txBox="1"/>
          <p:nvPr/>
        </p:nvSpPr>
        <p:spPr>
          <a:xfrm>
            <a:off x="8439912" y="4206240"/>
            <a:ext cx="548640" cy="41148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11</a:t>
            </a:r>
            <a:endParaRPr lang="en-US" sz="2000" dirty="0"/>
          </a:p>
        </p:txBody>
      </p:sp>
      <p:sp>
        <p:nvSpPr>
          <p:cNvPr id="40" name="Text 35"/>
          <p:cNvSpPr txBox="1"/>
          <p:nvPr/>
        </p:nvSpPr>
        <p:spPr>
          <a:xfrm>
            <a:off x="9034272" y="4206240"/>
            <a:ext cx="2377440" cy="411480"/>
          </a:xfrm>
          <a:prstGeom prst="rect">
            <a:avLst/>
          </a:prstGeom>
          <a:noFill/>
          <a:ln/>
        </p:spPr>
        <p:txBody>
          <a:bodyPr wrap="square" lIns="0" tIns="0" rIns="0" bIns="0" rtlCol="0" anchor="ctr"/>
          <a:lstStyle/>
          <a:p>
            <a:pPr indent="0" marL="0">
              <a:buNone/>
            </a:pPr>
            <a:r>
              <a:rPr lang="en-US" sz="1700" dirty="0">
                <a:solidFill>
                  <a:schemeClr val="bg1"/>
                </a:solidFill>
              </a:rPr>
              <a:t>Business Model</a:t>
            </a:r>
            <a:endParaRPr lang="en-US" sz="1700" dirty="0"/>
          </a:p>
        </p:txBody>
      </p:sp>
      <p:sp>
        <p:nvSpPr>
          <p:cNvPr id="41" name="Text 36"/>
          <p:cNvSpPr txBox="1"/>
          <p:nvPr/>
        </p:nvSpPr>
        <p:spPr>
          <a:xfrm>
            <a:off x="8439912" y="4754880"/>
            <a:ext cx="548640" cy="41148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12</a:t>
            </a:r>
            <a:endParaRPr lang="en-US" sz="2000" dirty="0"/>
          </a:p>
        </p:txBody>
      </p:sp>
      <p:sp>
        <p:nvSpPr>
          <p:cNvPr id="42" name="Text 37"/>
          <p:cNvSpPr txBox="1"/>
          <p:nvPr/>
        </p:nvSpPr>
        <p:spPr>
          <a:xfrm>
            <a:off x="9034272" y="4754880"/>
            <a:ext cx="2377440" cy="411480"/>
          </a:xfrm>
          <a:prstGeom prst="rect">
            <a:avLst/>
          </a:prstGeom>
          <a:noFill/>
          <a:ln/>
        </p:spPr>
        <p:txBody>
          <a:bodyPr wrap="square" lIns="0" tIns="0" rIns="0" bIns="0" rtlCol="0" anchor="ctr"/>
          <a:lstStyle/>
          <a:p>
            <a:pPr indent="0" marL="0">
              <a:buNone/>
            </a:pPr>
            <a:r>
              <a:rPr lang="en-US" sz="1700" dirty="0">
                <a:solidFill>
                  <a:schemeClr val="bg1"/>
                </a:solidFill>
              </a:rPr>
              <a:t>Roadmap</a:t>
            </a:r>
            <a:endParaRPr lang="en-US" sz="17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01  ·  THE PROBLEM</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Farmers Feed 1.4 Billion People, but Fight Alone</a:t>
            </a:r>
            <a:endParaRPr lang="en-US" sz="3600" dirty="0"/>
          </a:p>
        </p:txBody>
      </p:sp>
      <p:sp>
        <p:nvSpPr>
          <p:cNvPr id="4" name="Problem quote"/>
          <p:cNvSpPr txBox="1"/>
          <p:nvPr/>
        </p:nvSpPr>
        <p:spPr>
          <a:xfrm>
            <a:off x="548640" y="1783080"/>
            <a:ext cx="3931920" cy="2377440"/>
          </a:xfrm>
          <a:prstGeom prst="rect">
            <a:avLst/>
          </a:prstGeom>
          <a:noFill/>
          <a:ln/>
        </p:spPr>
        <p:txBody>
          <a:bodyPr wrap="square" lIns="0" tIns="0" rIns="0" bIns="0" rtlCol="0" anchor="t"/>
          <a:lstStyle/>
          <a:p>
            <a:pPr indent="0" marL="0">
              <a:buNone/>
            </a:pPr>
            <a:r>
              <a:rPr lang="en-US" sz="2800" i="1" dirty="0">
                <a:solidFill>
                  <a:schemeClr val="accent1"/>
                </a:solidFill>
                <a:latin typeface="+mj-lt" pitchFamily="34" charset="0"/>
                <a:ea typeface="+mj-lt" pitchFamily="34" charset="-122"/>
                <a:cs typeface="+mj-lt" pitchFamily="34" charset="-120"/>
              </a:rPr>
              <a:t>“A farmer makes hundreds of decisions every season, with almost no expert to ask.”</a:t>
            </a:r>
            <a:endParaRPr lang="en-US" sz="2800" dirty="0"/>
          </a:p>
        </p:txBody>
      </p:sp>
      <p:sp>
        <p:nvSpPr>
          <p:cNvPr id="5" name="Problem summary"/>
          <p:cNvSpPr txBox="1"/>
          <p:nvPr/>
        </p:nvSpPr>
        <p:spPr>
          <a:xfrm>
            <a:off x="548640" y="4343400"/>
            <a:ext cx="3840480" cy="1188720"/>
          </a:xfrm>
          <a:prstGeom prst="rect">
            <a:avLst/>
          </a:prstGeom>
          <a:noFill/>
          <a:ln/>
        </p:spPr>
        <p:txBody>
          <a:bodyPr wrap="square" lIns="0" tIns="0" rIns="0" bIns="0" rtlCol="0" anchor="t"/>
          <a:lstStyle/>
          <a:p>
            <a:pPr indent="0" marL="0">
              <a:buNone/>
            </a:pPr>
            <a:r>
              <a:rPr lang="en-US" sz="1600" dirty="0">
                <a:solidFill>
                  <a:schemeClr val="bg2"/>
                </a:solidFill>
              </a:rPr>
              <a:t>Small farmers lose money at every step, from sowing to selling. One wrong guess can cost a whole season's income.</a:t>
            </a:r>
            <a:endParaRPr lang="en-US" sz="1600" dirty="0"/>
          </a:p>
        </p:txBody>
      </p:sp>
      <p:sp>
        <p:nvSpPr>
          <p:cNvPr id="6" name="Crop Disease &amp; Pests card"/>
          <p:cNvSpPr/>
          <p:nvPr/>
        </p:nvSpPr>
        <p:spPr>
          <a:xfrm>
            <a:off x="4846320" y="1691640"/>
            <a:ext cx="3291840" cy="2103120"/>
          </a:xfrm>
          <a:prstGeom prst="roundRect">
            <a:avLst>
              <a:gd name="adj" fmla="val 5217"/>
            </a:avLst>
          </a:prstGeom>
          <a:solidFill>
            <a:schemeClr val="tx2">
              <a:alpha val="85000"/>
            </a:schemeClr>
          </a:solidFill>
          <a:ln w="9525">
            <a:solidFill>
              <a:schemeClr val="accent2">
                <a:alpha val="35000"/>
              </a:schemeClr>
            </a:solidFill>
            <a:prstDash val="solid"/>
          </a:ln>
        </p:spPr>
      </p:sp>
      <p:sp>
        <p:nvSpPr>
          <p:cNvPr id="7" name="Crop Disease &amp; Pests circle"/>
          <p:cNvSpPr/>
          <p:nvPr/>
        </p:nvSpPr>
        <p:spPr>
          <a:xfrm>
            <a:off x="5120640" y="1965960"/>
            <a:ext cx="685800" cy="685800"/>
          </a:xfrm>
          <a:prstGeom prst="ellipse">
            <a:avLst/>
          </a:prstGeom>
          <a:solidFill>
            <a:schemeClr val="accent2"/>
          </a:solidFill>
          <a:ln/>
        </p:spPr>
      </p:sp>
      <p:pic>
        <p:nvPicPr>
          <p:cNvPr id="8" name="Crop Disease &amp; Pests icon" descr="Crop Disease &amp; Pests">    </p:cNvPr>
          <p:cNvPicPr>
            <a:picLocks noChangeAspect="1"/>
          </p:cNvPicPr>
          <p:nvPr/>
        </p:nvPicPr>
        <p:blipFill>
          <a:blip r:embed="rId1"/>
          <a:stretch>
            <a:fillRect/>
          </a:stretch>
        </p:blipFill>
        <p:spPr>
          <a:xfrm>
            <a:off x="5285232" y="2130552"/>
            <a:ext cx="356616" cy="356616"/>
          </a:xfrm>
          <a:prstGeom prst="rect">
            <a:avLst/>
          </a:prstGeom>
        </p:spPr>
      </p:pic>
      <p:sp>
        <p:nvSpPr>
          <p:cNvPr id="9" name="Text 6"/>
          <p:cNvSpPr txBox="1"/>
          <p:nvPr/>
        </p:nvSpPr>
        <p:spPr>
          <a:xfrm>
            <a:off x="5120640" y="2761488"/>
            <a:ext cx="2743200" cy="365760"/>
          </a:xfrm>
          <a:prstGeom prst="rect">
            <a:avLst/>
          </a:prstGeom>
          <a:noFill/>
          <a:ln/>
        </p:spPr>
        <p:txBody>
          <a:bodyPr wrap="square" lIns="0" tIns="0" rIns="0" bIns="0" rtlCol="0" anchor="t"/>
          <a:lstStyle/>
          <a:p>
            <a:pPr indent="0" marL="0">
              <a:buNone/>
            </a:pPr>
            <a:r>
              <a:rPr lang="en-US" sz="1800" b="1" dirty="0">
                <a:solidFill>
                  <a:schemeClr val="bg1"/>
                </a:solidFill>
              </a:rPr>
              <a:t>Crop Disease &amp; Pests</a:t>
            </a:r>
            <a:endParaRPr lang="en-US" sz="1800" dirty="0"/>
          </a:p>
        </p:txBody>
      </p:sp>
      <p:sp>
        <p:nvSpPr>
          <p:cNvPr id="10" name="Text 7"/>
          <p:cNvSpPr txBox="1"/>
          <p:nvPr/>
        </p:nvSpPr>
        <p:spPr>
          <a:xfrm>
            <a:off x="5120640" y="3127248"/>
            <a:ext cx="2788920" cy="594360"/>
          </a:xfrm>
          <a:prstGeom prst="rect">
            <a:avLst/>
          </a:prstGeom>
          <a:noFill/>
          <a:ln/>
        </p:spPr>
        <p:txBody>
          <a:bodyPr wrap="square" lIns="0" tIns="0" rIns="0" bIns="0" rtlCol="0" anchor="t"/>
          <a:lstStyle/>
          <a:p>
            <a:pPr indent="0" marL="0">
              <a:buNone/>
            </a:pPr>
            <a:r>
              <a:rPr lang="en-US" sz="1400" dirty="0">
                <a:solidFill>
                  <a:schemeClr val="bg2"/>
                </a:solidFill>
              </a:rPr>
              <a:t>Diseases are spotted too late, and pesticides are bought on guesswork.</a:t>
            </a:r>
            <a:endParaRPr lang="en-US" sz="1400" dirty="0"/>
          </a:p>
        </p:txBody>
      </p:sp>
      <p:sp>
        <p:nvSpPr>
          <p:cNvPr id="11" name="Unpredictable Weather card"/>
          <p:cNvSpPr/>
          <p:nvPr/>
        </p:nvSpPr>
        <p:spPr>
          <a:xfrm>
            <a:off x="8348472" y="1691640"/>
            <a:ext cx="3291840" cy="2103120"/>
          </a:xfrm>
          <a:prstGeom prst="roundRect">
            <a:avLst>
              <a:gd name="adj" fmla="val 5217"/>
            </a:avLst>
          </a:prstGeom>
          <a:solidFill>
            <a:schemeClr val="tx2">
              <a:alpha val="85000"/>
            </a:schemeClr>
          </a:solidFill>
          <a:ln w="9525">
            <a:solidFill>
              <a:schemeClr val="accent2">
                <a:alpha val="35000"/>
              </a:schemeClr>
            </a:solidFill>
            <a:prstDash val="solid"/>
          </a:ln>
        </p:spPr>
      </p:sp>
      <p:sp>
        <p:nvSpPr>
          <p:cNvPr id="12" name="Unpredictable Weather circle"/>
          <p:cNvSpPr/>
          <p:nvPr/>
        </p:nvSpPr>
        <p:spPr>
          <a:xfrm>
            <a:off x="8622792" y="1965960"/>
            <a:ext cx="685800" cy="685800"/>
          </a:xfrm>
          <a:prstGeom prst="ellipse">
            <a:avLst/>
          </a:prstGeom>
          <a:solidFill>
            <a:schemeClr val="accent2"/>
          </a:solidFill>
          <a:ln/>
        </p:spPr>
      </p:sp>
      <p:pic>
        <p:nvPicPr>
          <p:cNvPr id="13" name="Unpredictable Weather icon" descr="Unpredictable Weather">    </p:cNvPr>
          <p:cNvPicPr>
            <a:picLocks noChangeAspect="1"/>
          </p:cNvPicPr>
          <p:nvPr/>
        </p:nvPicPr>
        <p:blipFill>
          <a:blip r:embed="rId2"/>
          <a:stretch>
            <a:fillRect/>
          </a:stretch>
        </p:blipFill>
        <p:spPr>
          <a:xfrm>
            <a:off x="8787384" y="2130552"/>
            <a:ext cx="356616" cy="356616"/>
          </a:xfrm>
          <a:prstGeom prst="rect">
            <a:avLst/>
          </a:prstGeom>
        </p:spPr>
      </p:pic>
      <p:sp>
        <p:nvSpPr>
          <p:cNvPr id="14" name="Text 10"/>
          <p:cNvSpPr txBox="1"/>
          <p:nvPr/>
        </p:nvSpPr>
        <p:spPr>
          <a:xfrm>
            <a:off x="8622792" y="2761488"/>
            <a:ext cx="2743200" cy="365760"/>
          </a:xfrm>
          <a:prstGeom prst="rect">
            <a:avLst/>
          </a:prstGeom>
          <a:noFill/>
          <a:ln/>
        </p:spPr>
        <p:txBody>
          <a:bodyPr wrap="square" lIns="0" tIns="0" rIns="0" bIns="0" rtlCol="0" anchor="t"/>
          <a:lstStyle/>
          <a:p>
            <a:pPr indent="0" marL="0">
              <a:buNone/>
            </a:pPr>
            <a:r>
              <a:rPr lang="en-US" sz="1800" b="1" dirty="0">
                <a:solidFill>
                  <a:schemeClr val="bg1"/>
                </a:solidFill>
              </a:rPr>
              <a:t>Unpredictable Weather</a:t>
            </a:r>
            <a:endParaRPr lang="en-US" sz="1800" dirty="0"/>
          </a:p>
        </p:txBody>
      </p:sp>
      <p:sp>
        <p:nvSpPr>
          <p:cNvPr id="15" name="Text 11"/>
          <p:cNvSpPr txBox="1"/>
          <p:nvPr/>
        </p:nvSpPr>
        <p:spPr>
          <a:xfrm>
            <a:off x="8622792" y="3127248"/>
            <a:ext cx="2788920" cy="594360"/>
          </a:xfrm>
          <a:prstGeom prst="rect">
            <a:avLst/>
          </a:prstGeom>
          <a:noFill/>
          <a:ln/>
        </p:spPr>
        <p:txBody>
          <a:bodyPr wrap="square" lIns="0" tIns="0" rIns="0" bIns="0" rtlCol="0" anchor="t"/>
          <a:lstStyle/>
          <a:p>
            <a:pPr indent="0" marL="0">
              <a:buNone/>
            </a:pPr>
            <a:r>
              <a:rPr lang="en-US" sz="1400" dirty="0">
                <a:solidFill>
                  <a:schemeClr val="bg2"/>
                </a:solidFill>
              </a:rPr>
              <a:t>Unseasonal rain and heatwaves wipe out months of work overnight.</a:t>
            </a:r>
            <a:endParaRPr lang="en-US" sz="1400" dirty="0"/>
          </a:p>
        </p:txBody>
      </p:sp>
      <p:sp>
        <p:nvSpPr>
          <p:cNvPr id="16" name="Middlemen &amp; Low Prices card"/>
          <p:cNvSpPr/>
          <p:nvPr/>
        </p:nvSpPr>
        <p:spPr>
          <a:xfrm>
            <a:off x="4846320" y="4005072"/>
            <a:ext cx="3291840" cy="2103120"/>
          </a:xfrm>
          <a:prstGeom prst="roundRect">
            <a:avLst>
              <a:gd name="adj" fmla="val 5217"/>
            </a:avLst>
          </a:prstGeom>
          <a:solidFill>
            <a:schemeClr val="tx2">
              <a:alpha val="85000"/>
            </a:schemeClr>
          </a:solidFill>
          <a:ln w="9525">
            <a:solidFill>
              <a:schemeClr val="accent2">
                <a:alpha val="35000"/>
              </a:schemeClr>
            </a:solidFill>
            <a:prstDash val="solid"/>
          </a:ln>
        </p:spPr>
      </p:sp>
      <p:sp>
        <p:nvSpPr>
          <p:cNvPr id="17" name="Middlemen &amp; Low Prices circle"/>
          <p:cNvSpPr/>
          <p:nvPr/>
        </p:nvSpPr>
        <p:spPr>
          <a:xfrm>
            <a:off x="5120640" y="4279392"/>
            <a:ext cx="685800" cy="685800"/>
          </a:xfrm>
          <a:prstGeom prst="ellipse">
            <a:avLst/>
          </a:prstGeom>
          <a:solidFill>
            <a:schemeClr val="accent1"/>
          </a:solidFill>
          <a:ln/>
        </p:spPr>
      </p:sp>
      <p:pic>
        <p:nvPicPr>
          <p:cNvPr id="18" name="Middlemen &amp; Low Prices icon" descr="Middlemen &amp; Low Prices">    </p:cNvPr>
          <p:cNvPicPr>
            <a:picLocks noChangeAspect="1"/>
          </p:cNvPicPr>
          <p:nvPr/>
        </p:nvPicPr>
        <p:blipFill>
          <a:blip r:embed="rId3"/>
          <a:stretch>
            <a:fillRect/>
          </a:stretch>
        </p:blipFill>
        <p:spPr>
          <a:xfrm>
            <a:off x="5285232" y="4443984"/>
            <a:ext cx="356616" cy="356616"/>
          </a:xfrm>
          <a:prstGeom prst="rect">
            <a:avLst/>
          </a:prstGeom>
        </p:spPr>
      </p:pic>
      <p:sp>
        <p:nvSpPr>
          <p:cNvPr id="19" name="Text 14"/>
          <p:cNvSpPr txBox="1"/>
          <p:nvPr/>
        </p:nvSpPr>
        <p:spPr>
          <a:xfrm>
            <a:off x="5120640" y="5074920"/>
            <a:ext cx="2743200" cy="365760"/>
          </a:xfrm>
          <a:prstGeom prst="rect">
            <a:avLst/>
          </a:prstGeom>
          <a:noFill/>
          <a:ln/>
        </p:spPr>
        <p:txBody>
          <a:bodyPr wrap="square" lIns="0" tIns="0" rIns="0" bIns="0" rtlCol="0" anchor="t"/>
          <a:lstStyle/>
          <a:p>
            <a:pPr indent="0" marL="0">
              <a:buNone/>
            </a:pPr>
            <a:r>
              <a:rPr lang="en-US" sz="1800" b="1" dirty="0">
                <a:solidFill>
                  <a:schemeClr val="bg1"/>
                </a:solidFill>
              </a:rPr>
              <a:t>Middlemen &amp; Low Prices</a:t>
            </a:r>
            <a:endParaRPr lang="en-US" sz="1800" dirty="0"/>
          </a:p>
        </p:txBody>
      </p:sp>
      <p:sp>
        <p:nvSpPr>
          <p:cNvPr id="20" name="Text 15"/>
          <p:cNvSpPr txBox="1"/>
          <p:nvPr/>
        </p:nvSpPr>
        <p:spPr>
          <a:xfrm>
            <a:off x="5120640" y="5440680"/>
            <a:ext cx="2788920" cy="594360"/>
          </a:xfrm>
          <a:prstGeom prst="rect">
            <a:avLst/>
          </a:prstGeom>
          <a:noFill/>
          <a:ln/>
        </p:spPr>
        <p:txBody>
          <a:bodyPr wrap="square" lIns="0" tIns="0" rIns="0" bIns="0" rtlCol="0" anchor="t"/>
          <a:lstStyle/>
          <a:p>
            <a:pPr indent="0" marL="0">
              <a:buNone/>
            </a:pPr>
            <a:r>
              <a:rPr lang="en-US" sz="1400" dirty="0">
                <a:solidFill>
                  <a:schemeClr val="bg2"/>
                </a:solidFill>
              </a:rPr>
              <a:t>Farmers rarely know live mandi rates, so they sell cheap.</a:t>
            </a:r>
            <a:endParaRPr lang="en-US" sz="1400" dirty="0"/>
          </a:p>
        </p:txBody>
      </p:sp>
      <p:sp>
        <p:nvSpPr>
          <p:cNvPr id="21" name="Language &amp; Access Gap card"/>
          <p:cNvSpPr/>
          <p:nvPr/>
        </p:nvSpPr>
        <p:spPr>
          <a:xfrm>
            <a:off x="8348472" y="4005072"/>
            <a:ext cx="3291840" cy="2103120"/>
          </a:xfrm>
          <a:prstGeom prst="roundRect">
            <a:avLst>
              <a:gd name="adj" fmla="val 5217"/>
            </a:avLst>
          </a:prstGeom>
          <a:solidFill>
            <a:schemeClr val="tx2">
              <a:alpha val="85000"/>
            </a:schemeClr>
          </a:solidFill>
          <a:ln w="9525">
            <a:solidFill>
              <a:schemeClr val="accent2">
                <a:alpha val="35000"/>
              </a:schemeClr>
            </a:solidFill>
            <a:prstDash val="solid"/>
          </a:ln>
        </p:spPr>
      </p:sp>
      <p:sp>
        <p:nvSpPr>
          <p:cNvPr id="22" name="Language &amp; Access Gap circle"/>
          <p:cNvSpPr/>
          <p:nvPr/>
        </p:nvSpPr>
        <p:spPr>
          <a:xfrm>
            <a:off x="8622792" y="4279392"/>
            <a:ext cx="685800" cy="685800"/>
          </a:xfrm>
          <a:prstGeom prst="ellipse">
            <a:avLst/>
          </a:prstGeom>
          <a:solidFill>
            <a:schemeClr val="accent2"/>
          </a:solidFill>
          <a:ln/>
        </p:spPr>
      </p:sp>
      <p:pic>
        <p:nvPicPr>
          <p:cNvPr id="23" name="Language &amp; Access Gap icon" descr="Language &amp; Access Gap">    </p:cNvPr>
          <p:cNvPicPr>
            <a:picLocks noChangeAspect="1"/>
          </p:cNvPicPr>
          <p:nvPr/>
        </p:nvPicPr>
        <p:blipFill>
          <a:blip r:embed="rId4"/>
          <a:stretch>
            <a:fillRect/>
          </a:stretch>
        </p:blipFill>
        <p:spPr>
          <a:xfrm>
            <a:off x="8787384" y="4443984"/>
            <a:ext cx="356616" cy="356616"/>
          </a:xfrm>
          <a:prstGeom prst="rect">
            <a:avLst/>
          </a:prstGeom>
        </p:spPr>
      </p:pic>
      <p:sp>
        <p:nvSpPr>
          <p:cNvPr id="24" name="Text 18"/>
          <p:cNvSpPr txBox="1"/>
          <p:nvPr/>
        </p:nvSpPr>
        <p:spPr>
          <a:xfrm>
            <a:off x="8622792" y="5074920"/>
            <a:ext cx="2743200" cy="365760"/>
          </a:xfrm>
          <a:prstGeom prst="rect">
            <a:avLst/>
          </a:prstGeom>
          <a:noFill/>
          <a:ln/>
        </p:spPr>
        <p:txBody>
          <a:bodyPr wrap="square" lIns="0" tIns="0" rIns="0" bIns="0" rtlCol="0" anchor="t"/>
          <a:lstStyle/>
          <a:p>
            <a:pPr indent="0" marL="0">
              <a:buNone/>
            </a:pPr>
            <a:r>
              <a:rPr lang="en-US" sz="1800" b="1" dirty="0">
                <a:solidFill>
                  <a:schemeClr val="bg1"/>
                </a:solidFill>
              </a:rPr>
              <a:t>Language &amp; Access Gap</a:t>
            </a:r>
            <a:endParaRPr lang="en-US" sz="1800" dirty="0"/>
          </a:p>
        </p:txBody>
      </p:sp>
      <p:sp>
        <p:nvSpPr>
          <p:cNvPr id="25" name="Text 19"/>
          <p:cNvSpPr txBox="1"/>
          <p:nvPr/>
        </p:nvSpPr>
        <p:spPr>
          <a:xfrm>
            <a:off x="8622792" y="5440680"/>
            <a:ext cx="2788920" cy="594360"/>
          </a:xfrm>
          <a:prstGeom prst="rect">
            <a:avLst/>
          </a:prstGeom>
          <a:noFill/>
          <a:ln/>
        </p:spPr>
        <p:txBody>
          <a:bodyPr wrap="square" lIns="0" tIns="0" rIns="0" bIns="0" rtlCol="0" anchor="t"/>
          <a:lstStyle/>
          <a:p>
            <a:pPr indent="0" marL="0">
              <a:buNone/>
            </a:pPr>
            <a:r>
              <a:rPr lang="en-US" sz="1400" dirty="0">
                <a:solidFill>
                  <a:schemeClr val="bg2"/>
                </a:solidFill>
              </a:rPr>
              <a:t>Expert advice is in English, online or 40 km away.</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02  ·  BY THE NUMBERS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The Scale of the Problem</a:t>
            </a:r>
            <a:endParaRPr lang="en-US" sz="3600" dirty="0"/>
          </a:p>
        </p:txBody>
      </p:sp>
      <p:sp>
        <p:nvSpPr>
          <p:cNvPr id="4" name="86% stat card"/>
          <p:cNvSpPr/>
          <p:nvPr/>
        </p:nvSpPr>
        <p:spPr>
          <a:xfrm>
            <a:off x="548640" y="1691640"/>
            <a:ext cx="4846320" cy="1280160"/>
          </a:xfrm>
          <a:prstGeom prst="roundRect">
            <a:avLst>
              <a:gd name="adj" fmla="val 8571"/>
            </a:avLst>
          </a:prstGeom>
          <a:solidFill>
            <a:schemeClr val="tx2">
              <a:alpha val="85000"/>
            </a:schemeClr>
          </a:solidFill>
          <a:ln w="9525">
            <a:solidFill>
              <a:schemeClr val="accent2">
                <a:alpha val="35000"/>
              </a:schemeClr>
            </a:solidFill>
            <a:prstDash val="solid"/>
          </a:ln>
        </p:spPr>
      </p:sp>
      <p:sp>
        <p:nvSpPr>
          <p:cNvPr id="5" name="Text 3"/>
          <p:cNvSpPr txBox="1"/>
          <p:nvPr/>
        </p:nvSpPr>
        <p:spPr>
          <a:xfrm>
            <a:off x="777240" y="1691640"/>
            <a:ext cx="1737360" cy="1280160"/>
          </a:xfrm>
          <a:prstGeom prst="rect">
            <a:avLst/>
          </a:prstGeom>
          <a:noFill/>
          <a:ln/>
        </p:spPr>
        <p:txBody>
          <a:bodyPr wrap="square" lIns="0" tIns="0" rIns="0" bIns="0" rtlCol="0" anchor="ctr"/>
          <a:lstStyle/>
          <a:p>
            <a:pPr indent="0" marL="0">
              <a:buNone/>
            </a:pPr>
            <a:r>
              <a:rPr lang="en-US" sz="4800" b="1" dirty="0">
                <a:solidFill>
                  <a:schemeClr val="accent1"/>
                </a:solidFill>
                <a:latin typeface="+mj-lt" pitchFamily="34" charset="0"/>
                <a:ea typeface="+mj-lt" pitchFamily="34" charset="-122"/>
                <a:cs typeface="+mj-lt" pitchFamily="34" charset="-120"/>
              </a:rPr>
              <a:t>86%</a:t>
            </a:r>
            <a:endParaRPr lang="en-US" sz="4800" dirty="0"/>
          </a:p>
        </p:txBody>
      </p:sp>
      <p:sp>
        <p:nvSpPr>
          <p:cNvPr id="6" name="Text 4"/>
          <p:cNvSpPr txBox="1"/>
          <p:nvPr/>
        </p:nvSpPr>
        <p:spPr>
          <a:xfrm>
            <a:off x="2560320" y="1691640"/>
            <a:ext cx="2651760" cy="1280160"/>
          </a:xfrm>
          <a:prstGeom prst="rect">
            <a:avLst/>
          </a:prstGeom>
          <a:noFill/>
          <a:ln/>
        </p:spPr>
        <p:txBody>
          <a:bodyPr wrap="square" lIns="0" tIns="0" rIns="0" bIns="0" rtlCol="0" anchor="ctr"/>
          <a:lstStyle/>
          <a:p>
            <a:pPr indent="0" marL="0">
              <a:buNone/>
            </a:pPr>
            <a:r>
              <a:rPr lang="en-US" sz="1500" dirty="0">
                <a:solidFill>
                  <a:schemeClr val="bg1"/>
                </a:solidFill>
              </a:rPr>
              <a:t>of India's farmers are small and marginal, farming less than 2 hectares</a:t>
            </a:r>
            <a:endParaRPr lang="en-US" sz="1500" dirty="0"/>
          </a:p>
        </p:txBody>
      </p:sp>
      <p:sp>
        <p:nvSpPr>
          <p:cNvPr id="7" name="46% stat card"/>
          <p:cNvSpPr/>
          <p:nvPr/>
        </p:nvSpPr>
        <p:spPr>
          <a:xfrm>
            <a:off x="548640" y="3172968"/>
            <a:ext cx="4846320" cy="1280160"/>
          </a:xfrm>
          <a:prstGeom prst="roundRect">
            <a:avLst>
              <a:gd name="adj" fmla="val 8571"/>
            </a:avLst>
          </a:prstGeom>
          <a:solidFill>
            <a:schemeClr val="tx2">
              <a:alpha val="85000"/>
            </a:schemeClr>
          </a:solidFill>
          <a:ln w="9525">
            <a:solidFill>
              <a:schemeClr val="accent2">
                <a:alpha val="35000"/>
              </a:schemeClr>
            </a:solidFill>
            <a:prstDash val="solid"/>
          </a:ln>
        </p:spPr>
      </p:sp>
      <p:sp>
        <p:nvSpPr>
          <p:cNvPr id="8" name="Text 6"/>
          <p:cNvSpPr txBox="1"/>
          <p:nvPr/>
        </p:nvSpPr>
        <p:spPr>
          <a:xfrm>
            <a:off x="777240" y="3172968"/>
            <a:ext cx="1737360" cy="1280160"/>
          </a:xfrm>
          <a:prstGeom prst="rect">
            <a:avLst/>
          </a:prstGeom>
          <a:noFill/>
          <a:ln/>
        </p:spPr>
        <p:txBody>
          <a:bodyPr wrap="square" lIns="0" tIns="0" rIns="0" bIns="0" rtlCol="0" anchor="ctr"/>
          <a:lstStyle/>
          <a:p>
            <a:pPr indent="0" marL="0">
              <a:buNone/>
            </a:pPr>
            <a:r>
              <a:rPr lang="en-US" sz="4800" b="1" dirty="0">
                <a:solidFill>
                  <a:schemeClr val="accent1"/>
                </a:solidFill>
                <a:latin typeface="+mj-lt" pitchFamily="34" charset="0"/>
                <a:ea typeface="+mj-lt" pitchFamily="34" charset="-122"/>
                <a:cs typeface="+mj-lt" pitchFamily="34" charset="-120"/>
              </a:rPr>
              <a:t>46%</a:t>
            </a:r>
            <a:endParaRPr lang="en-US" sz="4800" dirty="0"/>
          </a:p>
        </p:txBody>
      </p:sp>
      <p:sp>
        <p:nvSpPr>
          <p:cNvPr id="9" name="Text 7"/>
          <p:cNvSpPr txBox="1"/>
          <p:nvPr/>
        </p:nvSpPr>
        <p:spPr>
          <a:xfrm>
            <a:off x="2560320" y="3172968"/>
            <a:ext cx="2651760" cy="1280160"/>
          </a:xfrm>
          <a:prstGeom prst="rect">
            <a:avLst/>
          </a:prstGeom>
          <a:noFill/>
          <a:ln/>
        </p:spPr>
        <p:txBody>
          <a:bodyPr wrap="square" lIns="0" tIns="0" rIns="0" bIns="0" rtlCol="0" anchor="ctr"/>
          <a:lstStyle/>
          <a:p>
            <a:pPr indent="0" marL="0">
              <a:buNone/>
            </a:pPr>
            <a:r>
              <a:rPr lang="en-US" sz="1500" dirty="0">
                <a:solidFill>
                  <a:schemeClr val="bg1"/>
                </a:solidFill>
              </a:rPr>
              <a:t>of India's workforce depends on agriculture for a living</a:t>
            </a:r>
            <a:endParaRPr lang="en-US" sz="1500" dirty="0"/>
          </a:p>
        </p:txBody>
      </p:sp>
      <p:sp>
        <p:nvSpPr>
          <p:cNvPr id="10" name="40% stat card"/>
          <p:cNvSpPr/>
          <p:nvPr/>
        </p:nvSpPr>
        <p:spPr>
          <a:xfrm>
            <a:off x="548640" y="4654296"/>
            <a:ext cx="4846320" cy="1280160"/>
          </a:xfrm>
          <a:prstGeom prst="roundRect">
            <a:avLst>
              <a:gd name="adj" fmla="val 8571"/>
            </a:avLst>
          </a:prstGeom>
          <a:solidFill>
            <a:schemeClr val="tx2">
              <a:alpha val="85000"/>
            </a:schemeClr>
          </a:solidFill>
          <a:ln w="9525">
            <a:solidFill>
              <a:schemeClr val="accent2">
                <a:alpha val="35000"/>
              </a:schemeClr>
            </a:solidFill>
            <a:prstDash val="solid"/>
          </a:ln>
        </p:spPr>
      </p:sp>
      <p:sp>
        <p:nvSpPr>
          <p:cNvPr id="11" name="Text 9"/>
          <p:cNvSpPr txBox="1"/>
          <p:nvPr/>
        </p:nvSpPr>
        <p:spPr>
          <a:xfrm>
            <a:off x="777240" y="4654296"/>
            <a:ext cx="1737360" cy="1280160"/>
          </a:xfrm>
          <a:prstGeom prst="rect">
            <a:avLst/>
          </a:prstGeom>
          <a:noFill/>
          <a:ln/>
        </p:spPr>
        <p:txBody>
          <a:bodyPr wrap="square" lIns="0" tIns="0" rIns="0" bIns="0" rtlCol="0" anchor="ctr"/>
          <a:lstStyle/>
          <a:p>
            <a:pPr indent="0" marL="0">
              <a:buNone/>
            </a:pPr>
            <a:r>
              <a:rPr lang="en-US" sz="4800" b="1" dirty="0">
                <a:solidFill>
                  <a:schemeClr val="accent1"/>
                </a:solidFill>
                <a:latin typeface="+mj-lt" pitchFamily="34" charset="0"/>
                <a:ea typeface="+mj-lt" pitchFamily="34" charset="-122"/>
                <a:cs typeface="+mj-lt" pitchFamily="34" charset="-120"/>
              </a:rPr>
              <a:t>40%</a:t>
            </a:r>
            <a:endParaRPr lang="en-US" sz="4800" dirty="0"/>
          </a:p>
        </p:txBody>
      </p:sp>
      <p:sp>
        <p:nvSpPr>
          <p:cNvPr id="12" name="Text 10"/>
          <p:cNvSpPr txBox="1"/>
          <p:nvPr/>
        </p:nvSpPr>
        <p:spPr>
          <a:xfrm>
            <a:off x="2560320" y="4654296"/>
            <a:ext cx="2651760" cy="1280160"/>
          </a:xfrm>
          <a:prstGeom prst="rect">
            <a:avLst/>
          </a:prstGeom>
          <a:noFill/>
          <a:ln/>
        </p:spPr>
        <p:txBody>
          <a:bodyPr wrap="square" lIns="0" tIns="0" rIns="0" bIns="0" rtlCol="0" anchor="ctr"/>
          <a:lstStyle/>
          <a:p>
            <a:pPr indent="0" marL="0">
              <a:buNone/>
            </a:pPr>
            <a:r>
              <a:rPr lang="en-US" sz="1500" dirty="0">
                <a:solidFill>
                  <a:schemeClr val="bg1"/>
                </a:solidFill>
              </a:rPr>
              <a:t>of global crop output can be lost to pests and diseases each year</a:t>
            </a:r>
            <a:endParaRPr lang="en-US" sz="1500" dirty="0"/>
          </a:p>
        </p:txBody>
      </p:sp>
      <p:sp>
        <p:nvSpPr>
          <p:cNvPr id="13" name="Chart card"/>
          <p:cNvSpPr/>
          <p:nvPr/>
        </p:nvSpPr>
        <p:spPr>
          <a:xfrm>
            <a:off x="5669280" y="1691640"/>
            <a:ext cx="5971032" cy="4389120"/>
          </a:xfrm>
          <a:prstGeom prst="roundRect">
            <a:avLst>
              <a:gd name="adj" fmla="val 2500"/>
            </a:avLst>
          </a:prstGeom>
          <a:solidFill>
            <a:schemeClr val="tx2">
              <a:alpha val="85000"/>
            </a:schemeClr>
          </a:solidFill>
          <a:ln w="9525">
            <a:solidFill>
              <a:schemeClr val="accent2">
                <a:alpha val="35000"/>
              </a:schemeClr>
            </a:solidFill>
            <a:prstDash val="solid"/>
          </a:ln>
        </p:spPr>
      </p:sp>
      <p:graphicFrame>
        <p:nvGraphicFramePr>
          <p:cNvPr id="14" name="Farmer share chart" descr=""/>
          <p:cNvGraphicFramePr/>
          <p:nvPr/>
        </p:nvGraphicFramePr>
        <p:xfrm>
          <a:off x="5852160" y="1783080"/>
          <a:ext cx="5623560" cy="379476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5897880" y="5623560"/>
            <a:ext cx="5577840" cy="320040"/>
          </a:xfrm>
          <a:prstGeom prst="rect">
            <a:avLst/>
          </a:prstGeom>
          <a:noFill/>
          <a:ln/>
        </p:spPr>
        <p:txBody>
          <a:bodyPr wrap="square" lIns="0" tIns="0" rIns="0" bIns="0" rtlCol="0" anchor="t"/>
          <a:lstStyle/>
          <a:p>
            <a:pPr indent="0" marL="0">
              <a:buNone/>
            </a:pPr>
            <a:r>
              <a:rPr lang="en-US" sz="1000" i="1" dirty="0">
                <a:solidFill>
                  <a:schemeClr val="bg2"/>
                </a:solidFill>
              </a:rPr>
              <a:t>Sources: Agriculture Census 2015-16 · PLFS 2023-24 · FAO · RBI Working Paper (2024)</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03  ·  MEET RAMU</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One Farmer, One Season, Many Losses</a:t>
            </a:r>
            <a:endParaRPr lang="en-US" sz="3600" dirty="0"/>
          </a:p>
        </p:txBody>
      </p:sp>
      <p:sp>
        <p:nvSpPr>
          <p:cNvPr id="4" name="Persona card"/>
          <p:cNvSpPr/>
          <p:nvPr/>
        </p:nvSpPr>
        <p:spPr>
          <a:xfrm>
            <a:off x="548640" y="1691640"/>
            <a:ext cx="3657600" cy="4389120"/>
          </a:xfrm>
          <a:prstGeom prst="roundRect">
            <a:avLst>
              <a:gd name="adj" fmla="val 3000"/>
            </a:avLst>
          </a:prstGeom>
          <a:solidFill>
            <a:schemeClr val="tx2">
              <a:alpha val="85000"/>
            </a:schemeClr>
          </a:solidFill>
          <a:ln w="9525">
            <a:solidFill>
              <a:schemeClr val="accent2">
                <a:alpha val="35000"/>
              </a:schemeClr>
            </a:solidFill>
            <a:prstDash val="solid"/>
          </a:ln>
        </p:spPr>
      </p:sp>
      <p:sp>
        <p:nvSpPr>
          <p:cNvPr id="5" name="Ramu circle"/>
          <p:cNvSpPr/>
          <p:nvPr/>
        </p:nvSpPr>
        <p:spPr>
          <a:xfrm>
            <a:off x="1645920" y="1965960"/>
            <a:ext cx="1463040" cy="1463040"/>
          </a:xfrm>
          <a:prstGeom prst="ellipse">
            <a:avLst/>
          </a:prstGeom>
          <a:solidFill>
            <a:schemeClr val="accent1"/>
          </a:solidFill>
          <a:ln/>
        </p:spPr>
      </p:sp>
      <p:pic>
        <p:nvPicPr>
          <p:cNvPr id="6" name="Ramu icon" descr="Ramu">    </p:cNvPr>
          <p:cNvPicPr>
            <a:picLocks noChangeAspect="1"/>
          </p:cNvPicPr>
          <p:nvPr/>
        </p:nvPicPr>
        <p:blipFill>
          <a:blip r:embed="rId1"/>
          <a:stretch>
            <a:fillRect/>
          </a:stretch>
        </p:blipFill>
        <p:spPr>
          <a:xfrm>
            <a:off x="1997050" y="2317090"/>
            <a:ext cx="760781" cy="760781"/>
          </a:xfrm>
          <a:prstGeom prst="rect">
            <a:avLst/>
          </a:prstGeom>
        </p:spPr>
      </p:pic>
      <p:sp>
        <p:nvSpPr>
          <p:cNvPr id="7" name="Text 4"/>
          <p:cNvSpPr txBox="1"/>
          <p:nvPr/>
        </p:nvSpPr>
        <p:spPr>
          <a:xfrm>
            <a:off x="548640" y="3611880"/>
            <a:ext cx="3657600" cy="502920"/>
          </a:xfrm>
          <a:prstGeom prst="rect">
            <a:avLst/>
          </a:prstGeom>
          <a:noFill/>
          <a:ln/>
        </p:spPr>
        <p:txBody>
          <a:bodyPr wrap="square" lIns="0" tIns="0" rIns="0" bIns="0" rtlCol="0" anchor="t"/>
          <a:lstStyle/>
          <a:p>
            <a:pPr algn="ctr" indent="0" marL="0">
              <a:buNone/>
            </a:pPr>
            <a:r>
              <a:rPr lang="en-US" sz="2600" b="1" dirty="0">
                <a:solidFill>
                  <a:schemeClr val="bg1"/>
                </a:solidFill>
                <a:latin typeface="+mj-lt" pitchFamily="34" charset="0"/>
                <a:ea typeface="+mj-lt" pitchFamily="34" charset="-122"/>
                <a:cs typeface="+mj-lt" pitchFamily="34" charset="-120"/>
              </a:rPr>
              <a:t>Ramu, 42</a:t>
            </a:r>
            <a:endParaRPr lang="en-US" sz="2600" dirty="0"/>
          </a:p>
        </p:txBody>
      </p:sp>
      <p:sp>
        <p:nvSpPr>
          <p:cNvPr id="8" name="Text 5"/>
          <p:cNvSpPr txBox="1"/>
          <p:nvPr/>
        </p:nvSpPr>
        <p:spPr>
          <a:xfrm>
            <a:off x="731520" y="4160520"/>
            <a:ext cx="3291840" cy="1005840"/>
          </a:xfrm>
          <a:prstGeom prst="rect">
            <a:avLst/>
          </a:prstGeom>
          <a:noFill/>
          <a:ln/>
        </p:spPr>
        <p:txBody>
          <a:bodyPr wrap="square" lIns="0" tIns="0" rIns="0" bIns="0" rtlCol="0" anchor="t"/>
          <a:lstStyle/>
          <a:p>
            <a:pPr algn="ctr" indent="0" marL="0">
              <a:spcAft>
                <a:spcPts val="300"/>
              </a:spcAft>
              <a:buNone/>
            </a:pPr>
            <a:r>
              <a:rPr lang="en-US" sz="1500" dirty="0">
                <a:solidFill>
                  <a:schemeClr val="bg2"/>
                </a:solidFill>
              </a:rPr>
              <a:t>Cotton &amp; soybean farmer</a:t>
            </a:r>
            <a:endParaRPr lang="en-US" sz="1500" dirty="0"/>
          </a:p>
          <a:p>
            <a:pPr algn="ctr" indent="0" marL="0">
              <a:spcAft>
                <a:spcPts val="300"/>
              </a:spcAft>
              <a:buNone/>
            </a:pPr>
            <a:r>
              <a:rPr lang="en-US" sz="1500" dirty="0">
                <a:solidFill>
                  <a:schemeClr val="bg2"/>
                </a:solidFill>
              </a:rPr>
              <a:t>2 acres · Vidarbha, Maharashtra</a:t>
            </a:r>
            <a:endParaRPr lang="en-US" sz="1500" dirty="0"/>
          </a:p>
          <a:p>
            <a:pPr algn="ctr" indent="0" marL="0">
              <a:spcAft>
                <a:spcPts val="300"/>
              </a:spcAft>
              <a:buNone/>
            </a:pPr>
            <a:r>
              <a:rPr lang="en-US" sz="1500" dirty="0">
                <a:solidFill>
                  <a:schemeClr val="bg2"/>
                </a:solidFill>
              </a:rPr>
              <a:t>Speaks Marathi · basic Android phone</a:t>
            </a:r>
            <a:endParaRPr lang="en-US" sz="1500" dirty="0"/>
          </a:p>
        </p:txBody>
      </p:sp>
      <p:sp>
        <p:nvSpPr>
          <p:cNvPr id="9" name="Persona tag"/>
          <p:cNvSpPr/>
          <p:nvPr/>
        </p:nvSpPr>
        <p:spPr>
          <a:xfrm>
            <a:off x="1325880" y="5394960"/>
            <a:ext cx="2103120" cy="365760"/>
          </a:xfrm>
          <a:prstGeom prst="roundRect">
            <a:avLst>
              <a:gd name="adj" fmla="val 50000"/>
            </a:avLst>
          </a:prstGeom>
          <a:solidFill>
            <a:schemeClr val="tx1">
              <a:alpha val="0"/>
            </a:schemeClr>
          </a:solidFill>
          <a:ln w="12700">
            <a:solidFill>
              <a:schemeClr val="accent1"/>
            </a:solidFill>
            <a:prstDash val="solid"/>
          </a:ln>
        </p:spPr>
      </p:sp>
      <p:sp>
        <p:nvSpPr>
          <p:cNvPr id="10" name="Text 7"/>
          <p:cNvSpPr txBox="1"/>
          <p:nvPr/>
        </p:nvSpPr>
        <p:spPr>
          <a:xfrm>
            <a:off x="1325880" y="5394960"/>
            <a:ext cx="2103120" cy="365760"/>
          </a:xfrm>
          <a:prstGeom prst="rect">
            <a:avLst/>
          </a:prstGeom>
          <a:noFill/>
          <a:ln/>
        </p:spPr>
        <p:txBody>
          <a:bodyPr wrap="square" lIns="0" tIns="0" rIns="0" bIns="0" rtlCol="0" anchor="ctr"/>
          <a:lstStyle/>
          <a:p>
            <a:pPr algn="ctr" indent="0" marL="0">
              <a:buNone/>
            </a:pPr>
            <a:r>
              <a:rPr lang="en-US" sz="1000" b="1" spc="200" kern="0" dirty="0">
                <a:solidFill>
                  <a:schemeClr val="accent1"/>
                </a:solidFill>
              </a:rPr>
              <a:t>ILLUSTRATIVE PERSONA</a:t>
            </a:r>
            <a:endParaRPr lang="en-US" sz="1000" dirty="0"/>
          </a:p>
        </p:txBody>
      </p:sp>
      <p:sp>
        <p:nvSpPr>
          <p:cNvPr id="11" name="Text 8"/>
          <p:cNvSpPr txBox="1"/>
          <p:nvPr/>
        </p:nvSpPr>
        <p:spPr>
          <a:xfrm>
            <a:off x="4572000" y="1691640"/>
            <a:ext cx="7040880" cy="365760"/>
          </a:xfrm>
          <a:prstGeom prst="rect">
            <a:avLst/>
          </a:prstGeom>
          <a:noFill/>
          <a:ln/>
        </p:spPr>
        <p:txBody>
          <a:bodyPr wrap="square" lIns="0" tIns="0" rIns="0" bIns="0" rtlCol="0" anchor="t"/>
          <a:lstStyle/>
          <a:p>
            <a:pPr indent="0" marL="0">
              <a:buNone/>
            </a:pPr>
            <a:r>
              <a:rPr lang="en-US" sz="1800" b="1" dirty="0">
                <a:solidFill>
                  <a:schemeClr val="accent1"/>
                </a:solidFill>
              </a:rPr>
              <a:t>One season in Ramu's life</a:t>
            </a:r>
            <a:endParaRPr lang="en-US" sz="1800" dirty="0"/>
          </a:p>
        </p:txBody>
      </p:sp>
      <p:sp>
        <p:nvSpPr>
          <p:cNvPr id="12" name="WEEK 6 circle"/>
          <p:cNvSpPr/>
          <p:nvPr/>
        </p:nvSpPr>
        <p:spPr>
          <a:xfrm>
            <a:off x="4572000" y="2194560"/>
            <a:ext cx="640080" cy="640080"/>
          </a:xfrm>
          <a:prstGeom prst="ellipse">
            <a:avLst/>
          </a:prstGeom>
          <a:solidFill>
            <a:schemeClr val="accent1"/>
          </a:solidFill>
          <a:ln/>
        </p:spPr>
      </p:sp>
      <p:pic>
        <p:nvPicPr>
          <p:cNvPr id="13" name="WEEK 6 icon" descr="WEEK 6">    </p:cNvPr>
          <p:cNvPicPr>
            <a:picLocks noChangeAspect="1"/>
          </p:cNvPicPr>
          <p:nvPr/>
        </p:nvPicPr>
        <p:blipFill>
          <a:blip r:embed="rId2"/>
          <a:stretch>
            <a:fillRect/>
          </a:stretch>
        </p:blipFill>
        <p:spPr>
          <a:xfrm>
            <a:off x="4725619" y="2348179"/>
            <a:ext cx="332842" cy="332842"/>
          </a:xfrm>
          <a:prstGeom prst="rect">
            <a:avLst/>
          </a:prstGeom>
        </p:spPr>
      </p:pic>
      <p:sp>
        <p:nvSpPr>
          <p:cNvPr id="14" name="Text 10"/>
          <p:cNvSpPr txBox="1"/>
          <p:nvPr/>
        </p:nvSpPr>
        <p:spPr>
          <a:xfrm>
            <a:off x="5394960" y="2194560"/>
            <a:ext cx="621792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WEEK 6</a:t>
            </a:r>
            <a:endParaRPr lang="en-US" sz="1200" dirty="0"/>
          </a:p>
        </p:txBody>
      </p:sp>
      <p:sp>
        <p:nvSpPr>
          <p:cNvPr id="15" name="Text 11"/>
          <p:cNvSpPr txBox="1"/>
          <p:nvPr/>
        </p:nvSpPr>
        <p:spPr>
          <a:xfrm>
            <a:off x="5394960" y="2450592"/>
            <a:ext cx="6217920" cy="457200"/>
          </a:xfrm>
          <a:prstGeom prst="rect">
            <a:avLst/>
          </a:prstGeom>
          <a:noFill/>
          <a:ln/>
        </p:spPr>
        <p:txBody>
          <a:bodyPr wrap="square" lIns="0" tIns="0" rIns="0" bIns="0" rtlCol="0" anchor="t"/>
          <a:lstStyle/>
          <a:p>
            <a:pPr indent="0" marL="0">
              <a:buNone/>
            </a:pPr>
            <a:r>
              <a:rPr lang="en-US" sz="1500" dirty="0">
                <a:solidFill>
                  <a:schemeClr val="bg1"/>
                </a:solidFill>
              </a:rPr>
              <a:t>White spots appear on his leaves. The nearest agri expert is 40 km away.</a:t>
            </a:r>
            <a:endParaRPr lang="en-US" sz="1500" dirty="0"/>
          </a:p>
        </p:txBody>
      </p:sp>
      <p:sp>
        <p:nvSpPr>
          <p:cNvPr id="16" name="WEEK 7 circle"/>
          <p:cNvSpPr/>
          <p:nvPr/>
        </p:nvSpPr>
        <p:spPr>
          <a:xfrm>
            <a:off x="4572000" y="3063240"/>
            <a:ext cx="640080" cy="640080"/>
          </a:xfrm>
          <a:prstGeom prst="ellipse">
            <a:avLst/>
          </a:prstGeom>
          <a:solidFill>
            <a:schemeClr val="accent1"/>
          </a:solidFill>
          <a:ln/>
        </p:spPr>
      </p:sp>
      <p:pic>
        <p:nvPicPr>
          <p:cNvPr id="17" name="WEEK 7 icon" descr="WEEK 7">    </p:cNvPr>
          <p:cNvPicPr>
            <a:picLocks noChangeAspect="1"/>
          </p:cNvPicPr>
          <p:nvPr/>
        </p:nvPicPr>
        <p:blipFill>
          <a:blip r:embed="rId3"/>
          <a:stretch>
            <a:fillRect/>
          </a:stretch>
        </p:blipFill>
        <p:spPr>
          <a:xfrm>
            <a:off x="4725619" y="3216859"/>
            <a:ext cx="332842" cy="332842"/>
          </a:xfrm>
          <a:prstGeom prst="rect">
            <a:avLst/>
          </a:prstGeom>
        </p:spPr>
      </p:pic>
      <p:sp>
        <p:nvSpPr>
          <p:cNvPr id="18" name="Text 13"/>
          <p:cNvSpPr txBox="1"/>
          <p:nvPr/>
        </p:nvSpPr>
        <p:spPr>
          <a:xfrm>
            <a:off x="5394960" y="3063240"/>
            <a:ext cx="621792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WEEK 7</a:t>
            </a:r>
            <a:endParaRPr lang="en-US" sz="1200" dirty="0"/>
          </a:p>
        </p:txBody>
      </p:sp>
      <p:sp>
        <p:nvSpPr>
          <p:cNvPr id="19" name="Text 14"/>
          <p:cNvSpPr txBox="1"/>
          <p:nvPr/>
        </p:nvSpPr>
        <p:spPr>
          <a:xfrm>
            <a:off x="5394960" y="3319272"/>
            <a:ext cx="6217920" cy="457200"/>
          </a:xfrm>
          <a:prstGeom prst="rect">
            <a:avLst/>
          </a:prstGeom>
          <a:noFill/>
          <a:ln/>
        </p:spPr>
        <p:txBody>
          <a:bodyPr wrap="square" lIns="0" tIns="0" rIns="0" bIns="0" rtlCol="0" anchor="t"/>
          <a:lstStyle/>
          <a:p>
            <a:pPr indent="0" marL="0">
              <a:buNone/>
            </a:pPr>
            <a:r>
              <a:rPr lang="en-US" sz="1500" dirty="0">
                <a:solidFill>
                  <a:schemeClr val="bg1"/>
                </a:solidFill>
              </a:rPr>
              <a:t>The local shopkeeper sells him the wrong and costlier pesticide.</a:t>
            </a:r>
            <a:endParaRPr lang="en-US" sz="1500" dirty="0"/>
          </a:p>
        </p:txBody>
      </p:sp>
      <p:sp>
        <p:nvSpPr>
          <p:cNvPr id="20" name="WEEK 14 circle"/>
          <p:cNvSpPr/>
          <p:nvPr/>
        </p:nvSpPr>
        <p:spPr>
          <a:xfrm>
            <a:off x="4572000" y="3931920"/>
            <a:ext cx="640080" cy="640080"/>
          </a:xfrm>
          <a:prstGeom prst="ellipse">
            <a:avLst/>
          </a:prstGeom>
          <a:solidFill>
            <a:schemeClr val="accent1"/>
          </a:solidFill>
          <a:ln/>
        </p:spPr>
      </p:sp>
      <p:pic>
        <p:nvPicPr>
          <p:cNvPr id="21" name="WEEK 14 icon" descr="WEEK 14">    </p:cNvPr>
          <p:cNvPicPr>
            <a:picLocks noChangeAspect="1"/>
          </p:cNvPicPr>
          <p:nvPr/>
        </p:nvPicPr>
        <p:blipFill>
          <a:blip r:embed="rId4"/>
          <a:stretch>
            <a:fillRect/>
          </a:stretch>
        </p:blipFill>
        <p:spPr>
          <a:xfrm>
            <a:off x="4725619" y="4085539"/>
            <a:ext cx="332842" cy="332842"/>
          </a:xfrm>
          <a:prstGeom prst="rect">
            <a:avLst/>
          </a:prstGeom>
        </p:spPr>
      </p:pic>
      <p:sp>
        <p:nvSpPr>
          <p:cNvPr id="22" name="Text 16"/>
          <p:cNvSpPr txBox="1"/>
          <p:nvPr/>
        </p:nvSpPr>
        <p:spPr>
          <a:xfrm>
            <a:off x="5394960" y="3931920"/>
            <a:ext cx="621792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WEEK 14</a:t>
            </a:r>
            <a:endParaRPr lang="en-US" sz="1200" dirty="0"/>
          </a:p>
        </p:txBody>
      </p:sp>
      <p:sp>
        <p:nvSpPr>
          <p:cNvPr id="23" name="Text 17"/>
          <p:cNvSpPr txBox="1"/>
          <p:nvPr/>
        </p:nvSpPr>
        <p:spPr>
          <a:xfrm>
            <a:off x="5394960" y="4187952"/>
            <a:ext cx="6217920" cy="457200"/>
          </a:xfrm>
          <a:prstGeom prst="rect">
            <a:avLst/>
          </a:prstGeom>
          <a:noFill/>
          <a:ln/>
        </p:spPr>
        <p:txBody>
          <a:bodyPr wrap="square" lIns="0" tIns="0" rIns="0" bIns="0" rtlCol="0" anchor="t"/>
          <a:lstStyle/>
          <a:p>
            <a:pPr indent="0" marL="0">
              <a:buNone/>
            </a:pPr>
            <a:r>
              <a:rPr lang="en-US" sz="1500" dirty="0">
                <a:solidFill>
                  <a:schemeClr val="bg1"/>
                </a:solidFill>
              </a:rPr>
              <a:t>Unexpected rain ruins the harvest he left drying in the open.</a:t>
            </a:r>
            <a:endParaRPr lang="en-US" sz="1500" dirty="0"/>
          </a:p>
        </p:txBody>
      </p:sp>
      <p:sp>
        <p:nvSpPr>
          <p:cNvPr id="24" name="HARVEST circle"/>
          <p:cNvSpPr/>
          <p:nvPr/>
        </p:nvSpPr>
        <p:spPr>
          <a:xfrm>
            <a:off x="4572000" y="4800600"/>
            <a:ext cx="640080" cy="640080"/>
          </a:xfrm>
          <a:prstGeom prst="ellipse">
            <a:avLst/>
          </a:prstGeom>
          <a:solidFill>
            <a:schemeClr val="accent1"/>
          </a:solidFill>
          <a:ln/>
        </p:spPr>
      </p:sp>
      <p:pic>
        <p:nvPicPr>
          <p:cNvPr id="25" name="HARVEST icon" descr="HARVEST">    </p:cNvPr>
          <p:cNvPicPr>
            <a:picLocks noChangeAspect="1"/>
          </p:cNvPicPr>
          <p:nvPr/>
        </p:nvPicPr>
        <p:blipFill>
          <a:blip r:embed="rId5"/>
          <a:stretch>
            <a:fillRect/>
          </a:stretch>
        </p:blipFill>
        <p:spPr>
          <a:xfrm>
            <a:off x="4725619" y="4954219"/>
            <a:ext cx="332842" cy="332842"/>
          </a:xfrm>
          <a:prstGeom prst="rect">
            <a:avLst/>
          </a:prstGeom>
        </p:spPr>
      </p:pic>
      <p:sp>
        <p:nvSpPr>
          <p:cNvPr id="26" name="Text 19"/>
          <p:cNvSpPr txBox="1"/>
          <p:nvPr/>
        </p:nvSpPr>
        <p:spPr>
          <a:xfrm>
            <a:off x="5394960" y="4800600"/>
            <a:ext cx="6217920" cy="256032"/>
          </a:xfrm>
          <a:prstGeom prst="rect">
            <a:avLst/>
          </a:prstGeom>
          <a:noFill/>
          <a:ln/>
        </p:spPr>
        <p:txBody>
          <a:bodyPr wrap="square" lIns="0" tIns="0" rIns="0" bIns="0" rtlCol="0" anchor="t"/>
          <a:lstStyle/>
          <a:p>
            <a:pPr indent="0" marL="0">
              <a:buNone/>
            </a:pPr>
            <a:r>
              <a:rPr lang="en-US" sz="1200" b="1" spc="200" kern="0" dirty="0">
                <a:solidFill>
                  <a:schemeClr val="accent1"/>
                </a:solidFill>
              </a:rPr>
              <a:t>HARVEST</a:t>
            </a:r>
            <a:endParaRPr lang="en-US" sz="1200" dirty="0"/>
          </a:p>
        </p:txBody>
      </p:sp>
      <p:sp>
        <p:nvSpPr>
          <p:cNvPr id="27" name="Text 20"/>
          <p:cNvSpPr txBox="1"/>
          <p:nvPr/>
        </p:nvSpPr>
        <p:spPr>
          <a:xfrm>
            <a:off x="5394960" y="5056632"/>
            <a:ext cx="6217920" cy="457200"/>
          </a:xfrm>
          <a:prstGeom prst="rect">
            <a:avLst/>
          </a:prstGeom>
          <a:noFill/>
          <a:ln/>
        </p:spPr>
        <p:txBody>
          <a:bodyPr wrap="square" lIns="0" tIns="0" rIns="0" bIns="0" rtlCol="0" anchor="t"/>
          <a:lstStyle/>
          <a:p>
            <a:pPr indent="0" marL="0">
              <a:buNone/>
            </a:pPr>
            <a:r>
              <a:rPr lang="en-US" sz="1500" dirty="0">
                <a:solidFill>
                  <a:schemeClr val="bg1"/>
                </a:solidFill>
              </a:rPr>
              <a:t>He sells to a middleman below the mandi rate. He never saw the live prices.</a:t>
            </a:r>
            <a:endParaRPr lang="en-US" sz="1500" dirty="0"/>
          </a:p>
        </p:txBody>
      </p:sp>
      <p:sp>
        <p:nvSpPr>
          <p:cNvPr id="28" name="Outcome strip"/>
          <p:cNvSpPr/>
          <p:nvPr/>
        </p:nvSpPr>
        <p:spPr>
          <a:xfrm>
            <a:off x="4572000" y="5577840"/>
            <a:ext cx="7068312" cy="502920"/>
          </a:xfrm>
          <a:prstGeom prst="roundRect">
            <a:avLst>
              <a:gd name="adj" fmla="val 18182"/>
            </a:avLst>
          </a:prstGeom>
          <a:solidFill>
            <a:schemeClr val="accent4">
              <a:alpha val="75000"/>
            </a:schemeClr>
          </a:solidFill>
          <a:ln w="9525">
            <a:solidFill>
              <a:schemeClr val="accent4">
                <a:alpha val="60000"/>
              </a:schemeClr>
            </a:solidFill>
            <a:prstDash val="solid"/>
          </a:ln>
        </p:spPr>
      </p:sp>
      <p:sp>
        <p:nvSpPr>
          <p:cNvPr id="29" name="Text 22"/>
          <p:cNvSpPr txBox="1"/>
          <p:nvPr/>
        </p:nvSpPr>
        <p:spPr>
          <a:xfrm>
            <a:off x="4754880" y="5577840"/>
            <a:ext cx="6766560" cy="502920"/>
          </a:xfrm>
          <a:prstGeom prst="rect">
            <a:avLst/>
          </a:prstGeom>
          <a:noFill/>
          <a:ln/>
        </p:spPr>
        <p:txBody>
          <a:bodyPr wrap="square" lIns="0" tIns="0" rIns="0" bIns="0" rtlCol="0" anchor="ctr"/>
          <a:lstStyle/>
          <a:p>
            <a:pPr indent="0" marL="0">
              <a:buNone/>
            </a:pPr>
            <a:r>
              <a:rPr lang="en-US" sz="1500" b="1" dirty="0">
                <a:solidFill>
                  <a:schemeClr val="bg1"/>
                </a:solidFill>
              </a:rPr>
              <a:t>The result: higher costs, lower yield and a lower price, every single season.</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04  ·  OUR SOLUTION</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KrishiMitra AI: An Expert in Every Pocket</a:t>
            </a:r>
            <a:endParaRPr lang="en-US" sz="3600" dirty="0"/>
          </a:p>
        </p:txBody>
      </p:sp>
      <p:sp>
        <p:nvSpPr>
          <p:cNvPr id="4" name="Hub glow"/>
          <p:cNvSpPr/>
          <p:nvPr/>
        </p:nvSpPr>
        <p:spPr>
          <a:xfrm>
            <a:off x="4864608" y="2606040"/>
            <a:ext cx="2468880" cy="2468880"/>
          </a:xfrm>
          <a:prstGeom prst="ellipse">
            <a:avLst/>
          </a:prstGeom>
          <a:solidFill>
            <a:schemeClr val="accent1">
              <a:alpha val="20000"/>
            </a:schemeClr>
          </a:solidFill>
          <a:ln/>
        </p:spPr>
      </p:sp>
      <p:sp>
        <p:nvSpPr>
          <p:cNvPr id="5" name="Hub"/>
          <p:cNvSpPr/>
          <p:nvPr/>
        </p:nvSpPr>
        <p:spPr>
          <a:xfrm>
            <a:off x="5093208" y="2834640"/>
            <a:ext cx="2011680" cy="2011680"/>
          </a:xfrm>
          <a:prstGeom prst="ellipse">
            <a:avLst/>
          </a:prstGeom>
          <a:solidFill>
            <a:schemeClr val="accent1"/>
          </a:solidFill>
          <a:ln/>
        </p:spPr>
      </p:sp>
      <p:pic>
        <p:nvPicPr>
          <p:cNvPr id="6" name="Hub icon" descr="Sprout">    </p:cNvPr>
          <p:cNvPicPr>
            <a:picLocks noChangeAspect="1"/>
          </p:cNvPicPr>
          <p:nvPr/>
        </p:nvPicPr>
        <p:blipFill>
          <a:blip r:embed="rId1"/>
          <a:stretch>
            <a:fillRect/>
          </a:stretch>
        </p:blipFill>
        <p:spPr>
          <a:xfrm>
            <a:off x="5687568" y="3017520"/>
            <a:ext cx="822960" cy="822960"/>
          </a:xfrm>
          <a:prstGeom prst="rect">
            <a:avLst/>
          </a:prstGeom>
        </p:spPr>
      </p:pic>
      <p:sp>
        <p:nvSpPr>
          <p:cNvPr id="7" name="Text 4"/>
          <p:cNvSpPr txBox="1"/>
          <p:nvPr/>
        </p:nvSpPr>
        <p:spPr>
          <a:xfrm>
            <a:off x="5093208" y="3886200"/>
            <a:ext cx="2011680" cy="365760"/>
          </a:xfrm>
          <a:prstGeom prst="rect">
            <a:avLst/>
          </a:prstGeom>
          <a:noFill/>
          <a:ln/>
        </p:spPr>
        <p:txBody>
          <a:bodyPr wrap="square" lIns="0" tIns="0" rIns="0" bIns="0" rtlCol="0" anchor="t"/>
          <a:lstStyle/>
          <a:p>
            <a:pPr algn="ctr" indent="0" marL="0">
              <a:buNone/>
            </a:pPr>
            <a:r>
              <a:rPr lang="en-US" sz="1600" b="1" dirty="0">
                <a:solidFill>
                  <a:schemeClr val="tx1"/>
                </a:solidFill>
              </a:rPr>
              <a:t>KrishiMitra AI</a:t>
            </a:r>
            <a:endParaRPr lang="en-US" sz="1600" dirty="0"/>
          </a:p>
        </p:txBody>
      </p:sp>
      <p:sp>
        <p:nvSpPr>
          <p:cNvPr id="8" name="Text 5"/>
          <p:cNvSpPr txBox="1"/>
          <p:nvPr/>
        </p:nvSpPr>
        <p:spPr>
          <a:xfrm>
            <a:off x="5093208" y="4206240"/>
            <a:ext cx="2011680" cy="274320"/>
          </a:xfrm>
          <a:prstGeom prst="rect">
            <a:avLst/>
          </a:prstGeom>
          <a:noFill/>
          <a:ln/>
        </p:spPr>
        <p:txBody>
          <a:bodyPr wrap="square" lIns="0" tIns="0" rIns="0" bIns="0" rtlCol="0" anchor="t"/>
          <a:lstStyle/>
          <a:p>
            <a:pPr algn="ctr" indent="0" marL="0">
              <a:buNone/>
            </a:pPr>
            <a:r>
              <a:rPr lang="en-US" sz="1100" dirty="0">
                <a:solidFill>
                  <a:schemeClr val="tx1"/>
                </a:solidFill>
              </a:rPr>
              <a:t>1 app · 4 superpowers</a:t>
            </a:r>
            <a:endParaRPr lang="en-US" sz="1100" dirty="0"/>
          </a:p>
        </p:txBody>
      </p:sp>
      <p:sp>
        <p:nvSpPr>
          <p:cNvPr id="9" name="Link 1"/>
          <p:cNvSpPr/>
          <p:nvPr/>
        </p:nvSpPr>
        <p:spPr>
          <a:xfrm>
            <a:off x="3840480" y="2395728"/>
            <a:ext cx="1417320" cy="850392"/>
          </a:xfrm>
          <a:prstGeom prst="line">
            <a:avLst/>
          </a:prstGeom>
          <a:noFill/>
          <a:ln w="19050">
            <a:solidFill>
              <a:schemeClr val="accent1"/>
            </a:solidFill>
            <a:prstDash val="dash"/>
          </a:ln>
        </p:spPr>
      </p:sp>
      <p:sp>
        <p:nvSpPr>
          <p:cNvPr id="10" name="Link 2"/>
          <p:cNvSpPr/>
          <p:nvPr/>
        </p:nvSpPr>
        <p:spPr>
          <a:xfrm flipV="1">
            <a:off x="6940296" y="2395728"/>
            <a:ext cx="1408176" cy="850392"/>
          </a:xfrm>
          <a:prstGeom prst="line">
            <a:avLst/>
          </a:prstGeom>
          <a:noFill/>
          <a:ln w="19050">
            <a:solidFill>
              <a:schemeClr val="accent1"/>
            </a:solidFill>
            <a:prstDash val="dash"/>
          </a:ln>
        </p:spPr>
      </p:sp>
      <p:sp>
        <p:nvSpPr>
          <p:cNvPr id="11" name="Link 3"/>
          <p:cNvSpPr/>
          <p:nvPr/>
        </p:nvSpPr>
        <p:spPr>
          <a:xfrm flipV="1">
            <a:off x="3840480" y="4434840"/>
            <a:ext cx="1417320" cy="658368"/>
          </a:xfrm>
          <a:prstGeom prst="line">
            <a:avLst/>
          </a:prstGeom>
          <a:noFill/>
          <a:ln w="19050">
            <a:solidFill>
              <a:schemeClr val="accent1"/>
            </a:solidFill>
            <a:prstDash val="dash"/>
          </a:ln>
        </p:spPr>
      </p:sp>
      <p:sp>
        <p:nvSpPr>
          <p:cNvPr id="12" name="Link 4"/>
          <p:cNvSpPr/>
          <p:nvPr/>
        </p:nvSpPr>
        <p:spPr>
          <a:xfrm>
            <a:off x="6940296" y="4434840"/>
            <a:ext cx="1408176" cy="658368"/>
          </a:xfrm>
          <a:prstGeom prst="line">
            <a:avLst/>
          </a:prstGeom>
          <a:noFill/>
          <a:ln w="19050">
            <a:solidFill>
              <a:schemeClr val="accent1"/>
            </a:solidFill>
            <a:prstDash val="dash"/>
          </a:ln>
        </p:spPr>
      </p:sp>
      <p:sp>
        <p:nvSpPr>
          <p:cNvPr id="13" name="Snap &amp; Diagnose card"/>
          <p:cNvSpPr/>
          <p:nvPr/>
        </p:nvSpPr>
        <p:spPr>
          <a:xfrm>
            <a:off x="548640" y="1801368"/>
            <a:ext cx="3291840" cy="1188720"/>
          </a:xfrm>
          <a:prstGeom prst="roundRect">
            <a:avLst>
              <a:gd name="adj" fmla="val 9231"/>
            </a:avLst>
          </a:prstGeom>
          <a:solidFill>
            <a:schemeClr val="tx2">
              <a:alpha val="85000"/>
            </a:schemeClr>
          </a:solidFill>
          <a:ln w="9525">
            <a:solidFill>
              <a:schemeClr val="accent2">
                <a:alpha val="35000"/>
              </a:schemeClr>
            </a:solidFill>
            <a:prstDash val="solid"/>
          </a:ln>
        </p:spPr>
      </p:sp>
      <p:sp>
        <p:nvSpPr>
          <p:cNvPr id="14" name="Snap &amp; Diagnose circle"/>
          <p:cNvSpPr/>
          <p:nvPr/>
        </p:nvSpPr>
        <p:spPr>
          <a:xfrm>
            <a:off x="777240" y="2048256"/>
            <a:ext cx="685800" cy="685800"/>
          </a:xfrm>
          <a:prstGeom prst="ellipse">
            <a:avLst/>
          </a:prstGeom>
          <a:solidFill>
            <a:schemeClr val="accent1"/>
          </a:solidFill>
          <a:ln/>
        </p:spPr>
      </p:sp>
      <p:pic>
        <p:nvPicPr>
          <p:cNvPr id="15" name="Snap &amp; Diagnose icon" descr="Snap &amp; Diagnose">    </p:cNvPr>
          <p:cNvPicPr>
            <a:picLocks noChangeAspect="1"/>
          </p:cNvPicPr>
          <p:nvPr/>
        </p:nvPicPr>
        <p:blipFill>
          <a:blip r:embed="rId2"/>
          <a:stretch>
            <a:fillRect/>
          </a:stretch>
        </p:blipFill>
        <p:spPr>
          <a:xfrm>
            <a:off x="941832" y="2212848"/>
            <a:ext cx="356616" cy="356616"/>
          </a:xfrm>
          <a:prstGeom prst="rect">
            <a:avLst/>
          </a:prstGeom>
        </p:spPr>
      </p:pic>
      <p:sp>
        <p:nvSpPr>
          <p:cNvPr id="16" name="Text 12"/>
          <p:cNvSpPr txBox="1"/>
          <p:nvPr/>
        </p:nvSpPr>
        <p:spPr>
          <a:xfrm>
            <a:off x="1645920" y="1965960"/>
            <a:ext cx="2103120" cy="347472"/>
          </a:xfrm>
          <a:prstGeom prst="rect">
            <a:avLst/>
          </a:prstGeom>
          <a:noFill/>
          <a:ln/>
        </p:spPr>
        <p:txBody>
          <a:bodyPr wrap="square" lIns="0" tIns="0" rIns="0" bIns="0" rtlCol="0" anchor="t"/>
          <a:lstStyle/>
          <a:p>
            <a:pPr indent="0" marL="0">
              <a:buNone/>
            </a:pPr>
            <a:r>
              <a:rPr lang="en-US" sz="1700" b="1" dirty="0">
                <a:solidFill>
                  <a:schemeClr val="bg1"/>
                </a:solidFill>
              </a:rPr>
              <a:t>Snap &amp; Diagnose</a:t>
            </a:r>
            <a:endParaRPr lang="en-US" sz="1700" dirty="0"/>
          </a:p>
        </p:txBody>
      </p:sp>
      <p:sp>
        <p:nvSpPr>
          <p:cNvPr id="17" name="Text 13"/>
          <p:cNvSpPr txBox="1"/>
          <p:nvPr/>
        </p:nvSpPr>
        <p:spPr>
          <a:xfrm>
            <a:off x="1645920" y="2313432"/>
            <a:ext cx="2103120" cy="603504"/>
          </a:xfrm>
          <a:prstGeom prst="rect">
            <a:avLst/>
          </a:prstGeom>
          <a:noFill/>
          <a:ln/>
        </p:spPr>
        <p:txBody>
          <a:bodyPr wrap="square" lIns="0" tIns="0" rIns="0" bIns="0" rtlCol="0" anchor="t"/>
          <a:lstStyle/>
          <a:p>
            <a:pPr indent="0" marL="0">
              <a:buNone/>
            </a:pPr>
            <a:r>
              <a:rPr lang="en-US" sz="1400" dirty="0">
                <a:solidFill>
                  <a:schemeClr val="bg2"/>
                </a:solidFill>
              </a:rPr>
              <a:t>Photo of a leaf gives the disease and its cure.</a:t>
            </a:r>
            <a:endParaRPr lang="en-US" sz="1400" dirty="0"/>
          </a:p>
        </p:txBody>
      </p:sp>
      <p:sp>
        <p:nvSpPr>
          <p:cNvPr id="18" name="Ask by Voice card"/>
          <p:cNvSpPr/>
          <p:nvPr/>
        </p:nvSpPr>
        <p:spPr>
          <a:xfrm>
            <a:off x="8348472" y="1801368"/>
            <a:ext cx="3291840" cy="1188720"/>
          </a:xfrm>
          <a:prstGeom prst="roundRect">
            <a:avLst>
              <a:gd name="adj" fmla="val 9231"/>
            </a:avLst>
          </a:prstGeom>
          <a:solidFill>
            <a:schemeClr val="tx2">
              <a:alpha val="85000"/>
            </a:schemeClr>
          </a:solidFill>
          <a:ln w="9525">
            <a:solidFill>
              <a:schemeClr val="accent2">
                <a:alpha val="35000"/>
              </a:schemeClr>
            </a:solidFill>
            <a:prstDash val="solid"/>
          </a:ln>
        </p:spPr>
      </p:sp>
      <p:sp>
        <p:nvSpPr>
          <p:cNvPr id="19" name="Ask by Voice circle"/>
          <p:cNvSpPr/>
          <p:nvPr/>
        </p:nvSpPr>
        <p:spPr>
          <a:xfrm>
            <a:off x="8577072" y="2048256"/>
            <a:ext cx="685800" cy="685800"/>
          </a:xfrm>
          <a:prstGeom prst="ellipse">
            <a:avLst/>
          </a:prstGeom>
          <a:solidFill>
            <a:schemeClr val="accent1"/>
          </a:solidFill>
          <a:ln/>
        </p:spPr>
      </p:sp>
      <p:pic>
        <p:nvPicPr>
          <p:cNvPr id="20" name="Ask by Voice icon" descr="Ask by Voice">    </p:cNvPr>
          <p:cNvPicPr>
            <a:picLocks noChangeAspect="1"/>
          </p:cNvPicPr>
          <p:nvPr/>
        </p:nvPicPr>
        <p:blipFill>
          <a:blip r:embed="rId3"/>
          <a:stretch>
            <a:fillRect/>
          </a:stretch>
        </p:blipFill>
        <p:spPr>
          <a:xfrm>
            <a:off x="8741664" y="2212848"/>
            <a:ext cx="356616" cy="356616"/>
          </a:xfrm>
          <a:prstGeom prst="rect">
            <a:avLst/>
          </a:prstGeom>
        </p:spPr>
      </p:pic>
      <p:sp>
        <p:nvSpPr>
          <p:cNvPr id="21" name="Text 16"/>
          <p:cNvSpPr txBox="1"/>
          <p:nvPr/>
        </p:nvSpPr>
        <p:spPr>
          <a:xfrm>
            <a:off x="9445752" y="1965960"/>
            <a:ext cx="2103120" cy="347472"/>
          </a:xfrm>
          <a:prstGeom prst="rect">
            <a:avLst/>
          </a:prstGeom>
          <a:noFill/>
          <a:ln/>
        </p:spPr>
        <p:txBody>
          <a:bodyPr wrap="square" lIns="0" tIns="0" rIns="0" bIns="0" rtlCol="0" anchor="t"/>
          <a:lstStyle/>
          <a:p>
            <a:pPr indent="0" marL="0">
              <a:buNone/>
            </a:pPr>
            <a:r>
              <a:rPr lang="en-US" sz="1700" b="1" dirty="0">
                <a:solidFill>
                  <a:schemeClr val="bg1"/>
                </a:solidFill>
              </a:rPr>
              <a:t>Ask by Voice</a:t>
            </a:r>
            <a:endParaRPr lang="en-US" sz="1700" dirty="0"/>
          </a:p>
        </p:txBody>
      </p:sp>
      <p:sp>
        <p:nvSpPr>
          <p:cNvPr id="22" name="Text 17"/>
          <p:cNvSpPr txBox="1"/>
          <p:nvPr/>
        </p:nvSpPr>
        <p:spPr>
          <a:xfrm>
            <a:off x="9445752" y="2313432"/>
            <a:ext cx="2103120" cy="603504"/>
          </a:xfrm>
          <a:prstGeom prst="rect">
            <a:avLst/>
          </a:prstGeom>
          <a:noFill/>
          <a:ln/>
        </p:spPr>
        <p:txBody>
          <a:bodyPr wrap="square" lIns="0" tIns="0" rIns="0" bIns="0" rtlCol="0" anchor="t"/>
          <a:lstStyle/>
          <a:p>
            <a:pPr indent="0" marL="0">
              <a:buNone/>
            </a:pPr>
            <a:r>
              <a:rPr lang="en-US" sz="1400" dirty="0">
                <a:solidFill>
                  <a:schemeClr val="bg2"/>
                </a:solidFill>
              </a:rPr>
              <a:t>Speak in your own language and get answers.</a:t>
            </a:r>
            <a:endParaRPr lang="en-US" sz="1400" dirty="0"/>
          </a:p>
        </p:txBody>
      </p:sp>
      <p:sp>
        <p:nvSpPr>
          <p:cNvPr id="23" name="Weather Shield card"/>
          <p:cNvSpPr/>
          <p:nvPr/>
        </p:nvSpPr>
        <p:spPr>
          <a:xfrm>
            <a:off x="548640" y="4498848"/>
            <a:ext cx="3291840" cy="1188720"/>
          </a:xfrm>
          <a:prstGeom prst="roundRect">
            <a:avLst>
              <a:gd name="adj" fmla="val 9231"/>
            </a:avLst>
          </a:prstGeom>
          <a:solidFill>
            <a:schemeClr val="tx2">
              <a:alpha val="85000"/>
            </a:schemeClr>
          </a:solidFill>
          <a:ln w="9525">
            <a:solidFill>
              <a:schemeClr val="accent2">
                <a:alpha val="35000"/>
              </a:schemeClr>
            </a:solidFill>
            <a:prstDash val="solid"/>
          </a:ln>
        </p:spPr>
      </p:sp>
      <p:sp>
        <p:nvSpPr>
          <p:cNvPr id="24" name="Weather Shield circle"/>
          <p:cNvSpPr/>
          <p:nvPr/>
        </p:nvSpPr>
        <p:spPr>
          <a:xfrm>
            <a:off x="777240" y="4745736"/>
            <a:ext cx="685800" cy="685800"/>
          </a:xfrm>
          <a:prstGeom prst="ellipse">
            <a:avLst/>
          </a:prstGeom>
          <a:solidFill>
            <a:schemeClr val="accent1"/>
          </a:solidFill>
          <a:ln/>
        </p:spPr>
      </p:sp>
      <p:pic>
        <p:nvPicPr>
          <p:cNvPr id="25" name="Weather Shield icon" descr="Weather Shield">    </p:cNvPr>
          <p:cNvPicPr>
            <a:picLocks noChangeAspect="1"/>
          </p:cNvPicPr>
          <p:nvPr/>
        </p:nvPicPr>
        <p:blipFill>
          <a:blip r:embed="rId4"/>
          <a:stretch>
            <a:fillRect/>
          </a:stretch>
        </p:blipFill>
        <p:spPr>
          <a:xfrm>
            <a:off x="941832" y="4910328"/>
            <a:ext cx="356616" cy="356616"/>
          </a:xfrm>
          <a:prstGeom prst="rect">
            <a:avLst/>
          </a:prstGeom>
        </p:spPr>
      </p:pic>
      <p:sp>
        <p:nvSpPr>
          <p:cNvPr id="26" name="Text 20"/>
          <p:cNvSpPr txBox="1"/>
          <p:nvPr/>
        </p:nvSpPr>
        <p:spPr>
          <a:xfrm>
            <a:off x="1645920" y="4663440"/>
            <a:ext cx="2103120" cy="347472"/>
          </a:xfrm>
          <a:prstGeom prst="rect">
            <a:avLst/>
          </a:prstGeom>
          <a:noFill/>
          <a:ln/>
        </p:spPr>
        <p:txBody>
          <a:bodyPr wrap="square" lIns="0" tIns="0" rIns="0" bIns="0" rtlCol="0" anchor="t"/>
          <a:lstStyle/>
          <a:p>
            <a:pPr indent="0" marL="0">
              <a:buNone/>
            </a:pPr>
            <a:r>
              <a:rPr lang="en-US" sz="1700" b="1" dirty="0">
                <a:solidFill>
                  <a:schemeClr val="bg1"/>
                </a:solidFill>
              </a:rPr>
              <a:t>Weather Shield</a:t>
            </a:r>
            <a:endParaRPr lang="en-US" sz="1700" dirty="0"/>
          </a:p>
        </p:txBody>
      </p:sp>
      <p:sp>
        <p:nvSpPr>
          <p:cNvPr id="27" name="Text 21"/>
          <p:cNvSpPr txBox="1"/>
          <p:nvPr/>
        </p:nvSpPr>
        <p:spPr>
          <a:xfrm>
            <a:off x="1645920" y="5010912"/>
            <a:ext cx="2103120" cy="603504"/>
          </a:xfrm>
          <a:prstGeom prst="rect">
            <a:avLst/>
          </a:prstGeom>
          <a:noFill/>
          <a:ln/>
        </p:spPr>
        <p:txBody>
          <a:bodyPr wrap="square" lIns="0" tIns="0" rIns="0" bIns="0" rtlCol="0" anchor="t"/>
          <a:lstStyle/>
          <a:p>
            <a:pPr indent="0" marL="0">
              <a:buNone/>
            </a:pPr>
            <a:r>
              <a:rPr lang="en-US" sz="1400" dirty="0">
                <a:solidFill>
                  <a:schemeClr val="bg2"/>
                </a:solidFill>
              </a:rPr>
              <a:t>Hyperlocal alerts: when to spray and sow.</a:t>
            </a:r>
            <a:endParaRPr lang="en-US" sz="1400" dirty="0"/>
          </a:p>
        </p:txBody>
      </p:sp>
      <p:sp>
        <p:nvSpPr>
          <p:cNvPr id="28" name="Fair Price Finder card"/>
          <p:cNvSpPr/>
          <p:nvPr/>
        </p:nvSpPr>
        <p:spPr>
          <a:xfrm>
            <a:off x="8348472" y="4498848"/>
            <a:ext cx="3291840" cy="1188720"/>
          </a:xfrm>
          <a:prstGeom prst="roundRect">
            <a:avLst>
              <a:gd name="adj" fmla="val 9231"/>
            </a:avLst>
          </a:prstGeom>
          <a:solidFill>
            <a:schemeClr val="tx2">
              <a:alpha val="85000"/>
            </a:schemeClr>
          </a:solidFill>
          <a:ln w="9525">
            <a:solidFill>
              <a:schemeClr val="accent2">
                <a:alpha val="35000"/>
              </a:schemeClr>
            </a:solidFill>
            <a:prstDash val="solid"/>
          </a:ln>
        </p:spPr>
      </p:sp>
      <p:sp>
        <p:nvSpPr>
          <p:cNvPr id="29" name="Fair Price Finder circle"/>
          <p:cNvSpPr/>
          <p:nvPr/>
        </p:nvSpPr>
        <p:spPr>
          <a:xfrm>
            <a:off x="8577072" y="4745736"/>
            <a:ext cx="685800" cy="685800"/>
          </a:xfrm>
          <a:prstGeom prst="ellipse">
            <a:avLst/>
          </a:prstGeom>
          <a:solidFill>
            <a:schemeClr val="accent1"/>
          </a:solidFill>
          <a:ln/>
        </p:spPr>
      </p:sp>
      <p:pic>
        <p:nvPicPr>
          <p:cNvPr id="30" name="Fair Price Finder icon" descr="Fair Price Finder">    </p:cNvPr>
          <p:cNvPicPr>
            <a:picLocks noChangeAspect="1"/>
          </p:cNvPicPr>
          <p:nvPr/>
        </p:nvPicPr>
        <p:blipFill>
          <a:blip r:embed="rId5"/>
          <a:stretch>
            <a:fillRect/>
          </a:stretch>
        </p:blipFill>
        <p:spPr>
          <a:xfrm>
            <a:off x="8741664" y="4910328"/>
            <a:ext cx="356616" cy="356616"/>
          </a:xfrm>
          <a:prstGeom prst="rect">
            <a:avLst/>
          </a:prstGeom>
        </p:spPr>
      </p:pic>
      <p:sp>
        <p:nvSpPr>
          <p:cNvPr id="31" name="Text 24"/>
          <p:cNvSpPr txBox="1"/>
          <p:nvPr/>
        </p:nvSpPr>
        <p:spPr>
          <a:xfrm>
            <a:off x="9445752" y="4663440"/>
            <a:ext cx="2103120" cy="347472"/>
          </a:xfrm>
          <a:prstGeom prst="rect">
            <a:avLst/>
          </a:prstGeom>
          <a:noFill/>
          <a:ln/>
        </p:spPr>
        <p:txBody>
          <a:bodyPr wrap="square" lIns="0" tIns="0" rIns="0" bIns="0" rtlCol="0" anchor="t"/>
          <a:lstStyle/>
          <a:p>
            <a:pPr indent="0" marL="0">
              <a:buNone/>
            </a:pPr>
            <a:r>
              <a:rPr lang="en-US" sz="1700" b="1" dirty="0">
                <a:solidFill>
                  <a:schemeClr val="bg1"/>
                </a:solidFill>
              </a:rPr>
              <a:t>Fair Price Finder</a:t>
            </a:r>
            <a:endParaRPr lang="en-US" sz="1700" dirty="0"/>
          </a:p>
        </p:txBody>
      </p:sp>
      <p:sp>
        <p:nvSpPr>
          <p:cNvPr id="32" name="Text 25"/>
          <p:cNvSpPr txBox="1"/>
          <p:nvPr/>
        </p:nvSpPr>
        <p:spPr>
          <a:xfrm>
            <a:off x="9445752" y="5010912"/>
            <a:ext cx="2103120" cy="603504"/>
          </a:xfrm>
          <a:prstGeom prst="rect">
            <a:avLst/>
          </a:prstGeom>
          <a:noFill/>
          <a:ln/>
        </p:spPr>
        <p:txBody>
          <a:bodyPr wrap="square" lIns="0" tIns="0" rIns="0" bIns="0" rtlCol="0" anchor="t"/>
          <a:lstStyle/>
          <a:p>
            <a:pPr indent="0" marL="0">
              <a:buNone/>
            </a:pPr>
            <a:r>
              <a:rPr lang="en-US" sz="1400" dirty="0">
                <a:solidFill>
                  <a:schemeClr val="bg2"/>
                </a:solidFill>
              </a:rPr>
              <a:t>Live mandi prices and the best place to sell.</a:t>
            </a:r>
            <a:endParaRPr lang="en-US" sz="1400" dirty="0"/>
          </a:p>
        </p:txBody>
      </p:sp>
      <p:sp>
        <p:nvSpPr>
          <p:cNvPr id="33" name="Text 26"/>
          <p:cNvSpPr txBox="1"/>
          <p:nvPr/>
        </p:nvSpPr>
        <p:spPr>
          <a:xfrm>
            <a:off x="3200400" y="5806440"/>
            <a:ext cx="5788152" cy="320040"/>
          </a:xfrm>
          <a:prstGeom prst="rect">
            <a:avLst/>
          </a:prstGeom>
          <a:noFill/>
          <a:ln/>
        </p:spPr>
        <p:txBody>
          <a:bodyPr wrap="square" lIns="0" tIns="0" rIns="0" bIns="0" rtlCol="0" anchor="t"/>
          <a:lstStyle/>
          <a:p>
            <a:pPr algn="ctr" indent="0" marL="0">
              <a:buNone/>
            </a:pPr>
            <a:r>
              <a:rPr lang="en-US" sz="1400" b="1" dirty="0">
                <a:solidFill>
                  <a:schemeClr val="accent2"/>
                </a:solidFill>
              </a:rPr>
              <a:t>Available on Android  ·  WhatsApp  ·  Voice call (IVR)  ·  SMS</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05  ·  KEY FEATURES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Everything a Farmer Needs, in One Place</a:t>
            </a:r>
            <a:endParaRPr lang="en-US" sz="3600" dirty="0"/>
          </a:p>
        </p:txBody>
      </p:sp>
      <p:sp>
        <p:nvSpPr>
          <p:cNvPr id="4" name="Crop Doctor card"/>
          <p:cNvSpPr/>
          <p:nvPr/>
        </p:nvSpPr>
        <p:spPr>
          <a:xfrm>
            <a:off x="548640" y="1691640"/>
            <a:ext cx="3520440" cy="2057400"/>
          </a:xfrm>
          <a:prstGeom prst="roundRect">
            <a:avLst>
              <a:gd name="adj" fmla="val 5333"/>
            </a:avLst>
          </a:prstGeom>
          <a:solidFill>
            <a:schemeClr val="tx2">
              <a:alpha val="85000"/>
            </a:schemeClr>
          </a:solidFill>
          <a:ln w="9525">
            <a:solidFill>
              <a:schemeClr val="accent2">
                <a:alpha val="35000"/>
              </a:schemeClr>
            </a:solidFill>
            <a:prstDash val="solid"/>
          </a:ln>
        </p:spPr>
      </p:sp>
      <p:sp>
        <p:nvSpPr>
          <p:cNvPr id="5" name="Crop Doctor circle"/>
          <p:cNvSpPr/>
          <p:nvPr/>
        </p:nvSpPr>
        <p:spPr>
          <a:xfrm>
            <a:off x="822960" y="1965960"/>
            <a:ext cx="731520" cy="731520"/>
          </a:xfrm>
          <a:prstGeom prst="ellipse">
            <a:avLst/>
          </a:prstGeom>
          <a:solidFill>
            <a:schemeClr val="accent1"/>
          </a:solidFill>
          <a:ln/>
        </p:spPr>
      </p:sp>
      <p:pic>
        <p:nvPicPr>
          <p:cNvPr id="6" name="Crop Doctor icon" descr="Crop Doctor">    </p:cNvPr>
          <p:cNvPicPr>
            <a:picLocks noChangeAspect="1"/>
          </p:cNvPicPr>
          <p:nvPr/>
        </p:nvPicPr>
        <p:blipFill>
          <a:blip r:embed="rId1"/>
          <a:stretch>
            <a:fillRect/>
          </a:stretch>
        </p:blipFill>
        <p:spPr>
          <a:xfrm>
            <a:off x="998525" y="2141525"/>
            <a:ext cx="380390" cy="380390"/>
          </a:xfrm>
          <a:prstGeom prst="rect">
            <a:avLst/>
          </a:prstGeom>
        </p:spPr>
      </p:pic>
      <p:sp>
        <p:nvSpPr>
          <p:cNvPr id="7" name="Text 4"/>
          <p:cNvSpPr txBox="1"/>
          <p:nvPr/>
        </p:nvSpPr>
        <p:spPr>
          <a:xfrm>
            <a:off x="1737360" y="1965960"/>
            <a:ext cx="2194560" cy="731520"/>
          </a:xfrm>
          <a:prstGeom prst="rect">
            <a:avLst/>
          </a:prstGeom>
          <a:noFill/>
          <a:ln/>
        </p:spPr>
        <p:txBody>
          <a:bodyPr wrap="square" lIns="0" tIns="0" rIns="0" bIns="0" rtlCol="0" anchor="ctr"/>
          <a:lstStyle/>
          <a:p>
            <a:pPr indent="0" marL="0">
              <a:buNone/>
            </a:pPr>
            <a:r>
              <a:rPr lang="en-US" sz="1900" b="1" dirty="0">
                <a:solidFill>
                  <a:schemeClr val="bg1"/>
                </a:solidFill>
              </a:rPr>
              <a:t>Crop Doctor</a:t>
            </a:r>
            <a:endParaRPr lang="en-US" sz="1900" dirty="0"/>
          </a:p>
        </p:txBody>
      </p:sp>
      <p:sp>
        <p:nvSpPr>
          <p:cNvPr id="8" name="Text 5"/>
          <p:cNvSpPr txBox="1"/>
          <p:nvPr/>
        </p:nvSpPr>
        <p:spPr>
          <a:xfrm>
            <a:off x="822960" y="2834640"/>
            <a:ext cx="2971800" cy="822960"/>
          </a:xfrm>
          <a:prstGeom prst="rect">
            <a:avLst/>
          </a:prstGeom>
          <a:noFill/>
          <a:ln/>
        </p:spPr>
        <p:txBody>
          <a:bodyPr wrap="square" lIns="0" tIns="0" rIns="0" bIns="0" rtlCol="0" anchor="t"/>
          <a:lstStyle/>
          <a:p>
            <a:pPr indent="0" marL="0">
              <a:buNone/>
            </a:pPr>
            <a:r>
              <a:rPr lang="en-US" sz="1500" dirty="0">
                <a:solidFill>
                  <a:schemeClr val="bg2"/>
                </a:solidFill>
              </a:rPr>
              <a:t>A leaf photo gives the disease, its severity and the right treatment in seconds.</a:t>
            </a:r>
            <a:endParaRPr lang="en-US" sz="1500" dirty="0"/>
          </a:p>
        </p:txBody>
      </p:sp>
      <p:sp>
        <p:nvSpPr>
          <p:cNvPr id="9" name="Voice Assistant card"/>
          <p:cNvSpPr/>
          <p:nvPr/>
        </p:nvSpPr>
        <p:spPr>
          <a:xfrm>
            <a:off x="4334256" y="1691640"/>
            <a:ext cx="3520440" cy="2057400"/>
          </a:xfrm>
          <a:prstGeom prst="roundRect">
            <a:avLst>
              <a:gd name="adj" fmla="val 5333"/>
            </a:avLst>
          </a:prstGeom>
          <a:solidFill>
            <a:schemeClr val="tx2">
              <a:alpha val="85000"/>
            </a:schemeClr>
          </a:solidFill>
          <a:ln w="9525">
            <a:solidFill>
              <a:schemeClr val="accent2">
                <a:alpha val="35000"/>
              </a:schemeClr>
            </a:solidFill>
            <a:prstDash val="solid"/>
          </a:ln>
        </p:spPr>
      </p:sp>
      <p:sp>
        <p:nvSpPr>
          <p:cNvPr id="10" name="Voice Assistant circle"/>
          <p:cNvSpPr/>
          <p:nvPr/>
        </p:nvSpPr>
        <p:spPr>
          <a:xfrm>
            <a:off x="4608576" y="1965960"/>
            <a:ext cx="731520" cy="731520"/>
          </a:xfrm>
          <a:prstGeom prst="ellipse">
            <a:avLst/>
          </a:prstGeom>
          <a:solidFill>
            <a:schemeClr val="accent2"/>
          </a:solidFill>
          <a:ln/>
        </p:spPr>
      </p:sp>
      <p:pic>
        <p:nvPicPr>
          <p:cNvPr id="11" name="Voice Assistant icon" descr="Voice Assistant">    </p:cNvPr>
          <p:cNvPicPr>
            <a:picLocks noChangeAspect="1"/>
          </p:cNvPicPr>
          <p:nvPr/>
        </p:nvPicPr>
        <p:blipFill>
          <a:blip r:embed="rId2"/>
          <a:stretch>
            <a:fillRect/>
          </a:stretch>
        </p:blipFill>
        <p:spPr>
          <a:xfrm>
            <a:off x="4784141" y="2141525"/>
            <a:ext cx="380390" cy="380390"/>
          </a:xfrm>
          <a:prstGeom prst="rect">
            <a:avLst/>
          </a:prstGeom>
        </p:spPr>
      </p:pic>
      <p:sp>
        <p:nvSpPr>
          <p:cNvPr id="12" name="Text 8"/>
          <p:cNvSpPr txBox="1"/>
          <p:nvPr/>
        </p:nvSpPr>
        <p:spPr>
          <a:xfrm>
            <a:off x="5522976" y="1965960"/>
            <a:ext cx="2194560" cy="731520"/>
          </a:xfrm>
          <a:prstGeom prst="rect">
            <a:avLst/>
          </a:prstGeom>
          <a:noFill/>
          <a:ln/>
        </p:spPr>
        <p:txBody>
          <a:bodyPr wrap="square" lIns="0" tIns="0" rIns="0" bIns="0" rtlCol="0" anchor="ctr"/>
          <a:lstStyle/>
          <a:p>
            <a:pPr indent="0" marL="0">
              <a:buNone/>
            </a:pPr>
            <a:r>
              <a:rPr lang="en-US" sz="1900" b="1" dirty="0">
                <a:solidFill>
                  <a:schemeClr val="bg1"/>
                </a:solidFill>
              </a:rPr>
              <a:t>Voice Assistant</a:t>
            </a:r>
            <a:endParaRPr lang="en-US" sz="1900" dirty="0"/>
          </a:p>
        </p:txBody>
      </p:sp>
      <p:sp>
        <p:nvSpPr>
          <p:cNvPr id="13" name="Text 9"/>
          <p:cNvSpPr txBox="1"/>
          <p:nvPr/>
        </p:nvSpPr>
        <p:spPr>
          <a:xfrm>
            <a:off x="4608576" y="2834640"/>
            <a:ext cx="2971800" cy="822960"/>
          </a:xfrm>
          <a:prstGeom prst="rect">
            <a:avLst/>
          </a:prstGeom>
          <a:noFill/>
          <a:ln/>
        </p:spPr>
        <p:txBody>
          <a:bodyPr wrap="square" lIns="0" tIns="0" rIns="0" bIns="0" rtlCol="0" anchor="t"/>
          <a:lstStyle/>
          <a:p>
            <a:pPr indent="0" marL="0">
              <a:buNone/>
            </a:pPr>
            <a:r>
              <a:rPr lang="en-US" sz="1500" dirty="0">
                <a:solidFill>
                  <a:schemeClr val="bg2"/>
                </a:solidFill>
              </a:rPr>
              <a:t>Ask anything by speaking in 10+ Indian languages. No typing needed.</a:t>
            </a:r>
            <a:endParaRPr lang="en-US" sz="1500" dirty="0"/>
          </a:p>
        </p:txBody>
      </p:sp>
      <p:sp>
        <p:nvSpPr>
          <p:cNvPr id="14" name="Weather Shield card"/>
          <p:cNvSpPr/>
          <p:nvPr/>
        </p:nvSpPr>
        <p:spPr>
          <a:xfrm>
            <a:off x="8119872" y="1691640"/>
            <a:ext cx="3520440" cy="2057400"/>
          </a:xfrm>
          <a:prstGeom prst="roundRect">
            <a:avLst>
              <a:gd name="adj" fmla="val 5333"/>
            </a:avLst>
          </a:prstGeom>
          <a:solidFill>
            <a:schemeClr val="tx2">
              <a:alpha val="85000"/>
            </a:schemeClr>
          </a:solidFill>
          <a:ln w="9525">
            <a:solidFill>
              <a:schemeClr val="accent2">
                <a:alpha val="35000"/>
              </a:schemeClr>
            </a:solidFill>
            <a:prstDash val="solid"/>
          </a:ln>
        </p:spPr>
      </p:sp>
      <p:sp>
        <p:nvSpPr>
          <p:cNvPr id="15" name="Weather Shield circle"/>
          <p:cNvSpPr/>
          <p:nvPr/>
        </p:nvSpPr>
        <p:spPr>
          <a:xfrm>
            <a:off x="8394192" y="1965960"/>
            <a:ext cx="731520" cy="731520"/>
          </a:xfrm>
          <a:prstGeom prst="ellipse">
            <a:avLst/>
          </a:prstGeom>
          <a:solidFill>
            <a:schemeClr val="accent1"/>
          </a:solidFill>
          <a:ln/>
        </p:spPr>
      </p:sp>
      <p:pic>
        <p:nvPicPr>
          <p:cNvPr id="16" name="Weather Shield icon" descr="Weather Shield">    </p:cNvPr>
          <p:cNvPicPr>
            <a:picLocks noChangeAspect="1"/>
          </p:cNvPicPr>
          <p:nvPr/>
        </p:nvPicPr>
        <p:blipFill>
          <a:blip r:embed="rId3"/>
          <a:stretch>
            <a:fillRect/>
          </a:stretch>
        </p:blipFill>
        <p:spPr>
          <a:xfrm>
            <a:off x="8569757" y="2141525"/>
            <a:ext cx="380390" cy="380390"/>
          </a:xfrm>
          <a:prstGeom prst="rect">
            <a:avLst/>
          </a:prstGeom>
        </p:spPr>
      </p:pic>
      <p:sp>
        <p:nvSpPr>
          <p:cNvPr id="17" name="Text 12"/>
          <p:cNvSpPr txBox="1"/>
          <p:nvPr/>
        </p:nvSpPr>
        <p:spPr>
          <a:xfrm>
            <a:off x="9308592" y="1965960"/>
            <a:ext cx="2194560" cy="731520"/>
          </a:xfrm>
          <a:prstGeom prst="rect">
            <a:avLst/>
          </a:prstGeom>
          <a:noFill/>
          <a:ln/>
        </p:spPr>
        <p:txBody>
          <a:bodyPr wrap="square" lIns="0" tIns="0" rIns="0" bIns="0" rtlCol="0" anchor="ctr"/>
          <a:lstStyle/>
          <a:p>
            <a:pPr indent="0" marL="0">
              <a:buNone/>
            </a:pPr>
            <a:r>
              <a:rPr lang="en-US" sz="1900" b="1" dirty="0">
                <a:solidFill>
                  <a:schemeClr val="bg1"/>
                </a:solidFill>
              </a:rPr>
              <a:t>Weather Shield</a:t>
            </a:r>
            <a:endParaRPr lang="en-US" sz="1900" dirty="0"/>
          </a:p>
        </p:txBody>
      </p:sp>
      <p:sp>
        <p:nvSpPr>
          <p:cNvPr id="18" name="Text 13"/>
          <p:cNvSpPr txBox="1"/>
          <p:nvPr/>
        </p:nvSpPr>
        <p:spPr>
          <a:xfrm>
            <a:off x="8394192" y="2834640"/>
            <a:ext cx="2971800" cy="822960"/>
          </a:xfrm>
          <a:prstGeom prst="rect">
            <a:avLst/>
          </a:prstGeom>
          <a:noFill/>
          <a:ln/>
        </p:spPr>
        <p:txBody>
          <a:bodyPr wrap="square" lIns="0" tIns="0" rIns="0" bIns="0" rtlCol="0" anchor="t"/>
          <a:lstStyle/>
          <a:p>
            <a:pPr indent="0" marL="0">
              <a:buNone/>
            </a:pPr>
            <a:r>
              <a:rPr lang="en-US" sz="1500" dirty="0">
                <a:solidFill>
                  <a:schemeClr val="bg2"/>
                </a:solidFill>
              </a:rPr>
              <a:t>Hyperlocal forecasts turned into clear spray, irrigate or harvest advice.</a:t>
            </a:r>
            <a:endParaRPr lang="en-US" sz="1500" dirty="0"/>
          </a:p>
        </p:txBody>
      </p:sp>
      <p:sp>
        <p:nvSpPr>
          <p:cNvPr id="19" name="Mandi Prices card"/>
          <p:cNvSpPr/>
          <p:nvPr/>
        </p:nvSpPr>
        <p:spPr>
          <a:xfrm>
            <a:off x="548640" y="3977640"/>
            <a:ext cx="3520440" cy="2057400"/>
          </a:xfrm>
          <a:prstGeom prst="roundRect">
            <a:avLst>
              <a:gd name="adj" fmla="val 5333"/>
            </a:avLst>
          </a:prstGeom>
          <a:solidFill>
            <a:schemeClr val="tx2">
              <a:alpha val="85000"/>
            </a:schemeClr>
          </a:solidFill>
          <a:ln w="9525">
            <a:solidFill>
              <a:schemeClr val="accent2">
                <a:alpha val="35000"/>
              </a:schemeClr>
            </a:solidFill>
            <a:prstDash val="solid"/>
          </a:ln>
        </p:spPr>
      </p:sp>
      <p:sp>
        <p:nvSpPr>
          <p:cNvPr id="20" name="Mandi Prices circle"/>
          <p:cNvSpPr/>
          <p:nvPr/>
        </p:nvSpPr>
        <p:spPr>
          <a:xfrm>
            <a:off x="822960" y="4251960"/>
            <a:ext cx="731520" cy="731520"/>
          </a:xfrm>
          <a:prstGeom prst="ellipse">
            <a:avLst/>
          </a:prstGeom>
          <a:solidFill>
            <a:schemeClr val="accent2"/>
          </a:solidFill>
          <a:ln/>
        </p:spPr>
      </p:sp>
      <p:pic>
        <p:nvPicPr>
          <p:cNvPr id="21" name="Mandi Prices icon" descr="Mandi Prices">    </p:cNvPr>
          <p:cNvPicPr>
            <a:picLocks noChangeAspect="1"/>
          </p:cNvPicPr>
          <p:nvPr/>
        </p:nvPicPr>
        <p:blipFill>
          <a:blip r:embed="rId4"/>
          <a:stretch>
            <a:fillRect/>
          </a:stretch>
        </p:blipFill>
        <p:spPr>
          <a:xfrm>
            <a:off x="998525" y="4427525"/>
            <a:ext cx="380390" cy="380390"/>
          </a:xfrm>
          <a:prstGeom prst="rect">
            <a:avLst/>
          </a:prstGeom>
        </p:spPr>
      </p:pic>
      <p:sp>
        <p:nvSpPr>
          <p:cNvPr id="22" name="Text 16"/>
          <p:cNvSpPr txBox="1"/>
          <p:nvPr/>
        </p:nvSpPr>
        <p:spPr>
          <a:xfrm>
            <a:off x="1737360" y="4251960"/>
            <a:ext cx="2194560" cy="731520"/>
          </a:xfrm>
          <a:prstGeom prst="rect">
            <a:avLst/>
          </a:prstGeom>
          <a:noFill/>
          <a:ln/>
        </p:spPr>
        <p:txBody>
          <a:bodyPr wrap="square" lIns="0" tIns="0" rIns="0" bIns="0" rtlCol="0" anchor="ctr"/>
          <a:lstStyle/>
          <a:p>
            <a:pPr indent="0" marL="0">
              <a:buNone/>
            </a:pPr>
            <a:r>
              <a:rPr lang="en-US" sz="1900" b="1" dirty="0">
                <a:solidFill>
                  <a:schemeClr val="bg1"/>
                </a:solidFill>
              </a:rPr>
              <a:t>Mandi Prices</a:t>
            </a:r>
            <a:endParaRPr lang="en-US" sz="1900" dirty="0"/>
          </a:p>
        </p:txBody>
      </p:sp>
      <p:sp>
        <p:nvSpPr>
          <p:cNvPr id="23" name="Text 17"/>
          <p:cNvSpPr txBox="1"/>
          <p:nvPr/>
        </p:nvSpPr>
        <p:spPr>
          <a:xfrm>
            <a:off x="822960" y="5120640"/>
            <a:ext cx="2971800" cy="822960"/>
          </a:xfrm>
          <a:prstGeom prst="rect">
            <a:avLst/>
          </a:prstGeom>
          <a:noFill/>
          <a:ln/>
        </p:spPr>
        <p:txBody>
          <a:bodyPr wrap="square" lIns="0" tIns="0" rIns="0" bIns="0" rtlCol="0" anchor="t"/>
          <a:lstStyle/>
          <a:p>
            <a:pPr indent="0" marL="0">
              <a:buNone/>
            </a:pPr>
            <a:r>
              <a:rPr lang="en-US" sz="1500" dirty="0">
                <a:solidFill>
                  <a:schemeClr val="bg2"/>
                </a:solidFill>
              </a:rPr>
              <a:t>Live prices from nearby markets, plus the best day and place to sell.</a:t>
            </a:r>
            <a:endParaRPr lang="en-US" sz="1500" dirty="0"/>
          </a:p>
        </p:txBody>
      </p:sp>
      <p:sp>
        <p:nvSpPr>
          <p:cNvPr id="24" name="Scheme Finder card"/>
          <p:cNvSpPr/>
          <p:nvPr/>
        </p:nvSpPr>
        <p:spPr>
          <a:xfrm>
            <a:off x="4334256" y="3977640"/>
            <a:ext cx="3520440" cy="2057400"/>
          </a:xfrm>
          <a:prstGeom prst="roundRect">
            <a:avLst>
              <a:gd name="adj" fmla="val 5333"/>
            </a:avLst>
          </a:prstGeom>
          <a:solidFill>
            <a:schemeClr val="tx2">
              <a:alpha val="85000"/>
            </a:schemeClr>
          </a:solidFill>
          <a:ln w="9525">
            <a:solidFill>
              <a:schemeClr val="accent2">
                <a:alpha val="35000"/>
              </a:schemeClr>
            </a:solidFill>
            <a:prstDash val="solid"/>
          </a:ln>
        </p:spPr>
      </p:sp>
      <p:sp>
        <p:nvSpPr>
          <p:cNvPr id="25" name="Scheme Finder circle"/>
          <p:cNvSpPr/>
          <p:nvPr/>
        </p:nvSpPr>
        <p:spPr>
          <a:xfrm>
            <a:off x="4608576" y="4251960"/>
            <a:ext cx="731520" cy="731520"/>
          </a:xfrm>
          <a:prstGeom prst="ellipse">
            <a:avLst/>
          </a:prstGeom>
          <a:solidFill>
            <a:schemeClr val="accent1"/>
          </a:solidFill>
          <a:ln/>
        </p:spPr>
      </p:sp>
      <p:pic>
        <p:nvPicPr>
          <p:cNvPr id="26" name="Scheme Finder icon" descr="Scheme Finder">    </p:cNvPr>
          <p:cNvPicPr>
            <a:picLocks noChangeAspect="1"/>
          </p:cNvPicPr>
          <p:nvPr/>
        </p:nvPicPr>
        <p:blipFill>
          <a:blip r:embed="rId5"/>
          <a:stretch>
            <a:fillRect/>
          </a:stretch>
        </p:blipFill>
        <p:spPr>
          <a:xfrm>
            <a:off x="4784141" y="4427525"/>
            <a:ext cx="380390" cy="380390"/>
          </a:xfrm>
          <a:prstGeom prst="rect">
            <a:avLst/>
          </a:prstGeom>
        </p:spPr>
      </p:pic>
      <p:sp>
        <p:nvSpPr>
          <p:cNvPr id="27" name="Text 20"/>
          <p:cNvSpPr txBox="1"/>
          <p:nvPr/>
        </p:nvSpPr>
        <p:spPr>
          <a:xfrm>
            <a:off x="5522976" y="4251960"/>
            <a:ext cx="2194560" cy="731520"/>
          </a:xfrm>
          <a:prstGeom prst="rect">
            <a:avLst/>
          </a:prstGeom>
          <a:noFill/>
          <a:ln/>
        </p:spPr>
        <p:txBody>
          <a:bodyPr wrap="square" lIns="0" tIns="0" rIns="0" bIns="0" rtlCol="0" anchor="ctr"/>
          <a:lstStyle/>
          <a:p>
            <a:pPr indent="0" marL="0">
              <a:buNone/>
            </a:pPr>
            <a:r>
              <a:rPr lang="en-US" sz="1900" b="1" dirty="0">
                <a:solidFill>
                  <a:schemeClr val="bg1"/>
                </a:solidFill>
              </a:rPr>
              <a:t>Scheme Finder</a:t>
            </a:r>
            <a:endParaRPr lang="en-US" sz="1900" dirty="0"/>
          </a:p>
        </p:txBody>
      </p:sp>
      <p:sp>
        <p:nvSpPr>
          <p:cNvPr id="28" name="Text 21"/>
          <p:cNvSpPr txBox="1"/>
          <p:nvPr/>
        </p:nvSpPr>
        <p:spPr>
          <a:xfrm>
            <a:off x="4608576" y="5120640"/>
            <a:ext cx="2971800" cy="822960"/>
          </a:xfrm>
          <a:prstGeom prst="rect">
            <a:avLst/>
          </a:prstGeom>
          <a:noFill/>
          <a:ln/>
        </p:spPr>
        <p:txBody>
          <a:bodyPr wrap="square" lIns="0" tIns="0" rIns="0" bIns="0" rtlCol="0" anchor="t"/>
          <a:lstStyle/>
          <a:p>
            <a:pPr indent="0" marL="0">
              <a:buNone/>
            </a:pPr>
            <a:r>
              <a:rPr lang="en-US" sz="1500" dirty="0">
                <a:solidFill>
                  <a:schemeClr val="bg2"/>
                </a:solidFill>
              </a:rPr>
              <a:t>Matches each farmer to schemes like PM-KISAN and PMFBY crop insurance.</a:t>
            </a:r>
            <a:endParaRPr lang="en-US" sz="1500" dirty="0"/>
          </a:p>
        </p:txBody>
      </p:sp>
      <p:sp>
        <p:nvSpPr>
          <p:cNvPr id="29" name="Offline &amp; Low-Data card"/>
          <p:cNvSpPr/>
          <p:nvPr/>
        </p:nvSpPr>
        <p:spPr>
          <a:xfrm>
            <a:off x="8119872" y="3977640"/>
            <a:ext cx="3520440" cy="2057400"/>
          </a:xfrm>
          <a:prstGeom prst="roundRect">
            <a:avLst>
              <a:gd name="adj" fmla="val 5333"/>
            </a:avLst>
          </a:prstGeom>
          <a:solidFill>
            <a:schemeClr val="tx2">
              <a:alpha val="85000"/>
            </a:schemeClr>
          </a:solidFill>
          <a:ln w="9525">
            <a:solidFill>
              <a:schemeClr val="accent2">
                <a:alpha val="35000"/>
              </a:schemeClr>
            </a:solidFill>
            <a:prstDash val="solid"/>
          </a:ln>
        </p:spPr>
      </p:sp>
      <p:sp>
        <p:nvSpPr>
          <p:cNvPr id="30" name="Offline &amp; Low-Data circle"/>
          <p:cNvSpPr/>
          <p:nvPr/>
        </p:nvSpPr>
        <p:spPr>
          <a:xfrm>
            <a:off x="8394192" y="4251960"/>
            <a:ext cx="731520" cy="731520"/>
          </a:xfrm>
          <a:prstGeom prst="ellipse">
            <a:avLst/>
          </a:prstGeom>
          <a:solidFill>
            <a:schemeClr val="accent2"/>
          </a:solidFill>
          <a:ln/>
        </p:spPr>
      </p:sp>
      <p:pic>
        <p:nvPicPr>
          <p:cNvPr id="31" name="Offline &amp; Low-Data icon" descr="Offline &amp; Low-Data">    </p:cNvPr>
          <p:cNvPicPr>
            <a:picLocks noChangeAspect="1"/>
          </p:cNvPicPr>
          <p:nvPr/>
        </p:nvPicPr>
        <p:blipFill>
          <a:blip r:embed="rId6"/>
          <a:stretch>
            <a:fillRect/>
          </a:stretch>
        </p:blipFill>
        <p:spPr>
          <a:xfrm>
            <a:off x="8569757" y="4427525"/>
            <a:ext cx="380390" cy="380390"/>
          </a:xfrm>
          <a:prstGeom prst="rect">
            <a:avLst/>
          </a:prstGeom>
        </p:spPr>
      </p:pic>
      <p:sp>
        <p:nvSpPr>
          <p:cNvPr id="32" name="Text 24"/>
          <p:cNvSpPr txBox="1"/>
          <p:nvPr/>
        </p:nvSpPr>
        <p:spPr>
          <a:xfrm>
            <a:off x="9308592" y="4251960"/>
            <a:ext cx="2194560" cy="731520"/>
          </a:xfrm>
          <a:prstGeom prst="rect">
            <a:avLst/>
          </a:prstGeom>
          <a:noFill/>
          <a:ln/>
        </p:spPr>
        <p:txBody>
          <a:bodyPr wrap="square" lIns="0" tIns="0" rIns="0" bIns="0" rtlCol="0" anchor="ctr"/>
          <a:lstStyle/>
          <a:p>
            <a:pPr indent="0" marL="0">
              <a:buNone/>
            </a:pPr>
            <a:r>
              <a:rPr lang="en-US" sz="1900" b="1" dirty="0">
                <a:solidFill>
                  <a:schemeClr val="bg1"/>
                </a:solidFill>
              </a:rPr>
              <a:t>Offline &amp; Low-Data</a:t>
            </a:r>
            <a:endParaRPr lang="en-US" sz="1900" dirty="0"/>
          </a:p>
        </p:txBody>
      </p:sp>
      <p:sp>
        <p:nvSpPr>
          <p:cNvPr id="33" name="Text 25"/>
          <p:cNvSpPr txBox="1"/>
          <p:nvPr/>
        </p:nvSpPr>
        <p:spPr>
          <a:xfrm>
            <a:off x="8394192" y="5120640"/>
            <a:ext cx="2971800" cy="822960"/>
          </a:xfrm>
          <a:prstGeom prst="rect">
            <a:avLst/>
          </a:prstGeom>
          <a:noFill/>
          <a:ln/>
        </p:spPr>
        <p:txBody>
          <a:bodyPr wrap="square" lIns="0" tIns="0" rIns="0" bIns="0" rtlCol="0" anchor="t"/>
          <a:lstStyle/>
          <a:p>
            <a:pPr indent="0" marL="0">
              <a:buNone/>
            </a:pPr>
            <a:r>
              <a:rPr lang="en-US" sz="1500" dirty="0">
                <a:solidFill>
                  <a:schemeClr val="bg2"/>
                </a:solidFill>
              </a:rPr>
              <a:t>Works on 2G, SMS and IVR calls, so even basic phones are covered.</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06  ·  HOW IT WORKS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From a Photo to a Decision in Seconds</a:t>
            </a:r>
            <a:endParaRPr lang="en-US" sz="3600" dirty="0"/>
          </a:p>
        </p:txBody>
      </p:sp>
      <p:sp>
        <p:nvSpPr>
          <p:cNvPr id="4" name="Snap or Speak card"/>
          <p:cNvSpPr/>
          <p:nvPr/>
        </p:nvSpPr>
        <p:spPr>
          <a:xfrm>
            <a:off x="548640" y="1691640"/>
            <a:ext cx="2514600" cy="2514600"/>
          </a:xfrm>
          <a:prstGeom prst="roundRect">
            <a:avLst>
              <a:gd name="adj" fmla="val 4364"/>
            </a:avLst>
          </a:prstGeom>
          <a:solidFill>
            <a:schemeClr val="tx2">
              <a:alpha val="85000"/>
            </a:schemeClr>
          </a:solidFill>
          <a:ln w="9525">
            <a:solidFill>
              <a:schemeClr val="accent2">
                <a:alpha val="35000"/>
              </a:schemeClr>
            </a:solidFill>
            <a:prstDash val="solid"/>
          </a:ln>
        </p:spPr>
      </p:sp>
      <p:sp>
        <p:nvSpPr>
          <p:cNvPr id="5" name="Snap or Speak circle"/>
          <p:cNvSpPr/>
          <p:nvPr/>
        </p:nvSpPr>
        <p:spPr>
          <a:xfrm>
            <a:off x="822960" y="1965960"/>
            <a:ext cx="777240" cy="777240"/>
          </a:xfrm>
          <a:prstGeom prst="ellipse">
            <a:avLst/>
          </a:prstGeom>
          <a:solidFill>
            <a:schemeClr val="accent1"/>
          </a:solidFill>
          <a:ln/>
        </p:spPr>
      </p:sp>
      <p:pic>
        <p:nvPicPr>
          <p:cNvPr id="6" name="Snap or Speak icon" descr="Snap or Speak">    </p:cNvPr>
          <p:cNvPicPr>
            <a:picLocks noChangeAspect="1"/>
          </p:cNvPicPr>
          <p:nvPr/>
        </p:nvPicPr>
        <p:blipFill>
          <a:blip r:embed="rId1"/>
          <a:stretch>
            <a:fillRect/>
          </a:stretch>
        </p:blipFill>
        <p:spPr>
          <a:xfrm>
            <a:off x="1009498" y="2152498"/>
            <a:ext cx="404165" cy="404165"/>
          </a:xfrm>
          <a:prstGeom prst="rect">
            <a:avLst/>
          </a:prstGeom>
        </p:spPr>
      </p:pic>
      <p:sp>
        <p:nvSpPr>
          <p:cNvPr id="7" name="Text 4"/>
          <p:cNvSpPr txBox="1"/>
          <p:nvPr/>
        </p:nvSpPr>
        <p:spPr>
          <a:xfrm>
            <a:off x="2011680" y="1920240"/>
            <a:ext cx="868680" cy="548640"/>
          </a:xfrm>
          <a:prstGeom prst="rect">
            <a:avLst/>
          </a:prstGeom>
          <a:noFill/>
          <a:ln/>
        </p:spPr>
        <p:txBody>
          <a:bodyPr wrap="square" lIns="0" tIns="0" rIns="0" bIns="0" rtlCol="0" anchor="t"/>
          <a:lstStyle/>
          <a:p>
            <a:pPr algn="r" indent="0" marL="0">
              <a:buNone/>
            </a:pPr>
            <a:r>
              <a:rPr lang="en-US" sz="3000" b="1" dirty="0">
                <a:solidFill>
                  <a:schemeClr val="accent1">
                    <a:alpha val="70000"/>
                  </a:schemeClr>
                </a:solidFill>
                <a:latin typeface="+mj-lt" pitchFamily="34" charset="0"/>
                <a:ea typeface="+mj-lt" pitchFamily="34" charset="-122"/>
                <a:cs typeface="+mj-lt" pitchFamily="34" charset="-120"/>
              </a:rPr>
              <a:t>01</a:t>
            </a:r>
            <a:endParaRPr lang="en-US" sz="3000" dirty="0"/>
          </a:p>
        </p:txBody>
      </p:sp>
      <p:sp>
        <p:nvSpPr>
          <p:cNvPr id="8" name="Text 5"/>
          <p:cNvSpPr txBox="1"/>
          <p:nvPr/>
        </p:nvSpPr>
        <p:spPr>
          <a:xfrm>
            <a:off x="822960" y="2880360"/>
            <a:ext cx="2057400" cy="365760"/>
          </a:xfrm>
          <a:prstGeom prst="rect">
            <a:avLst/>
          </a:prstGeom>
          <a:noFill/>
          <a:ln/>
        </p:spPr>
        <p:txBody>
          <a:bodyPr wrap="square" lIns="0" tIns="0" rIns="0" bIns="0" rtlCol="0" anchor="t"/>
          <a:lstStyle/>
          <a:p>
            <a:pPr indent="0" marL="0">
              <a:buNone/>
            </a:pPr>
            <a:r>
              <a:rPr lang="en-US" sz="1800" b="1" dirty="0">
                <a:solidFill>
                  <a:schemeClr val="bg1"/>
                </a:solidFill>
              </a:rPr>
              <a:t>Snap or Speak</a:t>
            </a:r>
            <a:endParaRPr lang="en-US" sz="1800" dirty="0"/>
          </a:p>
        </p:txBody>
      </p:sp>
      <p:sp>
        <p:nvSpPr>
          <p:cNvPr id="9" name="Text 6"/>
          <p:cNvSpPr txBox="1"/>
          <p:nvPr/>
        </p:nvSpPr>
        <p:spPr>
          <a:xfrm>
            <a:off x="822960" y="3264408"/>
            <a:ext cx="2057400" cy="868680"/>
          </a:xfrm>
          <a:prstGeom prst="rect">
            <a:avLst/>
          </a:prstGeom>
          <a:noFill/>
          <a:ln/>
        </p:spPr>
        <p:txBody>
          <a:bodyPr wrap="square" lIns="0" tIns="0" rIns="0" bIns="0" rtlCol="0" anchor="t"/>
          <a:lstStyle/>
          <a:p>
            <a:pPr indent="0" marL="0">
              <a:buNone/>
            </a:pPr>
            <a:r>
              <a:rPr lang="en-US" sz="1400" dirty="0">
                <a:solidFill>
                  <a:schemeClr val="bg2"/>
                </a:solidFill>
              </a:rPr>
              <a:t>Farmer sends a leaf photo or a voice question.</a:t>
            </a:r>
            <a:endParaRPr lang="en-US" sz="1400" dirty="0"/>
          </a:p>
        </p:txBody>
      </p:sp>
      <p:pic>
        <p:nvPicPr>
          <p:cNvPr id="10" name="Arrow 1" descr="next">    </p:cNvPr>
          <p:cNvPicPr>
            <a:picLocks noChangeAspect="1"/>
          </p:cNvPicPr>
          <p:nvPr/>
        </p:nvPicPr>
        <p:blipFill>
          <a:blip r:embed="rId2"/>
          <a:stretch>
            <a:fillRect/>
          </a:stretch>
        </p:blipFill>
        <p:spPr>
          <a:xfrm>
            <a:off x="3099816" y="2807208"/>
            <a:ext cx="274320" cy="274320"/>
          </a:xfrm>
          <a:prstGeom prst="rect">
            <a:avLst/>
          </a:prstGeom>
        </p:spPr>
      </p:pic>
      <p:sp>
        <p:nvSpPr>
          <p:cNvPr id="11" name="AI Understands card"/>
          <p:cNvSpPr/>
          <p:nvPr/>
        </p:nvSpPr>
        <p:spPr>
          <a:xfrm>
            <a:off x="3410712" y="1691640"/>
            <a:ext cx="2514600" cy="2514600"/>
          </a:xfrm>
          <a:prstGeom prst="roundRect">
            <a:avLst>
              <a:gd name="adj" fmla="val 4364"/>
            </a:avLst>
          </a:prstGeom>
          <a:solidFill>
            <a:schemeClr val="tx2">
              <a:alpha val="85000"/>
            </a:schemeClr>
          </a:solidFill>
          <a:ln w="9525">
            <a:solidFill>
              <a:schemeClr val="accent2">
                <a:alpha val="35000"/>
              </a:schemeClr>
            </a:solidFill>
            <a:prstDash val="solid"/>
          </a:ln>
        </p:spPr>
      </p:sp>
      <p:sp>
        <p:nvSpPr>
          <p:cNvPr id="12" name="AI Understands circle"/>
          <p:cNvSpPr/>
          <p:nvPr/>
        </p:nvSpPr>
        <p:spPr>
          <a:xfrm>
            <a:off x="3685032" y="1965960"/>
            <a:ext cx="777240" cy="777240"/>
          </a:xfrm>
          <a:prstGeom prst="ellipse">
            <a:avLst/>
          </a:prstGeom>
          <a:solidFill>
            <a:schemeClr val="accent1"/>
          </a:solidFill>
          <a:ln/>
        </p:spPr>
      </p:sp>
      <p:pic>
        <p:nvPicPr>
          <p:cNvPr id="13" name="AI Understands icon" descr="AI Understands">    </p:cNvPr>
          <p:cNvPicPr>
            <a:picLocks noChangeAspect="1"/>
          </p:cNvPicPr>
          <p:nvPr/>
        </p:nvPicPr>
        <p:blipFill>
          <a:blip r:embed="rId3"/>
          <a:stretch>
            <a:fillRect/>
          </a:stretch>
        </p:blipFill>
        <p:spPr>
          <a:xfrm>
            <a:off x="3871570" y="2152498"/>
            <a:ext cx="404165" cy="404165"/>
          </a:xfrm>
          <a:prstGeom prst="rect">
            <a:avLst/>
          </a:prstGeom>
        </p:spPr>
      </p:pic>
      <p:sp>
        <p:nvSpPr>
          <p:cNvPr id="14" name="Text 9"/>
          <p:cNvSpPr txBox="1"/>
          <p:nvPr/>
        </p:nvSpPr>
        <p:spPr>
          <a:xfrm>
            <a:off x="4873752" y="1920240"/>
            <a:ext cx="868680" cy="548640"/>
          </a:xfrm>
          <a:prstGeom prst="rect">
            <a:avLst/>
          </a:prstGeom>
          <a:noFill/>
          <a:ln/>
        </p:spPr>
        <p:txBody>
          <a:bodyPr wrap="square" lIns="0" tIns="0" rIns="0" bIns="0" rtlCol="0" anchor="t"/>
          <a:lstStyle/>
          <a:p>
            <a:pPr algn="r" indent="0" marL="0">
              <a:buNone/>
            </a:pPr>
            <a:r>
              <a:rPr lang="en-US" sz="3000" b="1" dirty="0">
                <a:solidFill>
                  <a:schemeClr val="accent1">
                    <a:alpha val="70000"/>
                  </a:schemeClr>
                </a:solidFill>
                <a:latin typeface="+mj-lt" pitchFamily="34" charset="0"/>
                <a:ea typeface="+mj-lt" pitchFamily="34" charset="-122"/>
                <a:cs typeface="+mj-lt" pitchFamily="34" charset="-120"/>
              </a:rPr>
              <a:t>02</a:t>
            </a:r>
            <a:endParaRPr lang="en-US" sz="3000" dirty="0"/>
          </a:p>
        </p:txBody>
      </p:sp>
      <p:sp>
        <p:nvSpPr>
          <p:cNvPr id="15" name="Text 10"/>
          <p:cNvSpPr txBox="1"/>
          <p:nvPr/>
        </p:nvSpPr>
        <p:spPr>
          <a:xfrm>
            <a:off x="3685032" y="2880360"/>
            <a:ext cx="2057400" cy="365760"/>
          </a:xfrm>
          <a:prstGeom prst="rect">
            <a:avLst/>
          </a:prstGeom>
          <a:noFill/>
          <a:ln/>
        </p:spPr>
        <p:txBody>
          <a:bodyPr wrap="square" lIns="0" tIns="0" rIns="0" bIns="0" rtlCol="0" anchor="t"/>
          <a:lstStyle/>
          <a:p>
            <a:pPr indent="0" marL="0">
              <a:buNone/>
            </a:pPr>
            <a:r>
              <a:rPr lang="en-US" sz="1800" b="1" dirty="0">
                <a:solidFill>
                  <a:schemeClr val="bg1"/>
                </a:solidFill>
              </a:rPr>
              <a:t>AI Understands</a:t>
            </a:r>
            <a:endParaRPr lang="en-US" sz="1800" dirty="0"/>
          </a:p>
        </p:txBody>
      </p:sp>
      <p:sp>
        <p:nvSpPr>
          <p:cNvPr id="16" name="Text 11"/>
          <p:cNvSpPr txBox="1"/>
          <p:nvPr/>
        </p:nvSpPr>
        <p:spPr>
          <a:xfrm>
            <a:off x="3685032" y="3264408"/>
            <a:ext cx="2057400" cy="868680"/>
          </a:xfrm>
          <a:prstGeom prst="rect">
            <a:avLst/>
          </a:prstGeom>
          <a:noFill/>
          <a:ln/>
        </p:spPr>
        <p:txBody>
          <a:bodyPr wrap="square" lIns="0" tIns="0" rIns="0" bIns="0" rtlCol="0" anchor="t"/>
          <a:lstStyle/>
          <a:p>
            <a:pPr indent="0" marL="0">
              <a:buNone/>
            </a:pPr>
            <a:r>
              <a:rPr lang="en-US" sz="1400" dirty="0">
                <a:solidFill>
                  <a:schemeClr val="bg2"/>
                </a:solidFill>
              </a:rPr>
              <a:t>Multimodal AI reads the image, voice and location.</a:t>
            </a:r>
            <a:endParaRPr lang="en-US" sz="1400" dirty="0"/>
          </a:p>
        </p:txBody>
      </p:sp>
      <p:pic>
        <p:nvPicPr>
          <p:cNvPr id="17" name="Arrow 2" descr="next">    </p:cNvPr>
          <p:cNvPicPr>
            <a:picLocks noChangeAspect="1"/>
          </p:cNvPicPr>
          <p:nvPr/>
        </p:nvPicPr>
        <p:blipFill>
          <a:blip r:embed="rId4"/>
          <a:stretch>
            <a:fillRect/>
          </a:stretch>
        </p:blipFill>
        <p:spPr>
          <a:xfrm>
            <a:off x="5961888" y="2807208"/>
            <a:ext cx="274320" cy="274320"/>
          </a:xfrm>
          <a:prstGeom prst="rect">
            <a:avLst/>
          </a:prstGeom>
        </p:spPr>
      </p:pic>
      <p:sp>
        <p:nvSpPr>
          <p:cNvPr id="18" name="Smart Advice card"/>
          <p:cNvSpPr/>
          <p:nvPr/>
        </p:nvSpPr>
        <p:spPr>
          <a:xfrm>
            <a:off x="6272784" y="1691640"/>
            <a:ext cx="2514600" cy="2514600"/>
          </a:xfrm>
          <a:prstGeom prst="roundRect">
            <a:avLst>
              <a:gd name="adj" fmla="val 4364"/>
            </a:avLst>
          </a:prstGeom>
          <a:solidFill>
            <a:schemeClr val="tx2">
              <a:alpha val="85000"/>
            </a:schemeClr>
          </a:solidFill>
          <a:ln w="9525">
            <a:solidFill>
              <a:schemeClr val="accent2">
                <a:alpha val="35000"/>
              </a:schemeClr>
            </a:solidFill>
            <a:prstDash val="solid"/>
          </a:ln>
        </p:spPr>
      </p:sp>
      <p:sp>
        <p:nvSpPr>
          <p:cNvPr id="19" name="Smart Advice circle"/>
          <p:cNvSpPr/>
          <p:nvPr/>
        </p:nvSpPr>
        <p:spPr>
          <a:xfrm>
            <a:off x="6547104" y="1965960"/>
            <a:ext cx="777240" cy="777240"/>
          </a:xfrm>
          <a:prstGeom prst="ellipse">
            <a:avLst/>
          </a:prstGeom>
          <a:solidFill>
            <a:schemeClr val="accent1"/>
          </a:solidFill>
          <a:ln/>
        </p:spPr>
      </p:sp>
      <p:pic>
        <p:nvPicPr>
          <p:cNvPr id="20" name="Smart Advice icon" descr="Smart Advice">    </p:cNvPr>
          <p:cNvPicPr>
            <a:picLocks noChangeAspect="1"/>
          </p:cNvPicPr>
          <p:nvPr/>
        </p:nvPicPr>
        <p:blipFill>
          <a:blip r:embed="rId5"/>
          <a:stretch>
            <a:fillRect/>
          </a:stretch>
        </p:blipFill>
        <p:spPr>
          <a:xfrm>
            <a:off x="6733642" y="2152498"/>
            <a:ext cx="404165" cy="404165"/>
          </a:xfrm>
          <a:prstGeom prst="rect">
            <a:avLst/>
          </a:prstGeom>
        </p:spPr>
      </p:pic>
      <p:sp>
        <p:nvSpPr>
          <p:cNvPr id="21" name="Text 14"/>
          <p:cNvSpPr txBox="1"/>
          <p:nvPr/>
        </p:nvSpPr>
        <p:spPr>
          <a:xfrm>
            <a:off x="7735824" y="1920240"/>
            <a:ext cx="868680" cy="548640"/>
          </a:xfrm>
          <a:prstGeom prst="rect">
            <a:avLst/>
          </a:prstGeom>
          <a:noFill/>
          <a:ln/>
        </p:spPr>
        <p:txBody>
          <a:bodyPr wrap="square" lIns="0" tIns="0" rIns="0" bIns="0" rtlCol="0" anchor="t"/>
          <a:lstStyle/>
          <a:p>
            <a:pPr algn="r" indent="0" marL="0">
              <a:buNone/>
            </a:pPr>
            <a:r>
              <a:rPr lang="en-US" sz="3000" b="1" dirty="0">
                <a:solidFill>
                  <a:schemeClr val="accent1">
                    <a:alpha val="70000"/>
                  </a:schemeClr>
                </a:solidFill>
                <a:latin typeface="+mj-lt" pitchFamily="34" charset="0"/>
                <a:ea typeface="+mj-lt" pitchFamily="34" charset="-122"/>
                <a:cs typeface="+mj-lt" pitchFamily="34" charset="-120"/>
              </a:rPr>
              <a:t>03</a:t>
            </a:r>
            <a:endParaRPr lang="en-US" sz="3000" dirty="0"/>
          </a:p>
        </p:txBody>
      </p:sp>
      <p:sp>
        <p:nvSpPr>
          <p:cNvPr id="22" name="Text 15"/>
          <p:cNvSpPr txBox="1"/>
          <p:nvPr/>
        </p:nvSpPr>
        <p:spPr>
          <a:xfrm>
            <a:off x="6547104" y="2880360"/>
            <a:ext cx="2057400" cy="365760"/>
          </a:xfrm>
          <a:prstGeom prst="rect">
            <a:avLst/>
          </a:prstGeom>
          <a:noFill/>
          <a:ln/>
        </p:spPr>
        <p:txBody>
          <a:bodyPr wrap="square" lIns="0" tIns="0" rIns="0" bIns="0" rtlCol="0" anchor="t"/>
          <a:lstStyle/>
          <a:p>
            <a:pPr indent="0" marL="0">
              <a:buNone/>
            </a:pPr>
            <a:r>
              <a:rPr lang="en-US" sz="1800" b="1" dirty="0">
                <a:solidFill>
                  <a:schemeClr val="bg1"/>
                </a:solidFill>
              </a:rPr>
              <a:t>Smart Advice</a:t>
            </a:r>
            <a:endParaRPr lang="en-US" sz="1800" dirty="0"/>
          </a:p>
        </p:txBody>
      </p:sp>
      <p:sp>
        <p:nvSpPr>
          <p:cNvPr id="23" name="Text 16"/>
          <p:cNvSpPr txBox="1"/>
          <p:nvPr/>
        </p:nvSpPr>
        <p:spPr>
          <a:xfrm>
            <a:off x="6547104" y="3264408"/>
            <a:ext cx="2057400" cy="868680"/>
          </a:xfrm>
          <a:prstGeom prst="rect">
            <a:avLst/>
          </a:prstGeom>
          <a:noFill/>
          <a:ln/>
        </p:spPr>
        <p:txBody>
          <a:bodyPr wrap="square" lIns="0" tIns="0" rIns="0" bIns="0" rtlCol="0" anchor="t"/>
          <a:lstStyle/>
          <a:p>
            <a:pPr indent="0" marL="0">
              <a:buNone/>
            </a:pPr>
            <a:r>
              <a:rPr lang="en-US" sz="1400" dirty="0">
                <a:solidFill>
                  <a:schemeClr val="bg2"/>
                </a:solidFill>
              </a:rPr>
              <a:t>Combines weather, soil and price data into one answer.</a:t>
            </a:r>
            <a:endParaRPr lang="en-US" sz="1400" dirty="0"/>
          </a:p>
        </p:txBody>
      </p:sp>
      <p:pic>
        <p:nvPicPr>
          <p:cNvPr id="24" name="Arrow 3" descr="next">    </p:cNvPr>
          <p:cNvPicPr>
            <a:picLocks noChangeAspect="1"/>
          </p:cNvPicPr>
          <p:nvPr/>
        </p:nvPicPr>
        <p:blipFill>
          <a:blip r:embed="rId6"/>
          <a:stretch>
            <a:fillRect/>
          </a:stretch>
        </p:blipFill>
        <p:spPr>
          <a:xfrm>
            <a:off x="8823960" y="2807208"/>
            <a:ext cx="274320" cy="274320"/>
          </a:xfrm>
          <a:prstGeom prst="rect">
            <a:avLst/>
          </a:prstGeom>
        </p:spPr>
      </p:pic>
      <p:sp>
        <p:nvSpPr>
          <p:cNvPr id="25" name="Farmer Gains card"/>
          <p:cNvSpPr/>
          <p:nvPr/>
        </p:nvSpPr>
        <p:spPr>
          <a:xfrm>
            <a:off x="9134856" y="1691640"/>
            <a:ext cx="2514600" cy="2514600"/>
          </a:xfrm>
          <a:prstGeom prst="roundRect">
            <a:avLst>
              <a:gd name="adj" fmla="val 4364"/>
            </a:avLst>
          </a:prstGeom>
          <a:solidFill>
            <a:schemeClr val="tx2">
              <a:alpha val="85000"/>
            </a:schemeClr>
          </a:solidFill>
          <a:ln w="9525">
            <a:solidFill>
              <a:schemeClr val="accent2">
                <a:alpha val="35000"/>
              </a:schemeClr>
            </a:solidFill>
            <a:prstDash val="solid"/>
          </a:ln>
        </p:spPr>
      </p:sp>
      <p:sp>
        <p:nvSpPr>
          <p:cNvPr id="26" name="Farmer Gains circle"/>
          <p:cNvSpPr/>
          <p:nvPr/>
        </p:nvSpPr>
        <p:spPr>
          <a:xfrm>
            <a:off x="9409176" y="1965960"/>
            <a:ext cx="777240" cy="777240"/>
          </a:xfrm>
          <a:prstGeom prst="ellipse">
            <a:avLst/>
          </a:prstGeom>
          <a:solidFill>
            <a:schemeClr val="accent1"/>
          </a:solidFill>
          <a:ln/>
        </p:spPr>
      </p:sp>
      <p:pic>
        <p:nvPicPr>
          <p:cNvPr id="27" name="Farmer Gains icon" descr="Farmer Gains">    </p:cNvPr>
          <p:cNvPicPr>
            <a:picLocks noChangeAspect="1"/>
          </p:cNvPicPr>
          <p:nvPr/>
        </p:nvPicPr>
        <p:blipFill>
          <a:blip r:embed="rId7"/>
          <a:stretch>
            <a:fillRect/>
          </a:stretch>
        </p:blipFill>
        <p:spPr>
          <a:xfrm>
            <a:off x="9595714" y="2152498"/>
            <a:ext cx="404165" cy="404165"/>
          </a:xfrm>
          <a:prstGeom prst="rect">
            <a:avLst/>
          </a:prstGeom>
        </p:spPr>
      </p:pic>
      <p:sp>
        <p:nvSpPr>
          <p:cNvPr id="28" name="Text 19"/>
          <p:cNvSpPr txBox="1"/>
          <p:nvPr/>
        </p:nvSpPr>
        <p:spPr>
          <a:xfrm>
            <a:off x="10597896" y="1920240"/>
            <a:ext cx="868680" cy="548640"/>
          </a:xfrm>
          <a:prstGeom prst="rect">
            <a:avLst/>
          </a:prstGeom>
          <a:noFill/>
          <a:ln/>
        </p:spPr>
        <p:txBody>
          <a:bodyPr wrap="square" lIns="0" tIns="0" rIns="0" bIns="0" rtlCol="0" anchor="t"/>
          <a:lstStyle/>
          <a:p>
            <a:pPr algn="r" indent="0" marL="0">
              <a:buNone/>
            </a:pPr>
            <a:r>
              <a:rPr lang="en-US" sz="3000" b="1" dirty="0">
                <a:solidFill>
                  <a:schemeClr val="accent1">
                    <a:alpha val="70000"/>
                  </a:schemeClr>
                </a:solidFill>
                <a:latin typeface="+mj-lt" pitchFamily="34" charset="0"/>
                <a:ea typeface="+mj-lt" pitchFamily="34" charset="-122"/>
                <a:cs typeface="+mj-lt" pitchFamily="34" charset="-120"/>
              </a:rPr>
              <a:t>04</a:t>
            </a:r>
            <a:endParaRPr lang="en-US" sz="3000" dirty="0"/>
          </a:p>
        </p:txBody>
      </p:sp>
      <p:sp>
        <p:nvSpPr>
          <p:cNvPr id="29" name="Text 20"/>
          <p:cNvSpPr txBox="1"/>
          <p:nvPr/>
        </p:nvSpPr>
        <p:spPr>
          <a:xfrm>
            <a:off x="9409176" y="2880360"/>
            <a:ext cx="2057400" cy="365760"/>
          </a:xfrm>
          <a:prstGeom prst="rect">
            <a:avLst/>
          </a:prstGeom>
          <a:noFill/>
          <a:ln/>
        </p:spPr>
        <p:txBody>
          <a:bodyPr wrap="square" lIns="0" tIns="0" rIns="0" bIns="0" rtlCol="0" anchor="t"/>
          <a:lstStyle/>
          <a:p>
            <a:pPr indent="0" marL="0">
              <a:buNone/>
            </a:pPr>
            <a:r>
              <a:rPr lang="en-US" sz="1800" b="1" dirty="0">
                <a:solidFill>
                  <a:schemeClr val="bg1"/>
                </a:solidFill>
              </a:rPr>
              <a:t>Farmer Gains</a:t>
            </a:r>
            <a:endParaRPr lang="en-US" sz="1800" dirty="0"/>
          </a:p>
        </p:txBody>
      </p:sp>
      <p:sp>
        <p:nvSpPr>
          <p:cNvPr id="30" name="Text 21"/>
          <p:cNvSpPr txBox="1"/>
          <p:nvPr/>
        </p:nvSpPr>
        <p:spPr>
          <a:xfrm>
            <a:off x="9409176" y="3264408"/>
            <a:ext cx="2057400" cy="868680"/>
          </a:xfrm>
          <a:prstGeom prst="rect">
            <a:avLst/>
          </a:prstGeom>
          <a:noFill/>
          <a:ln/>
        </p:spPr>
        <p:txBody>
          <a:bodyPr wrap="square" lIns="0" tIns="0" rIns="0" bIns="0" rtlCol="0" anchor="t"/>
          <a:lstStyle/>
          <a:p>
            <a:pPr indent="0" marL="0">
              <a:buNone/>
            </a:pPr>
            <a:r>
              <a:rPr lang="en-US" sz="1400" dirty="0">
                <a:solidFill>
                  <a:schemeClr val="bg2"/>
                </a:solidFill>
              </a:rPr>
              <a:t>Acts on time: saves the crop, the cost and the price.</a:t>
            </a:r>
            <a:endParaRPr lang="en-US" sz="1400" dirty="0"/>
          </a:p>
        </p:txBody>
      </p:sp>
      <p:sp>
        <p:nvSpPr>
          <p:cNvPr id="31" name="Example card"/>
          <p:cNvSpPr/>
          <p:nvPr/>
        </p:nvSpPr>
        <p:spPr>
          <a:xfrm>
            <a:off x="548640" y="4526280"/>
            <a:ext cx="11091672" cy="1554480"/>
          </a:xfrm>
          <a:prstGeom prst="roundRect">
            <a:avLst>
              <a:gd name="adj" fmla="val 7059"/>
            </a:avLst>
          </a:prstGeom>
          <a:solidFill>
            <a:schemeClr val="accent1">
              <a:alpha val="12000"/>
            </a:schemeClr>
          </a:solidFill>
          <a:ln w="9525">
            <a:solidFill>
              <a:schemeClr val="accent1">
                <a:alpha val="50000"/>
              </a:schemeClr>
            </a:solidFill>
            <a:prstDash val="solid"/>
          </a:ln>
        </p:spPr>
      </p:sp>
      <p:sp>
        <p:nvSpPr>
          <p:cNvPr id="32" name="Farmer example circle"/>
          <p:cNvSpPr/>
          <p:nvPr/>
        </p:nvSpPr>
        <p:spPr>
          <a:xfrm>
            <a:off x="822960" y="4846320"/>
            <a:ext cx="914400" cy="914400"/>
          </a:xfrm>
          <a:prstGeom prst="ellipse">
            <a:avLst/>
          </a:prstGeom>
          <a:solidFill>
            <a:schemeClr val="accent1"/>
          </a:solidFill>
          <a:ln/>
        </p:spPr>
      </p:sp>
      <p:pic>
        <p:nvPicPr>
          <p:cNvPr id="33" name="Farmer example icon" descr="Farmer example">    </p:cNvPr>
          <p:cNvPicPr>
            <a:picLocks noChangeAspect="1"/>
          </p:cNvPicPr>
          <p:nvPr/>
        </p:nvPicPr>
        <p:blipFill>
          <a:blip r:embed="rId8"/>
          <a:stretch>
            <a:fillRect/>
          </a:stretch>
        </p:blipFill>
        <p:spPr>
          <a:xfrm>
            <a:off x="1042416" y="5065776"/>
            <a:ext cx="475488" cy="475488"/>
          </a:xfrm>
          <a:prstGeom prst="rect">
            <a:avLst/>
          </a:prstGeom>
        </p:spPr>
      </p:pic>
      <p:sp>
        <p:nvSpPr>
          <p:cNvPr id="34" name="Text 24"/>
          <p:cNvSpPr txBox="1"/>
          <p:nvPr/>
        </p:nvSpPr>
        <p:spPr>
          <a:xfrm>
            <a:off x="2011680" y="4709160"/>
            <a:ext cx="54864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REAL-WORLD EXAMPLE</a:t>
            </a:r>
            <a:endParaRPr lang="en-US" sz="1200" dirty="0"/>
          </a:p>
        </p:txBody>
      </p:sp>
      <p:sp>
        <p:nvSpPr>
          <p:cNvPr id="35" name="Text 25"/>
          <p:cNvSpPr txBox="1"/>
          <p:nvPr/>
        </p:nvSpPr>
        <p:spPr>
          <a:xfrm>
            <a:off x="2011680" y="5029200"/>
            <a:ext cx="9418320" cy="960120"/>
          </a:xfrm>
          <a:prstGeom prst="rect">
            <a:avLst/>
          </a:prstGeom>
          <a:noFill/>
          <a:ln/>
        </p:spPr>
        <p:txBody>
          <a:bodyPr wrap="square" lIns="0" tIns="0" rIns="0" bIns="0" rtlCol="0" anchor="t"/>
          <a:lstStyle/>
          <a:p>
            <a:pPr indent="0" marL="0">
              <a:buNone/>
            </a:pPr>
            <a:r>
              <a:rPr lang="en-US" sz="1600" dirty="0">
                <a:solidFill>
                  <a:schemeClr val="bg2"/>
                </a:solidFill>
              </a:rPr>
              <a:t>Ramu sends a cotton leaf photo and asks in Marathi. </a:t>
            </a:r>
            <a:pPr indent="0" marL="0">
              <a:buNone/>
            </a:pPr>
            <a:r>
              <a:rPr lang="en-US" sz="1600" b="1" dirty="0">
                <a:solidFill>
                  <a:schemeClr val="bg1"/>
                </a:solidFill>
              </a:rPr>
              <a:t>KrishiMitra replies: “Bacterial blight detected (92% sure). Spray copper oxychloride 3 g/L this evening; no rain is expected for 48 hours.”</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07  ·  TECH ARCHITECTURE</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Built on Open Data and Multimodal AI</a:t>
            </a:r>
            <a:endParaRPr lang="en-US" sz="3600" dirty="0"/>
          </a:p>
        </p:txBody>
      </p:sp>
      <p:sp>
        <p:nvSpPr>
          <p:cNvPr id="4" name="Access Layer label"/>
          <p:cNvSpPr/>
          <p:nvPr/>
        </p:nvSpPr>
        <p:spPr>
          <a:xfrm>
            <a:off x="548640" y="1691640"/>
            <a:ext cx="2331720" cy="914400"/>
          </a:xfrm>
          <a:prstGeom prst="roundRect">
            <a:avLst>
              <a:gd name="adj" fmla="val 12000"/>
            </a:avLst>
          </a:prstGeom>
          <a:solidFill>
            <a:schemeClr val="accent1"/>
          </a:solidFill>
          <a:ln/>
        </p:spPr>
      </p:sp>
      <p:sp>
        <p:nvSpPr>
          <p:cNvPr id="5" name="Text 3"/>
          <p:cNvSpPr txBox="1"/>
          <p:nvPr/>
        </p:nvSpPr>
        <p:spPr>
          <a:xfrm>
            <a:off x="731520" y="1828800"/>
            <a:ext cx="2011680" cy="365760"/>
          </a:xfrm>
          <a:prstGeom prst="rect">
            <a:avLst/>
          </a:prstGeom>
          <a:noFill/>
          <a:ln/>
        </p:spPr>
        <p:txBody>
          <a:bodyPr wrap="square" lIns="0" tIns="0" rIns="0" bIns="0" rtlCol="0" anchor="t"/>
          <a:lstStyle/>
          <a:p>
            <a:pPr indent="0" marL="0">
              <a:buNone/>
            </a:pPr>
            <a:r>
              <a:rPr lang="en-US" sz="1700" b="1" dirty="0">
                <a:solidFill>
                  <a:schemeClr val="tx1"/>
                </a:solidFill>
              </a:rPr>
              <a:t>Access Layer</a:t>
            </a:r>
            <a:endParaRPr lang="en-US" sz="1700" dirty="0"/>
          </a:p>
        </p:txBody>
      </p:sp>
      <p:sp>
        <p:nvSpPr>
          <p:cNvPr id="6" name="Text 4"/>
          <p:cNvSpPr txBox="1"/>
          <p:nvPr/>
        </p:nvSpPr>
        <p:spPr>
          <a:xfrm>
            <a:off x="731520" y="2194560"/>
            <a:ext cx="2011680" cy="274320"/>
          </a:xfrm>
          <a:prstGeom prst="rect">
            <a:avLst/>
          </a:prstGeom>
          <a:noFill/>
          <a:ln/>
        </p:spPr>
        <p:txBody>
          <a:bodyPr wrap="square" lIns="0" tIns="0" rIns="0" bIns="0" rtlCol="0" anchor="t"/>
          <a:lstStyle/>
          <a:p>
            <a:pPr indent="0" marL="0">
              <a:buNone/>
            </a:pPr>
            <a:r>
              <a:rPr lang="en-US" sz="1200" dirty="0">
                <a:solidFill>
                  <a:schemeClr val="tx1"/>
                </a:solidFill>
              </a:rPr>
              <a:t>How farmers reach us</a:t>
            </a:r>
            <a:endParaRPr lang="en-US" sz="1200" dirty="0"/>
          </a:p>
        </p:txBody>
      </p:sp>
      <p:sp>
        <p:nvSpPr>
          <p:cNvPr id="7" name="Android App"/>
          <p:cNvSpPr/>
          <p:nvPr/>
        </p:nvSpPr>
        <p:spPr>
          <a:xfrm>
            <a:off x="3063240" y="1691640"/>
            <a:ext cx="2011680" cy="914400"/>
          </a:xfrm>
          <a:prstGeom prst="roundRect">
            <a:avLst>
              <a:gd name="adj" fmla="val 12000"/>
            </a:avLst>
          </a:prstGeom>
          <a:solidFill>
            <a:schemeClr val="tx2">
              <a:alpha val="85000"/>
            </a:schemeClr>
          </a:solidFill>
          <a:ln w="12700">
            <a:solidFill>
              <a:schemeClr val="accent1">
                <a:alpha val="70000"/>
              </a:schemeClr>
            </a:solidFill>
            <a:prstDash val="solid"/>
          </a:ln>
        </p:spPr>
      </p:sp>
      <p:sp>
        <p:nvSpPr>
          <p:cNvPr id="8" name="Text 6"/>
          <p:cNvSpPr txBox="1"/>
          <p:nvPr/>
        </p:nvSpPr>
        <p:spPr>
          <a:xfrm>
            <a:off x="3154680" y="1691640"/>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Android App</a:t>
            </a:r>
            <a:endParaRPr lang="en-US" sz="1400" dirty="0"/>
          </a:p>
        </p:txBody>
      </p:sp>
      <p:sp>
        <p:nvSpPr>
          <p:cNvPr id="9" name="WhatsApp Bot"/>
          <p:cNvSpPr/>
          <p:nvPr/>
        </p:nvSpPr>
        <p:spPr>
          <a:xfrm>
            <a:off x="5257800" y="1691640"/>
            <a:ext cx="2011680" cy="914400"/>
          </a:xfrm>
          <a:prstGeom prst="roundRect">
            <a:avLst>
              <a:gd name="adj" fmla="val 12000"/>
            </a:avLst>
          </a:prstGeom>
          <a:solidFill>
            <a:schemeClr val="tx2">
              <a:alpha val="85000"/>
            </a:schemeClr>
          </a:solidFill>
          <a:ln w="12700">
            <a:solidFill>
              <a:schemeClr val="accent1">
                <a:alpha val="70000"/>
              </a:schemeClr>
            </a:solidFill>
            <a:prstDash val="solid"/>
          </a:ln>
        </p:spPr>
      </p:sp>
      <p:sp>
        <p:nvSpPr>
          <p:cNvPr id="10" name="Text 8"/>
          <p:cNvSpPr txBox="1"/>
          <p:nvPr/>
        </p:nvSpPr>
        <p:spPr>
          <a:xfrm>
            <a:off x="5349240" y="1691640"/>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WhatsApp Bot</a:t>
            </a:r>
            <a:endParaRPr lang="en-US" sz="1400" dirty="0"/>
          </a:p>
        </p:txBody>
      </p:sp>
      <p:sp>
        <p:nvSpPr>
          <p:cNvPr id="11" name="IVR Voice Call"/>
          <p:cNvSpPr/>
          <p:nvPr/>
        </p:nvSpPr>
        <p:spPr>
          <a:xfrm>
            <a:off x="7452360" y="1691640"/>
            <a:ext cx="2011680" cy="914400"/>
          </a:xfrm>
          <a:prstGeom prst="roundRect">
            <a:avLst>
              <a:gd name="adj" fmla="val 12000"/>
            </a:avLst>
          </a:prstGeom>
          <a:solidFill>
            <a:schemeClr val="tx2">
              <a:alpha val="85000"/>
            </a:schemeClr>
          </a:solidFill>
          <a:ln w="12700">
            <a:solidFill>
              <a:schemeClr val="accent1">
                <a:alpha val="70000"/>
              </a:schemeClr>
            </a:solidFill>
            <a:prstDash val="solid"/>
          </a:ln>
        </p:spPr>
      </p:sp>
      <p:sp>
        <p:nvSpPr>
          <p:cNvPr id="12" name="Text 10"/>
          <p:cNvSpPr txBox="1"/>
          <p:nvPr/>
        </p:nvSpPr>
        <p:spPr>
          <a:xfrm>
            <a:off x="7543800" y="1691640"/>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IVR Voice Call</a:t>
            </a:r>
            <a:endParaRPr lang="en-US" sz="1400" dirty="0"/>
          </a:p>
        </p:txBody>
      </p:sp>
      <p:sp>
        <p:nvSpPr>
          <p:cNvPr id="13" name="SMS Alerts"/>
          <p:cNvSpPr/>
          <p:nvPr/>
        </p:nvSpPr>
        <p:spPr>
          <a:xfrm>
            <a:off x="9646920" y="1691640"/>
            <a:ext cx="2011680" cy="914400"/>
          </a:xfrm>
          <a:prstGeom prst="roundRect">
            <a:avLst>
              <a:gd name="adj" fmla="val 12000"/>
            </a:avLst>
          </a:prstGeom>
          <a:solidFill>
            <a:schemeClr val="tx2">
              <a:alpha val="85000"/>
            </a:schemeClr>
          </a:solidFill>
          <a:ln w="12700">
            <a:solidFill>
              <a:schemeClr val="accent1">
                <a:alpha val="70000"/>
              </a:schemeClr>
            </a:solidFill>
            <a:prstDash val="solid"/>
          </a:ln>
        </p:spPr>
      </p:sp>
      <p:sp>
        <p:nvSpPr>
          <p:cNvPr id="14" name="Text 12"/>
          <p:cNvSpPr txBox="1"/>
          <p:nvPr/>
        </p:nvSpPr>
        <p:spPr>
          <a:xfrm>
            <a:off x="9738360" y="1691640"/>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SMS Alerts</a:t>
            </a:r>
            <a:endParaRPr lang="en-US" sz="1400" dirty="0"/>
          </a:p>
        </p:txBody>
      </p:sp>
      <p:sp>
        <p:nvSpPr>
          <p:cNvPr id="15" name="AI Engine label"/>
          <p:cNvSpPr/>
          <p:nvPr/>
        </p:nvSpPr>
        <p:spPr>
          <a:xfrm>
            <a:off x="548640" y="2807208"/>
            <a:ext cx="2331720" cy="914400"/>
          </a:xfrm>
          <a:prstGeom prst="roundRect">
            <a:avLst>
              <a:gd name="adj" fmla="val 12000"/>
            </a:avLst>
          </a:prstGeom>
          <a:solidFill>
            <a:schemeClr val="accent2"/>
          </a:solidFill>
          <a:ln/>
        </p:spPr>
      </p:sp>
      <p:sp>
        <p:nvSpPr>
          <p:cNvPr id="16" name="Text 14"/>
          <p:cNvSpPr txBox="1"/>
          <p:nvPr/>
        </p:nvSpPr>
        <p:spPr>
          <a:xfrm>
            <a:off x="731520" y="2944368"/>
            <a:ext cx="2011680" cy="365760"/>
          </a:xfrm>
          <a:prstGeom prst="rect">
            <a:avLst/>
          </a:prstGeom>
          <a:noFill/>
          <a:ln/>
        </p:spPr>
        <p:txBody>
          <a:bodyPr wrap="square" lIns="0" tIns="0" rIns="0" bIns="0" rtlCol="0" anchor="t"/>
          <a:lstStyle/>
          <a:p>
            <a:pPr indent="0" marL="0">
              <a:buNone/>
            </a:pPr>
            <a:r>
              <a:rPr lang="en-US" sz="1700" b="1" dirty="0">
                <a:solidFill>
                  <a:schemeClr val="tx1"/>
                </a:solidFill>
              </a:rPr>
              <a:t>AI Engine</a:t>
            </a:r>
            <a:endParaRPr lang="en-US" sz="1700" dirty="0"/>
          </a:p>
        </p:txBody>
      </p:sp>
      <p:sp>
        <p:nvSpPr>
          <p:cNvPr id="17" name="Text 15"/>
          <p:cNvSpPr txBox="1"/>
          <p:nvPr/>
        </p:nvSpPr>
        <p:spPr>
          <a:xfrm>
            <a:off x="731520" y="3310128"/>
            <a:ext cx="2011680" cy="274320"/>
          </a:xfrm>
          <a:prstGeom prst="rect">
            <a:avLst/>
          </a:prstGeom>
          <a:noFill/>
          <a:ln/>
        </p:spPr>
        <p:txBody>
          <a:bodyPr wrap="square" lIns="0" tIns="0" rIns="0" bIns="0" rtlCol="0" anchor="t"/>
          <a:lstStyle/>
          <a:p>
            <a:pPr indent="0" marL="0">
              <a:buNone/>
            </a:pPr>
            <a:r>
              <a:rPr lang="en-US" sz="1200" dirty="0">
                <a:solidFill>
                  <a:schemeClr val="tx1"/>
                </a:solidFill>
              </a:rPr>
              <a:t>The brain</a:t>
            </a:r>
            <a:endParaRPr lang="en-US" sz="1200" dirty="0"/>
          </a:p>
        </p:txBody>
      </p:sp>
      <p:sp>
        <p:nvSpPr>
          <p:cNvPr id="18" name="Gemini Multimodal LLM"/>
          <p:cNvSpPr/>
          <p:nvPr/>
        </p:nvSpPr>
        <p:spPr>
          <a:xfrm>
            <a:off x="3063240" y="2807208"/>
            <a:ext cx="2011680" cy="914400"/>
          </a:xfrm>
          <a:prstGeom prst="roundRect">
            <a:avLst>
              <a:gd name="adj" fmla="val 12000"/>
            </a:avLst>
          </a:prstGeom>
          <a:solidFill>
            <a:schemeClr val="tx2">
              <a:alpha val="85000"/>
            </a:schemeClr>
          </a:solidFill>
          <a:ln w="12700">
            <a:solidFill>
              <a:schemeClr val="accent2">
                <a:alpha val="70000"/>
              </a:schemeClr>
            </a:solidFill>
            <a:prstDash val="solid"/>
          </a:ln>
        </p:spPr>
      </p:sp>
      <p:sp>
        <p:nvSpPr>
          <p:cNvPr id="19" name="Text 17"/>
          <p:cNvSpPr txBox="1"/>
          <p:nvPr/>
        </p:nvSpPr>
        <p:spPr>
          <a:xfrm>
            <a:off x="3154680" y="2807208"/>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Gemini Multimodal LLM</a:t>
            </a:r>
            <a:endParaRPr lang="en-US" sz="1400" dirty="0"/>
          </a:p>
        </p:txBody>
      </p:sp>
      <p:sp>
        <p:nvSpPr>
          <p:cNvPr id="20" name="Crop Disease Vision Model"/>
          <p:cNvSpPr/>
          <p:nvPr/>
        </p:nvSpPr>
        <p:spPr>
          <a:xfrm>
            <a:off x="5257800" y="2807208"/>
            <a:ext cx="2011680" cy="914400"/>
          </a:xfrm>
          <a:prstGeom prst="roundRect">
            <a:avLst>
              <a:gd name="adj" fmla="val 12000"/>
            </a:avLst>
          </a:prstGeom>
          <a:solidFill>
            <a:schemeClr val="tx2">
              <a:alpha val="85000"/>
            </a:schemeClr>
          </a:solidFill>
          <a:ln w="12700">
            <a:solidFill>
              <a:schemeClr val="accent2">
                <a:alpha val="70000"/>
              </a:schemeClr>
            </a:solidFill>
            <a:prstDash val="solid"/>
          </a:ln>
        </p:spPr>
      </p:sp>
      <p:sp>
        <p:nvSpPr>
          <p:cNvPr id="21" name="Text 19"/>
          <p:cNvSpPr txBox="1"/>
          <p:nvPr/>
        </p:nvSpPr>
        <p:spPr>
          <a:xfrm>
            <a:off x="5349240" y="2807208"/>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Crop Disease Vision Model</a:t>
            </a:r>
            <a:endParaRPr lang="en-US" sz="1400" dirty="0"/>
          </a:p>
        </p:txBody>
      </p:sp>
      <p:sp>
        <p:nvSpPr>
          <p:cNvPr id="22" name="Indic Speech-to-Text &amp; TTS"/>
          <p:cNvSpPr/>
          <p:nvPr/>
        </p:nvSpPr>
        <p:spPr>
          <a:xfrm>
            <a:off x="7452360" y="2807208"/>
            <a:ext cx="2011680" cy="914400"/>
          </a:xfrm>
          <a:prstGeom prst="roundRect">
            <a:avLst>
              <a:gd name="adj" fmla="val 12000"/>
            </a:avLst>
          </a:prstGeom>
          <a:solidFill>
            <a:schemeClr val="tx2">
              <a:alpha val="85000"/>
            </a:schemeClr>
          </a:solidFill>
          <a:ln w="12700">
            <a:solidFill>
              <a:schemeClr val="accent2">
                <a:alpha val="70000"/>
              </a:schemeClr>
            </a:solidFill>
            <a:prstDash val="solid"/>
          </a:ln>
        </p:spPr>
      </p:sp>
      <p:sp>
        <p:nvSpPr>
          <p:cNvPr id="23" name="Text 21"/>
          <p:cNvSpPr txBox="1"/>
          <p:nvPr/>
        </p:nvSpPr>
        <p:spPr>
          <a:xfrm>
            <a:off x="7543800" y="2807208"/>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Indic Speech-to-Text &amp; TTS</a:t>
            </a:r>
            <a:endParaRPr lang="en-US" sz="1400" dirty="0"/>
          </a:p>
        </p:txBody>
      </p:sp>
      <p:sp>
        <p:nvSpPr>
          <p:cNvPr id="24" name="Recommendation Engine"/>
          <p:cNvSpPr/>
          <p:nvPr/>
        </p:nvSpPr>
        <p:spPr>
          <a:xfrm>
            <a:off x="9646920" y="2807208"/>
            <a:ext cx="2011680" cy="914400"/>
          </a:xfrm>
          <a:prstGeom prst="roundRect">
            <a:avLst>
              <a:gd name="adj" fmla="val 12000"/>
            </a:avLst>
          </a:prstGeom>
          <a:solidFill>
            <a:schemeClr val="tx2">
              <a:alpha val="85000"/>
            </a:schemeClr>
          </a:solidFill>
          <a:ln w="12700">
            <a:solidFill>
              <a:schemeClr val="accent2">
                <a:alpha val="70000"/>
              </a:schemeClr>
            </a:solidFill>
            <a:prstDash val="solid"/>
          </a:ln>
        </p:spPr>
      </p:sp>
      <p:sp>
        <p:nvSpPr>
          <p:cNvPr id="25" name="Text 23"/>
          <p:cNvSpPr txBox="1"/>
          <p:nvPr/>
        </p:nvSpPr>
        <p:spPr>
          <a:xfrm>
            <a:off x="9738360" y="2807208"/>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Recommendation Engine</a:t>
            </a:r>
            <a:endParaRPr lang="en-US" sz="1400" dirty="0"/>
          </a:p>
        </p:txBody>
      </p:sp>
      <p:sp>
        <p:nvSpPr>
          <p:cNvPr id="26" name="Data Layer label"/>
          <p:cNvSpPr/>
          <p:nvPr/>
        </p:nvSpPr>
        <p:spPr>
          <a:xfrm>
            <a:off x="548640" y="3922776"/>
            <a:ext cx="2331720" cy="914400"/>
          </a:xfrm>
          <a:prstGeom prst="roundRect">
            <a:avLst>
              <a:gd name="adj" fmla="val 12000"/>
            </a:avLst>
          </a:prstGeom>
          <a:solidFill>
            <a:schemeClr val="accent5"/>
          </a:solidFill>
          <a:ln/>
        </p:spPr>
      </p:sp>
      <p:sp>
        <p:nvSpPr>
          <p:cNvPr id="27" name="Text 25"/>
          <p:cNvSpPr txBox="1"/>
          <p:nvPr/>
        </p:nvSpPr>
        <p:spPr>
          <a:xfrm>
            <a:off x="731520" y="4059936"/>
            <a:ext cx="2011680" cy="365760"/>
          </a:xfrm>
          <a:prstGeom prst="rect">
            <a:avLst/>
          </a:prstGeom>
          <a:noFill/>
          <a:ln/>
        </p:spPr>
        <p:txBody>
          <a:bodyPr wrap="square" lIns="0" tIns="0" rIns="0" bIns="0" rtlCol="0" anchor="t"/>
          <a:lstStyle/>
          <a:p>
            <a:pPr indent="0" marL="0">
              <a:buNone/>
            </a:pPr>
            <a:r>
              <a:rPr lang="en-US" sz="1700" b="1" dirty="0">
                <a:solidFill>
                  <a:schemeClr val="tx1"/>
                </a:solidFill>
              </a:rPr>
              <a:t>Data Layer</a:t>
            </a:r>
            <a:endParaRPr lang="en-US" sz="1700" dirty="0"/>
          </a:p>
        </p:txBody>
      </p:sp>
      <p:sp>
        <p:nvSpPr>
          <p:cNvPr id="28" name="Text 26"/>
          <p:cNvSpPr txBox="1"/>
          <p:nvPr/>
        </p:nvSpPr>
        <p:spPr>
          <a:xfrm>
            <a:off x="731520" y="4425696"/>
            <a:ext cx="2011680" cy="274320"/>
          </a:xfrm>
          <a:prstGeom prst="rect">
            <a:avLst/>
          </a:prstGeom>
          <a:noFill/>
          <a:ln/>
        </p:spPr>
        <p:txBody>
          <a:bodyPr wrap="square" lIns="0" tIns="0" rIns="0" bIns="0" rtlCol="0" anchor="t"/>
          <a:lstStyle/>
          <a:p>
            <a:pPr indent="0" marL="0">
              <a:buNone/>
            </a:pPr>
            <a:r>
              <a:rPr lang="en-US" sz="1200" dirty="0">
                <a:solidFill>
                  <a:schemeClr val="tx1"/>
                </a:solidFill>
              </a:rPr>
              <a:t>Trusted public sources</a:t>
            </a:r>
            <a:endParaRPr lang="en-US" sz="1200" dirty="0"/>
          </a:p>
        </p:txBody>
      </p:sp>
      <p:sp>
        <p:nvSpPr>
          <p:cNvPr id="29" name="IMD Weather"/>
          <p:cNvSpPr/>
          <p:nvPr/>
        </p:nvSpPr>
        <p:spPr>
          <a:xfrm>
            <a:off x="3063240" y="3922776"/>
            <a:ext cx="2011680" cy="914400"/>
          </a:xfrm>
          <a:prstGeom prst="roundRect">
            <a:avLst>
              <a:gd name="adj" fmla="val 12000"/>
            </a:avLst>
          </a:prstGeom>
          <a:solidFill>
            <a:schemeClr val="tx2">
              <a:alpha val="85000"/>
            </a:schemeClr>
          </a:solidFill>
          <a:ln w="12700">
            <a:solidFill>
              <a:schemeClr val="accent5">
                <a:alpha val="70000"/>
              </a:schemeClr>
            </a:solidFill>
            <a:prstDash val="solid"/>
          </a:ln>
        </p:spPr>
      </p:sp>
      <p:sp>
        <p:nvSpPr>
          <p:cNvPr id="30" name="Text 28"/>
          <p:cNvSpPr txBox="1"/>
          <p:nvPr/>
        </p:nvSpPr>
        <p:spPr>
          <a:xfrm>
            <a:off x="3154680" y="3922776"/>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IMD Weather</a:t>
            </a:r>
            <a:endParaRPr lang="en-US" sz="1400" dirty="0"/>
          </a:p>
        </p:txBody>
      </p:sp>
      <p:sp>
        <p:nvSpPr>
          <p:cNvPr id="31" name="Agmarknet Mandi Prices"/>
          <p:cNvSpPr/>
          <p:nvPr/>
        </p:nvSpPr>
        <p:spPr>
          <a:xfrm>
            <a:off x="5257800" y="3922776"/>
            <a:ext cx="2011680" cy="914400"/>
          </a:xfrm>
          <a:prstGeom prst="roundRect">
            <a:avLst>
              <a:gd name="adj" fmla="val 12000"/>
            </a:avLst>
          </a:prstGeom>
          <a:solidFill>
            <a:schemeClr val="tx2">
              <a:alpha val="85000"/>
            </a:schemeClr>
          </a:solidFill>
          <a:ln w="12700">
            <a:solidFill>
              <a:schemeClr val="accent5">
                <a:alpha val="70000"/>
              </a:schemeClr>
            </a:solidFill>
            <a:prstDash val="solid"/>
          </a:ln>
        </p:spPr>
      </p:sp>
      <p:sp>
        <p:nvSpPr>
          <p:cNvPr id="32" name="Text 30"/>
          <p:cNvSpPr txBox="1"/>
          <p:nvPr/>
        </p:nvSpPr>
        <p:spPr>
          <a:xfrm>
            <a:off x="5349240" y="3922776"/>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Agmarknet Mandi Prices</a:t>
            </a:r>
            <a:endParaRPr lang="en-US" sz="1400" dirty="0"/>
          </a:p>
        </p:txBody>
      </p:sp>
      <p:sp>
        <p:nvSpPr>
          <p:cNvPr id="33" name="Soil Health Card"/>
          <p:cNvSpPr/>
          <p:nvPr/>
        </p:nvSpPr>
        <p:spPr>
          <a:xfrm>
            <a:off x="7452360" y="3922776"/>
            <a:ext cx="2011680" cy="914400"/>
          </a:xfrm>
          <a:prstGeom prst="roundRect">
            <a:avLst>
              <a:gd name="adj" fmla="val 12000"/>
            </a:avLst>
          </a:prstGeom>
          <a:solidFill>
            <a:schemeClr val="tx2">
              <a:alpha val="85000"/>
            </a:schemeClr>
          </a:solidFill>
          <a:ln w="12700">
            <a:solidFill>
              <a:schemeClr val="accent5">
                <a:alpha val="70000"/>
              </a:schemeClr>
            </a:solidFill>
            <a:prstDash val="solid"/>
          </a:ln>
        </p:spPr>
      </p:sp>
      <p:sp>
        <p:nvSpPr>
          <p:cNvPr id="34" name="Text 32"/>
          <p:cNvSpPr txBox="1"/>
          <p:nvPr/>
        </p:nvSpPr>
        <p:spPr>
          <a:xfrm>
            <a:off x="7543800" y="3922776"/>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Soil Health Card</a:t>
            </a:r>
            <a:endParaRPr lang="en-US" sz="1400" dirty="0"/>
          </a:p>
        </p:txBody>
      </p:sp>
      <p:sp>
        <p:nvSpPr>
          <p:cNvPr id="35" name="Govt Schemes DB"/>
          <p:cNvSpPr/>
          <p:nvPr/>
        </p:nvSpPr>
        <p:spPr>
          <a:xfrm>
            <a:off x="9646920" y="3922776"/>
            <a:ext cx="2011680" cy="914400"/>
          </a:xfrm>
          <a:prstGeom prst="roundRect">
            <a:avLst>
              <a:gd name="adj" fmla="val 12000"/>
            </a:avLst>
          </a:prstGeom>
          <a:solidFill>
            <a:schemeClr val="tx2">
              <a:alpha val="85000"/>
            </a:schemeClr>
          </a:solidFill>
          <a:ln w="12700">
            <a:solidFill>
              <a:schemeClr val="accent5">
                <a:alpha val="70000"/>
              </a:schemeClr>
            </a:solidFill>
            <a:prstDash val="solid"/>
          </a:ln>
        </p:spPr>
      </p:sp>
      <p:sp>
        <p:nvSpPr>
          <p:cNvPr id="36" name="Text 34"/>
          <p:cNvSpPr txBox="1"/>
          <p:nvPr/>
        </p:nvSpPr>
        <p:spPr>
          <a:xfrm>
            <a:off x="9738360" y="3922776"/>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Govt Schemes DB</a:t>
            </a:r>
            <a:endParaRPr lang="en-US" sz="1400" dirty="0"/>
          </a:p>
        </p:txBody>
      </p:sp>
      <p:sp>
        <p:nvSpPr>
          <p:cNvPr id="37" name="Cloud &amp; Ops label"/>
          <p:cNvSpPr/>
          <p:nvPr/>
        </p:nvSpPr>
        <p:spPr>
          <a:xfrm>
            <a:off x="548640" y="5038344"/>
            <a:ext cx="2331720" cy="914400"/>
          </a:xfrm>
          <a:prstGeom prst="roundRect">
            <a:avLst>
              <a:gd name="adj" fmla="val 12000"/>
            </a:avLst>
          </a:prstGeom>
          <a:solidFill>
            <a:schemeClr val="accent6"/>
          </a:solidFill>
          <a:ln/>
        </p:spPr>
      </p:sp>
      <p:sp>
        <p:nvSpPr>
          <p:cNvPr id="38" name="Text 36"/>
          <p:cNvSpPr txBox="1"/>
          <p:nvPr/>
        </p:nvSpPr>
        <p:spPr>
          <a:xfrm>
            <a:off x="731520" y="5175504"/>
            <a:ext cx="2011680" cy="365760"/>
          </a:xfrm>
          <a:prstGeom prst="rect">
            <a:avLst/>
          </a:prstGeom>
          <a:noFill/>
          <a:ln/>
        </p:spPr>
        <p:txBody>
          <a:bodyPr wrap="square" lIns="0" tIns="0" rIns="0" bIns="0" rtlCol="0" anchor="t"/>
          <a:lstStyle/>
          <a:p>
            <a:pPr indent="0" marL="0">
              <a:buNone/>
            </a:pPr>
            <a:r>
              <a:rPr lang="en-US" sz="1700" b="1" dirty="0">
                <a:solidFill>
                  <a:schemeClr val="tx1"/>
                </a:solidFill>
              </a:rPr>
              <a:t>Cloud &amp; Ops</a:t>
            </a:r>
            <a:endParaRPr lang="en-US" sz="1700" dirty="0"/>
          </a:p>
        </p:txBody>
      </p:sp>
      <p:sp>
        <p:nvSpPr>
          <p:cNvPr id="39" name="Text 37"/>
          <p:cNvSpPr txBox="1"/>
          <p:nvPr/>
        </p:nvSpPr>
        <p:spPr>
          <a:xfrm>
            <a:off x="731520" y="5541264"/>
            <a:ext cx="2011680" cy="274320"/>
          </a:xfrm>
          <a:prstGeom prst="rect">
            <a:avLst/>
          </a:prstGeom>
          <a:noFill/>
          <a:ln/>
        </p:spPr>
        <p:txBody>
          <a:bodyPr wrap="square" lIns="0" tIns="0" rIns="0" bIns="0" rtlCol="0" anchor="t"/>
          <a:lstStyle/>
          <a:p>
            <a:pPr indent="0" marL="0">
              <a:buNone/>
            </a:pPr>
            <a:r>
              <a:rPr lang="en-US" sz="1200" dirty="0">
                <a:solidFill>
                  <a:schemeClr val="tx1"/>
                </a:solidFill>
              </a:rPr>
              <a:t>Scale &amp; insights</a:t>
            </a:r>
            <a:endParaRPr lang="en-US" sz="1200" dirty="0"/>
          </a:p>
        </p:txBody>
      </p:sp>
      <p:sp>
        <p:nvSpPr>
          <p:cNvPr id="40" name="Cloud Run + Firebase"/>
          <p:cNvSpPr/>
          <p:nvPr/>
        </p:nvSpPr>
        <p:spPr>
          <a:xfrm>
            <a:off x="3063240" y="5038344"/>
            <a:ext cx="2011680" cy="914400"/>
          </a:xfrm>
          <a:prstGeom prst="roundRect">
            <a:avLst>
              <a:gd name="adj" fmla="val 12000"/>
            </a:avLst>
          </a:prstGeom>
          <a:solidFill>
            <a:schemeClr val="tx2">
              <a:alpha val="85000"/>
            </a:schemeClr>
          </a:solidFill>
          <a:ln w="12700">
            <a:solidFill>
              <a:schemeClr val="accent6">
                <a:alpha val="70000"/>
              </a:schemeClr>
            </a:solidFill>
            <a:prstDash val="solid"/>
          </a:ln>
        </p:spPr>
      </p:sp>
      <p:sp>
        <p:nvSpPr>
          <p:cNvPr id="41" name="Text 39"/>
          <p:cNvSpPr txBox="1"/>
          <p:nvPr/>
        </p:nvSpPr>
        <p:spPr>
          <a:xfrm>
            <a:off x="3154680" y="5038344"/>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Cloud Run + Firebase</a:t>
            </a:r>
            <a:endParaRPr lang="en-US" sz="1400" dirty="0"/>
          </a:p>
        </p:txBody>
      </p:sp>
      <p:sp>
        <p:nvSpPr>
          <p:cNvPr id="42" name="Vector DB (Agri Knowledge)"/>
          <p:cNvSpPr/>
          <p:nvPr/>
        </p:nvSpPr>
        <p:spPr>
          <a:xfrm>
            <a:off x="5257800" y="5038344"/>
            <a:ext cx="2011680" cy="914400"/>
          </a:xfrm>
          <a:prstGeom prst="roundRect">
            <a:avLst>
              <a:gd name="adj" fmla="val 12000"/>
            </a:avLst>
          </a:prstGeom>
          <a:solidFill>
            <a:schemeClr val="tx2">
              <a:alpha val="85000"/>
            </a:schemeClr>
          </a:solidFill>
          <a:ln w="12700">
            <a:solidFill>
              <a:schemeClr val="accent6">
                <a:alpha val="70000"/>
              </a:schemeClr>
            </a:solidFill>
            <a:prstDash val="solid"/>
          </a:ln>
        </p:spPr>
      </p:sp>
      <p:sp>
        <p:nvSpPr>
          <p:cNvPr id="43" name="Text 41"/>
          <p:cNvSpPr txBox="1"/>
          <p:nvPr/>
        </p:nvSpPr>
        <p:spPr>
          <a:xfrm>
            <a:off x="5349240" y="5038344"/>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Vector DB (Agri Knowledge)</a:t>
            </a:r>
            <a:endParaRPr lang="en-US" sz="1400" dirty="0"/>
          </a:p>
        </p:txBody>
      </p:sp>
      <p:sp>
        <p:nvSpPr>
          <p:cNvPr id="44" name="FPO Analytics Dashboard"/>
          <p:cNvSpPr/>
          <p:nvPr/>
        </p:nvSpPr>
        <p:spPr>
          <a:xfrm>
            <a:off x="7452360" y="5038344"/>
            <a:ext cx="2011680" cy="914400"/>
          </a:xfrm>
          <a:prstGeom prst="roundRect">
            <a:avLst>
              <a:gd name="adj" fmla="val 12000"/>
            </a:avLst>
          </a:prstGeom>
          <a:solidFill>
            <a:schemeClr val="tx2">
              <a:alpha val="85000"/>
            </a:schemeClr>
          </a:solidFill>
          <a:ln w="12700">
            <a:solidFill>
              <a:schemeClr val="accent6">
                <a:alpha val="70000"/>
              </a:schemeClr>
            </a:solidFill>
            <a:prstDash val="solid"/>
          </a:ln>
        </p:spPr>
      </p:sp>
      <p:sp>
        <p:nvSpPr>
          <p:cNvPr id="45" name="Text 43"/>
          <p:cNvSpPr txBox="1"/>
          <p:nvPr/>
        </p:nvSpPr>
        <p:spPr>
          <a:xfrm>
            <a:off x="7543800" y="5038344"/>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FPO Analytics Dashboard</a:t>
            </a:r>
            <a:endParaRPr lang="en-US" sz="1400" dirty="0"/>
          </a:p>
        </p:txBody>
      </p:sp>
      <p:sp>
        <p:nvSpPr>
          <p:cNvPr id="46" name="Privacy &amp; Consent Layer"/>
          <p:cNvSpPr/>
          <p:nvPr/>
        </p:nvSpPr>
        <p:spPr>
          <a:xfrm>
            <a:off x="9646920" y="5038344"/>
            <a:ext cx="2011680" cy="914400"/>
          </a:xfrm>
          <a:prstGeom prst="roundRect">
            <a:avLst>
              <a:gd name="adj" fmla="val 12000"/>
            </a:avLst>
          </a:prstGeom>
          <a:solidFill>
            <a:schemeClr val="tx2">
              <a:alpha val="85000"/>
            </a:schemeClr>
          </a:solidFill>
          <a:ln w="12700">
            <a:solidFill>
              <a:schemeClr val="accent6">
                <a:alpha val="70000"/>
              </a:schemeClr>
            </a:solidFill>
            <a:prstDash val="solid"/>
          </a:ln>
        </p:spPr>
      </p:sp>
      <p:sp>
        <p:nvSpPr>
          <p:cNvPr id="47" name="Text 45"/>
          <p:cNvSpPr txBox="1"/>
          <p:nvPr/>
        </p:nvSpPr>
        <p:spPr>
          <a:xfrm>
            <a:off x="9738360" y="5038344"/>
            <a:ext cx="1828800" cy="914400"/>
          </a:xfrm>
          <a:prstGeom prst="rect">
            <a:avLst/>
          </a:prstGeom>
          <a:noFill/>
          <a:ln/>
        </p:spPr>
        <p:txBody>
          <a:bodyPr wrap="square" lIns="0" tIns="0" rIns="0" bIns="0" rtlCol="0" anchor="ctr"/>
          <a:lstStyle/>
          <a:p>
            <a:pPr algn="ctr" indent="0" marL="0">
              <a:buNone/>
            </a:pPr>
            <a:r>
              <a:rPr lang="en-US" sz="1400" dirty="0">
                <a:solidFill>
                  <a:schemeClr val="bg1"/>
                </a:solidFill>
              </a:rPr>
              <a:t>Privacy &amp; Consent Layer</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08  ·  APP WALKTHROUGH</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Simple Enough for Every Farmer</a:t>
            </a:r>
            <a:endParaRPr lang="en-US" sz="3600" dirty="0"/>
          </a:p>
        </p:txBody>
      </p:sp>
      <p:sp>
        <p:nvSpPr>
          <p:cNvPr id="4" name="Crop Doctor phone"/>
          <p:cNvSpPr/>
          <p:nvPr/>
        </p:nvSpPr>
        <p:spPr>
          <a:xfrm>
            <a:off x="1097280" y="1508760"/>
            <a:ext cx="2331720" cy="4251960"/>
          </a:xfrm>
          <a:prstGeom prst="roundRect">
            <a:avLst>
              <a:gd name="adj" fmla="val 11765"/>
            </a:avLst>
          </a:prstGeom>
          <a:solidFill>
            <a:schemeClr val="tx1"/>
          </a:solidFill>
          <a:ln w="19050">
            <a:solidFill>
              <a:schemeClr val="accent2">
                <a:alpha val="60000"/>
              </a:schemeClr>
            </a:solidFill>
            <a:prstDash val="solid"/>
          </a:ln>
        </p:spPr>
      </p:sp>
      <p:sp>
        <p:nvSpPr>
          <p:cNvPr id="5" name="Crop Doctor notch"/>
          <p:cNvSpPr/>
          <p:nvPr/>
        </p:nvSpPr>
        <p:spPr>
          <a:xfrm>
            <a:off x="1897380" y="1627632"/>
            <a:ext cx="731520" cy="109728"/>
          </a:xfrm>
          <a:prstGeom prst="roundRect">
            <a:avLst>
              <a:gd name="adj" fmla="val 50000"/>
            </a:avLst>
          </a:prstGeom>
          <a:solidFill>
            <a:schemeClr val="tx2"/>
          </a:solidFill>
          <a:ln/>
        </p:spPr>
      </p:sp>
      <p:sp>
        <p:nvSpPr>
          <p:cNvPr id="6" name="Crop Doctor screen"/>
          <p:cNvSpPr/>
          <p:nvPr/>
        </p:nvSpPr>
        <p:spPr>
          <a:xfrm>
            <a:off x="1207008" y="1828800"/>
            <a:ext cx="2112264" cy="3703320"/>
          </a:xfrm>
          <a:prstGeom prst="roundRect">
            <a:avLst>
              <a:gd name="adj" fmla="val 4329"/>
            </a:avLst>
          </a:prstGeom>
          <a:solidFill>
            <a:schemeClr val="bg1"/>
          </a:solidFill>
          <a:ln/>
        </p:spPr>
      </p:sp>
      <p:sp>
        <p:nvSpPr>
          <p:cNvPr id="7" name="Crop Doctor header"/>
          <p:cNvSpPr/>
          <p:nvPr/>
        </p:nvSpPr>
        <p:spPr>
          <a:xfrm>
            <a:off x="1207008" y="1828800"/>
            <a:ext cx="2112264" cy="457200"/>
          </a:xfrm>
          <a:prstGeom prst="roundRect">
            <a:avLst>
              <a:gd name="adj" fmla="val 20000"/>
            </a:avLst>
          </a:prstGeom>
          <a:solidFill>
            <a:schemeClr val="accent3"/>
          </a:solidFill>
          <a:ln/>
        </p:spPr>
      </p:sp>
      <p:sp>
        <p:nvSpPr>
          <p:cNvPr id="8" name="Crop Doctor header base"/>
          <p:cNvSpPr/>
          <p:nvPr/>
        </p:nvSpPr>
        <p:spPr>
          <a:xfrm>
            <a:off x="1207008" y="2057400"/>
            <a:ext cx="2112264" cy="228600"/>
          </a:xfrm>
          <a:prstGeom prst="rect">
            <a:avLst/>
          </a:prstGeom>
          <a:solidFill>
            <a:schemeClr val="accent3"/>
          </a:solidFill>
          <a:ln/>
        </p:spPr>
      </p:sp>
      <p:sp>
        <p:nvSpPr>
          <p:cNvPr id="9" name="Text 7"/>
          <p:cNvSpPr txBox="1"/>
          <p:nvPr/>
        </p:nvSpPr>
        <p:spPr>
          <a:xfrm>
            <a:off x="1344168" y="1828800"/>
            <a:ext cx="1837944" cy="457200"/>
          </a:xfrm>
          <a:prstGeom prst="rect">
            <a:avLst/>
          </a:prstGeom>
          <a:noFill/>
          <a:ln/>
        </p:spPr>
        <p:txBody>
          <a:bodyPr wrap="square" lIns="0" tIns="0" rIns="0" bIns="0" rtlCol="0" anchor="ctr"/>
          <a:lstStyle/>
          <a:p>
            <a:pPr indent="0" marL="0">
              <a:buNone/>
            </a:pPr>
            <a:r>
              <a:rPr lang="en-US" sz="1300" b="1" dirty="0">
                <a:solidFill>
                  <a:schemeClr val="bg1"/>
                </a:solidFill>
              </a:rPr>
              <a:t>Crop Doctor</a:t>
            </a:r>
            <a:endParaRPr lang="en-US" sz="1300" dirty="0"/>
          </a:p>
        </p:txBody>
      </p:sp>
      <p:sp>
        <p:nvSpPr>
          <p:cNvPr id="10" name="Text 8"/>
          <p:cNvSpPr txBox="1"/>
          <p:nvPr/>
        </p:nvSpPr>
        <p:spPr>
          <a:xfrm>
            <a:off x="822960" y="5852160"/>
            <a:ext cx="2880360" cy="320040"/>
          </a:xfrm>
          <a:prstGeom prst="rect">
            <a:avLst/>
          </a:prstGeom>
          <a:noFill/>
          <a:ln/>
        </p:spPr>
        <p:txBody>
          <a:bodyPr wrap="square" lIns="0" tIns="0" rIns="0" bIns="0" rtlCol="0" anchor="t"/>
          <a:lstStyle/>
          <a:p>
            <a:pPr algn="ctr" indent="0" marL="0">
              <a:buNone/>
            </a:pPr>
            <a:r>
              <a:rPr lang="en-US" sz="1500" b="1" dirty="0">
                <a:solidFill>
                  <a:schemeClr val="accent1"/>
                </a:solidFill>
              </a:rPr>
              <a:t>1 · Snap a leaf</a:t>
            </a:r>
            <a:endParaRPr lang="en-US" sz="1500" dirty="0"/>
          </a:p>
        </p:txBody>
      </p:sp>
      <p:sp>
        <p:nvSpPr>
          <p:cNvPr id="11" name="Leaf photo"/>
          <p:cNvSpPr/>
          <p:nvPr/>
        </p:nvSpPr>
        <p:spPr>
          <a:xfrm>
            <a:off x="1316736" y="2423160"/>
            <a:ext cx="1892808" cy="1325880"/>
          </a:xfrm>
          <a:prstGeom prst="roundRect">
            <a:avLst>
              <a:gd name="adj" fmla="val 5517"/>
            </a:avLst>
          </a:prstGeom>
          <a:solidFill>
            <a:schemeClr val="bg2"/>
          </a:solidFill>
          <a:ln/>
        </p:spPr>
      </p:sp>
      <p:pic>
        <p:nvPicPr>
          <p:cNvPr id="12" name="Leaf" descr="Leaf">    </p:cNvPr>
          <p:cNvPicPr>
            <a:picLocks noChangeAspect="1"/>
          </p:cNvPicPr>
          <p:nvPr/>
        </p:nvPicPr>
        <p:blipFill>
          <a:blip r:embed="rId1"/>
          <a:stretch>
            <a:fillRect/>
          </a:stretch>
        </p:blipFill>
        <p:spPr>
          <a:xfrm>
            <a:off x="1760220" y="2578608"/>
            <a:ext cx="1005840" cy="1005840"/>
          </a:xfrm>
          <a:prstGeom prst="rect">
            <a:avLst/>
          </a:prstGeom>
        </p:spPr>
      </p:pic>
      <p:sp>
        <p:nvSpPr>
          <p:cNvPr id="13" name="Spot 0"/>
          <p:cNvSpPr/>
          <p:nvPr/>
        </p:nvSpPr>
        <p:spPr>
          <a:xfrm>
            <a:off x="2034540" y="2898648"/>
            <a:ext cx="128016" cy="128016"/>
          </a:xfrm>
          <a:prstGeom prst="ellipse">
            <a:avLst/>
          </a:prstGeom>
          <a:solidFill>
            <a:schemeClr val="accent6"/>
          </a:solidFill>
          <a:ln/>
        </p:spPr>
      </p:sp>
      <p:sp>
        <p:nvSpPr>
          <p:cNvPr id="14" name="Spot 1"/>
          <p:cNvSpPr/>
          <p:nvPr/>
        </p:nvSpPr>
        <p:spPr>
          <a:xfrm>
            <a:off x="2263140" y="3127248"/>
            <a:ext cx="128016" cy="128016"/>
          </a:xfrm>
          <a:prstGeom prst="ellipse">
            <a:avLst/>
          </a:prstGeom>
          <a:solidFill>
            <a:schemeClr val="accent6"/>
          </a:solidFill>
          <a:ln/>
        </p:spPr>
      </p:sp>
      <p:sp>
        <p:nvSpPr>
          <p:cNvPr id="15" name="Spot 2"/>
          <p:cNvSpPr/>
          <p:nvPr/>
        </p:nvSpPr>
        <p:spPr>
          <a:xfrm>
            <a:off x="2446020" y="2807208"/>
            <a:ext cx="128016" cy="128016"/>
          </a:xfrm>
          <a:prstGeom prst="ellipse">
            <a:avLst/>
          </a:prstGeom>
          <a:solidFill>
            <a:schemeClr val="accent6"/>
          </a:solidFill>
          <a:ln/>
        </p:spPr>
      </p:sp>
      <p:sp>
        <p:nvSpPr>
          <p:cNvPr id="16" name="Text 13"/>
          <p:cNvSpPr txBox="1"/>
          <p:nvPr/>
        </p:nvSpPr>
        <p:spPr>
          <a:xfrm>
            <a:off x="1316736" y="3840480"/>
            <a:ext cx="1892808" cy="274320"/>
          </a:xfrm>
          <a:prstGeom prst="rect">
            <a:avLst/>
          </a:prstGeom>
          <a:noFill/>
          <a:ln/>
        </p:spPr>
        <p:txBody>
          <a:bodyPr wrap="square" lIns="0" tIns="0" rIns="0" bIns="0" rtlCol="0" anchor="t"/>
          <a:lstStyle/>
          <a:p>
            <a:pPr indent="0" marL="0">
              <a:buNone/>
            </a:pPr>
            <a:r>
              <a:rPr lang="en-US" sz="1300" b="1" dirty="0">
                <a:solidFill>
                  <a:schemeClr val="accent4"/>
                </a:solidFill>
              </a:rPr>
              <a:t>Early Blight detected</a:t>
            </a:r>
            <a:endParaRPr lang="en-US" sz="1300" dirty="0"/>
          </a:p>
        </p:txBody>
      </p:sp>
      <p:sp>
        <p:nvSpPr>
          <p:cNvPr id="17" name="Text 14"/>
          <p:cNvSpPr txBox="1"/>
          <p:nvPr/>
        </p:nvSpPr>
        <p:spPr>
          <a:xfrm>
            <a:off x="1316736" y="4114800"/>
            <a:ext cx="1892808" cy="228600"/>
          </a:xfrm>
          <a:prstGeom prst="rect">
            <a:avLst/>
          </a:prstGeom>
          <a:noFill/>
          <a:ln/>
        </p:spPr>
        <p:txBody>
          <a:bodyPr wrap="square" lIns="0" tIns="0" rIns="0" bIns="0" rtlCol="0" anchor="t"/>
          <a:lstStyle/>
          <a:p>
            <a:pPr indent="0" marL="0">
              <a:buNone/>
            </a:pPr>
            <a:r>
              <a:rPr lang="en-US" sz="1100" dirty="0">
                <a:solidFill>
                  <a:schemeClr val="tx1"/>
                </a:solidFill>
              </a:rPr>
              <a:t>Confidence 92%</a:t>
            </a:r>
            <a:endParaRPr lang="en-US" sz="1100" dirty="0"/>
          </a:p>
        </p:txBody>
      </p:sp>
      <p:sp>
        <p:nvSpPr>
          <p:cNvPr id="18" name="Bar track"/>
          <p:cNvSpPr/>
          <p:nvPr/>
        </p:nvSpPr>
        <p:spPr>
          <a:xfrm>
            <a:off x="1316736" y="4370832"/>
            <a:ext cx="1892808" cy="73152"/>
          </a:xfrm>
          <a:prstGeom prst="rect">
            <a:avLst/>
          </a:prstGeom>
          <a:solidFill>
            <a:schemeClr val="bg2"/>
          </a:solidFill>
          <a:ln/>
        </p:spPr>
      </p:sp>
      <p:sp>
        <p:nvSpPr>
          <p:cNvPr id="19" name="Bar fill"/>
          <p:cNvSpPr/>
          <p:nvPr/>
        </p:nvSpPr>
        <p:spPr>
          <a:xfrm>
            <a:off x="1316736" y="4370832"/>
            <a:ext cx="1741383" cy="73152"/>
          </a:xfrm>
          <a:prstGeom prst="rect">
            <a:avLst/>
          </a:prstGeom>
          <a:solidFill>
            <a:schemeClr val="accent3"/>
          </a:solidFill>
          <a:ln/>
        </p:spPr>
      </p:sp>
      <p:sp>
        <p:nvSpPr>
          <p:cNvPr id="20" name="Text 17"/>
          <p:cNvSpPr txBox="1"/>
          <p:nvPr/>
        </p:nvSpPr>
        <p:spPr>
          <a:xfrm>
            <a:off x="1316736" y="4526280"/>
            <a:ext cx="1892808" cy="411480"/>
          </a:xfrm>
          <a:prstGeom prst="rect">
            <a:avLst/>
          </a:prstGeom>
          <a:noFill/>
          <a:ln/>
        </p:spPr>
        <p:txBody>
          <a:bodyPr wrap="square" lIns="0" tIns="0" rIns="0" bIns="0" rtlCol="0" anchor="t"/>
          <a:lstStyle/>
          <a:p>
            <a:pPr indent="0" marL="0">
              <a:buNone/>
            </a:pPr>
            <a:r>
              <a:rPr lang="en-US" sz="1100" dirty="0">
                <a:solidFill>
                  <a:schemeClr val="tx1"/>
                </a:solidFill>
              </a:rPr>
              <a:t>Spray Mancozeb 2.5 g/L this evening</a:t>
            </a:r>
            <a:endParaRPr lang="en-US" sz="1100" dirty="0"/>
          </a:p>
        </p:txBody>
      </p:sp>
      <p:sp>
        <p:nvSpPr>
          <p:cNvPr id="21" name="Listen button"/>
          <p:cNvSpPr/>
          <p:nvPr/>
        </p:nvSpPr>
        <p:spPr>
          <a:xfrm>
            <a:off x="1316736" y="4983480"/>
            <a:ext cx="1892808" cy="384048"/>
          </a:xfrm>
          <a:prstGeom prst="roundRect">
            <a:avLst>
              <a:gd name="adj" fmla="val 50000"/>
            </a:avLst>
          </a:prstGeom>
          <a:solidFill>
            <a:schemeClr val="accent1"/>
          </a:solidFill>
          <a:ln/>
        </p:spPr>
      </p:sp>
      <p:sp>
        <p:nvSpPr>
          <p:cNvPr id="22" name="Text 19"/>
          <p:cNvSpPr txBox="1"/>
          <p:nvPr/>
        </p:nvSpPr>
        <p:spPr>
          <a:xfrm>
            <a:off x="1316736" y="4983480"/>
            <a:ext cx="1892808" cy="384048"/>
          </a:xfrm>
          <a:prstGeom prst="rect">
            <a:avLst/>
          </a:prstGeom>
          <a:noFill/>
          <a:ln/>
        </p:spPr>
        <p:txBody>
          <a:bodyPr wrap="square" lIns="0" tIns="0" rIns="0" bIns="0" rtlCol="0" anchor="ctr"/>
          <a:lstStyle/>
          <a:p>
            <a:pPr algn="ctr" indent="0" marL="0">
              <a:buNone/>
            </a:pPr>
            <a:r>
              <a:rPr lang="en-US" sz="1100" b="1" dirty="0">
                <a:solidFill>
                  <a:schemeClr val="tx1"/>
                </a:solidFill>
              </a:rPr>
              <a:t>Listen in Marathi</a:t>
            </a:r>
            <a:endParaRPr lang="en-US" sz="1100" dirty="0"/>
          </a:p>
        </p:txBody>
      </p:sp>
      <p:sp>
        <p:nvSpPr>
          <p:cNvPr id="23" name="Ask KrishiMitra phone"/>
          <p:cNvSpPr/>
          <p:nvPr/>
        </p:nvSpPr>
        <p:spPr>
          <a:xfrm>
            <a:off x="4928616" y="1508760"/>
            <a:ext cx="2331720" cy="4251960"/>
          </a:xfrm>
          <a:prstGeom prst="roundRect">
            <a:avLst>
              <a:gd name="adj" fmla="val 11765"/>
            </a:avLst>
          </a:prstGeom>
          <a:solidFill>
            <a:schemeClr val="tx1"/>
          </a:solidFill>
          <a:ln w="19050">
            <a:solidFill>
              <a:schemeClr val="accent2">
                <a:alpha val="60000"/>
              </a:schemeClr>
            </a:solidFill>
            <a:prstDash val="solid"/>
          </a:ln>
        </p:spPr>
      </p:sp>
      <p:sp>
        <p:nvSpPr>
          <p:cNvPr id="24" name="Ask KrishiMitra notch"/>
          <p:cNvSpPr/>
          <p:nvPr/>
        </p:nvSpPr>
        <p:spPr>
          <a:xfrm>
            <a:off x="5728716" y="1627632"/>
            <a:ext cx="731520" cy="109728"/>
          </a:xfrm>
          <a:prstGeom prst="roundRect">
            <a:avLst>
              <a:gd name="adj" fmla="val 50000"/>
            </a:avLst>
          </a:prstGeom>
          <a:solidFill>
            <a:schemeClr val="tx2"/>
          </a:solidFill>
          <a:ln/>
        </p:spPr>
      </p:sp>
      <p:sp>
        <p:nvSpPr>
          <p:cNvPr id="25" name="Ask KrishiMitra screen"/>
          <p:cNvSpPr/>
          <p:nvPr/>
        </p:nvSpPr>
        <p:spPr>
          <a:xfrm>
            <a:off x="5038344" y="1828800"/>
            <a:ext cx="2112264" cy="3703320"/>
          </a:xfrm>
          <a:prstGeom prst="roundRect">
            <a:avLst>
              <a:gd name="adj" fmla="val 4329"/>
            </a:avLst>
          </a:prstGeom>
          <a:solidFill>
            <a:schemeClr val="bg1"/>
          </a:solidFill>
          <a:ln/>
        </p:spPr>
      </p:sp>
      <p:sp>
        <p:nvSpPr>
          <p:cNvPr id="26" name="Ask KrishiMitra header"/>
          <p:cNvSpPr/>
          <p:nvPr/>
        </p:nvSpPr>
        <p:spPr>
          <a:xfrm>
            <a:off x="5038344" y="1828800"/>
            <a:ext cx="2112264" cy="457200"/>
          </a:xfrm>
          <a:prstGeom prst="roundRect">
            <a:avLst>
              <a:gd name="adj" fmla="val 20000"/>
            </a:avLst>
          </a:prstGeom>
          <a:solidFill>
            <a:schemeClr val="accent3"/>
          </a:solidFill>
          <a:ln/>
        </p:spPr>
      </p:sp>
      <p:sp>
        <p:nvSpPr>
          <p:cNvPr id="27" name="Ask KrishiMitra header base"/>
          <p:cNvSpPr/>
          <p:nvPr/>
        </p:nvSpPr>
        <p:spPr>
          <a:xfrm>
            <a:off x="5038344" y="2057400"/>
            <a:ext cx="2112264" cy="228600"/>
          </a:xfrm>
          <a:prstGeom prst="rect">
            <a:avLst/>
          </a:prstGeom>
          <a:solidFill>
            <a:schemeClr val="accent3"/>
          </a:solidFill>
          <a:ln/>
        </p:spPr>
      </p:sp>
      <p:sp>
        <p:nvSpPr>
          <p:cNvPr id="28" name="Text 25"/>
          <p:cNvSpPr txBox="1"/>
          <p:nvPr/>
        </p:nvSpPr>
        <p:spPr>
          <a:xfrm>
            <a:off x="5175504" y="1828800"/>
            <a:ext cx="1837944" cy="457200"/>
          </a:xfrm>
          <a:prstGeom prst="rect">
            <a:avLst/>
          </a:prstGeom>
          <a:noFill/>
          <a:ln/>
        </p:spPr>
        <p:txBody>
          <a:bodyPr wrap="square" lIns="0" tIns="0" rIns="0" bIns="0" rtlCol="0" anchor="ctr"/>
          <a:lstStyle/>
          <a:p>
            <a:pPr indent="0" marL="0">
              <a:buNone/>
            </a:pPr>
            <a:r>
              <a:rPr lang="en-US" sz="1300" b="1" dirty="0">
                <a:solidFill>
                  <a:schemeClr val="bg1"/>
                </a:solidFill>
              </a:rPr>
              <a:t>Ask KrishiMitra</a:t>
            </a:r>
            <a:endParaRPr lang="en-US" sz="1300" dirty="0"/>
          </a:p>
        </p:txBody>
      </p:sp>
      <p:sp>
        <p:nvSpPr>
          <p:cNvPr id="29" name="Text 26"/>
          <p:cNvSpPr txBox="1"/>
          <p:nvPr/>
        </p:nvSpPr>
        <p:spPr>
          <a:xfrm>
            <a:off x="4654296" y="5852160"/>
            <a:ext cx="2880360" cy="320040"/>
          </a:xfrm>
          <a:prstGeom prst="rect">
            <a:avLst/>
          </a:prstGeom>
          <a:noFill/>
          <a:ln/>
        </p:spPr>
        <p:txBody>
          <a:bodyPr wrap="square" lIns="0" tIns="0" rIns="0" bIns="0" rtlCol="0" anchor="t"/>
          <a:lstStyle/>
          <a:p>
            <a:pPr algn="ctr" indent="0" marL="0">
              <a:buNone/>
            </a:pPr>
            <a:r>
              <a:rPr lang="en-US" sz="1500" b="1" dirty="0">
                <a:solidFill>
                  <a:schemeClr val="accent1"/>
                </a:solidFill>
              </a:rPr>
              <a:t>2 · Ask in your language</a:t>
            </a:r>
            <a:endParaRPr lang="en-US" sz="1500" dirty="0"/>
          </a:p>
        </p:txBody>
      </p:sp>
      <p:sp>
        <p:nvSpPr>
          <p:cNvPr id="30" name="Farmer bubble"/>
          <p:cNvSpPr/>
          <p:nvPr/>
        </p:nvSpPr>
        <p:spPr>
          <a:xfrm>
            <a:off x="5541264" y="2468880"/>
            <a:ext cx="1499616" cy="640080"/>
          </a:xfrm>
          <a:prstGeom prst="roundRect">
            <a:avLst>
              <a:gd name="adj" fmla="val 17143"/>
            </a:avLst>
          </a:prstGeom>
          <a:solidFill>
            <a:schemeClr val="accent1">
              <a:alpha val="45000"/>
            </a:schemeClr>
          </a:solidFill>
          <a:ln/>
        </p:spPr>
      </p:sp>
      <p:sp>
        <p:nvSpPr>
          <p:cNvPr id="31" name="Text 28"/>
          <p:cNvSpPr txBox="1"/>
          <p:nvPr/>
        </p:nvSpPr>
        <p:spPr>
          <a:xfrm>
            <a:off x="5632704" y="2468880"/>
            <a:ext cx="1316736" cy="640080"/>
          </a:xfrm>
          <a:prstGeom prst="rect">
            <a:avLst/>
          </a:prstGeom>
          <a:noFill/>
          <a:ln/>
        </p:spPr>
        <p:txBody>
          <a:bodyPr wrap="square" lIns="0" tIns="0" rIns="0" bIns="0" rtlCol="0" anchor="ctr"/>
          <a:lstStyle/>
          <a:p>
            <a:pPr indent="0" marL="0">
              <a:buNone/>
            </a:pPr>
            <a:r>
              <a:rPr lang="en-US" sz="1100" dirty="0">
                <a:solidFill>
                  <a:schemeClr val="tx1"/>
                </a:solidFill>
              </a:rPr>
              <a:t>Should I water my cotton today?</a:t>
            </a:r>
            <a:endParaRPr lang="en-US" sz="1100" dirty="0"/>
          </a:p>
        </p:txBody>
      </p:sp>
      <p:sp>
        <p:nvSpPr>
          <p:cNvPr id="32" name="Bot bubble"/>
          <p:cNvSpPr/>
          <p:nvPr/>
        </p:nvSpPr>
        <p:spPr>
          <a:xfrm>
            <a:off x="5148072" y="3246120"/>
            <a:ext cx="1655064" cy="960120"/>
          </a:xfrm>
          <a:prstGeom prst="roundRect">
            <a:avLst>
              <a:gd name="adj" fmla="val 11429"/>
            </a:avLst>
          </a:prstGeom>
          <a:solidFill>
            <a:schemeClr val="bg2"/>
          </a:solidFill>
          <a:ln/>
        </p:spPr>
      </p:sp>
      <p:sp>
        <p:nvSpPr>
          <p:cNvPr id="33" name="Text 30"/>
          <p:cNvSpPr txBox="1"/>
          <p:nvPr/>
        </p:nvSpPr>
        <p:spPr>
          <a:xfrm>
            <a:off x="5239512" y="3246120"/>
            <a:ext cx="1472184" cy="960120"/>
          </a:xfrm>
          <a:prstGeom prst="rect">
            <a:avLst/>
          </a:prstGeom>
          <a:noFill/>
          <a:ln/>
        </p:spPr>
        <p:txBody>
          <a:bodyPr wrap="square" lIns="0" tIns="0" rIns="0" bIns="0" rtlCol="0" anchor="ctr"/>
          <a:lstStyle/>
          <a:p>
            <a:pPr indent="0" marL="0">
              <a:buNone/>
            </a:pPr>
            <a:r>
              <a:rPr lang="en-US" sz="1100" dirty="0">
                <a:solidFill>
                  <a:schemeClr val="tx1"/>
                </a:solidFill>
              </a:rPr>
              <a:t>No need. 18 mm of rain is expected tomorrow, so save water and diesel.</a:t>
            </a:r>
            <a:endParaRPr lang="en-US" sz="1100" dirty="0"/>
          </a:p>
        </p:txBody>
      </p:sp>
      <p:sp>
        <p:nvSpPr>
          <p:cNvPr id="34" name="Text 31"/>
          <p:cNvSpPr txBox="1"/>
          <p:nvPr/>
        </p:nvSpPr>
        <p:spPr>
          <a:xfrm>
            <a:off x="5148072" y="4251960"/>
            <a:ext cx="1892808" cy="228600"/>
          </a:xfrm>
          <a:prstGeom prst="rect">
            <a:avLst/>
          </a:prstGeom>
          <a:noFill/>
          <a:ln/>
        </p:spPr>
        <p:txBody>
          <a:bodyPr wrap="square" lIns="0" tIns="0" rIns="0" bIns="0" rtlCol="0" anchor="t"/>
          <a:lstStyle/>
          <a:p>
            <a:pPr indent="0" marL="0">
              <a:buNone/>
            </a:pPr>
            <a:r>
              <a:rPr lang="en-US" sz="1000" i="1" dirty="0">
                <a:solidFill>
                  <a:schemeClr val="accent3"/>
                </a:solidFill>
              </a:rPr>
              <a:t>Voice reply in Marathi</a:t>
            </a:r>
            <a:endParaRPr lang="en-US" sz="1000" dirty="0"/>
          </a:p>
        </p:txBody>
      </p:sp>
      <p:sp>
        <p:nvSpPr>
          <p:cNvPr id="35" name="Mic button"/>
          <p:cNvSpPr/>
          <p:nvPr/>
        </p:nvSpPr>
        <p:spPr>
          <a:xfrm>
            <a:off x="5728716" y="4617720"/>
            <a:ext cx="731520" cy="731520"/>
          </a:xfrm>
          <a:prstGeom prst="ellipse">
            <a:avLst/>
          </a:prstGeom>
          <a:solidFill>
            <a:schemeClr val="accent3"/>
          </a:solidFill>
          <a:ln/>
        </p:spPr>
      </p:sp>
      <p:pic>
        <p:nvPicPr>
          <p:cNvPr id="36" name="Mic" descr="Microphone">    </p:cNvPr>
          <p:cNvPicPr>
            <a:picLocks noChangeAspect="1"/>
          </p:cNvPicPr>
          <p:nvPr/>
        </p:nvPicPr>
        <p:blipFill>
          <a:blip r:embed="rId2"/>
          <a:stretch>
            <a:fillRect/>
          </a:stretch>
        </p:blipFill>
        <p:spPr>
          <a:xfrm>
            <a:off x="5911596" y="4800600"/>
            <a:ext cx="365760" cy="365760"/>
          </a:xfrm>
          <a:prstGeom prst="rect">
            <a:avLst/>
          </a:prstGeom>
        </p:spPr>
      </p:pic>
      <p:sp>
        <p:nvSpPr>
          <p:cNvPr id="37" name="Mandi Prices · Cotton phone"/>
          <p:cNvSpPr/>
          <p:nvPr/>
        </p:nvSpPr>
        <p:spPr>
          <a:xfrm>
            <a:off x="8759952" y="1508760"/>
            <a:ext cx="2331720" cy="4251960"/>
          </a:xfrm>
          <a:prstGeom prst="roundRect">
            <a:avLst>
              <a:gd name="adj" fmla="val 11765"/>
            </a:avLst>
          </a:prstGeom>
          <a:solidFill>
            <a:schemeClr val="tx1"/>
          </a:solidFill>
          <a:ln w="19050">
            <a:solidFill>
              <a:schemeClr val="accent2">
                <a:alpha val="60000"/>
              </a:schemeClr>
            </a:solidFill>
            <a:prstDash val="solid"/>
          </a:ln>
        </p:spPr>
      </p:sp>
      <p:sp>
        <p:nvSpPr>
          <p:cNvPr id="38" name="Mandi Prices · Cotton notch"/>
          <p:cNvSpPr/>
          <p:nvPr/>
        </p:nvSpPr>
        <p:spPr>
          <a:xfrm>
            <a:off x="9560052" y="1627632"/>
            <a:ext cx="731520" cy="109728"/>
          </a:xfrm>
          <a:prstGeom prst="roundRect">
            <a:avLst>
              <a:gd name="adj" fmla="val 50000"/>
            </a:avLst>
          </a:prstGeom>
          <a:solidFill>
            <a:schemeClr val="tx2"/>
          </a:solidFill>
          <a:ln/>
        </p:spPr>
      </p:sp>
      <p:sp>
        <p:nvSpPr>
          <p:cNvPr id="39" name="Mandi Prices · Cotton screen"/>
          <p:cNvSpPr/>
          <p:nvPr/>
        </p:nvSpPr>
        <p:spPr>
          <a:xfrm>
            <a:off x="8869680" y="1828800"/>
            <a:ext cx="2112264" cy="3703320"/>
          </a:xfrm>
          <a:prstGeom prst="roundRect">
            <a:avLst>
              <a:gd name="adj" fmla="val 4329"/>
            </a:avLst>
          </a:prstGeom>
          <a:solidFill>
            <a:schemeClr val="bg1"/>
          </a:solidFill>
          <a:ln/>
        </p:spPr>
      </p:sp>
      <p:sp>
        <p:nvSpPr>
          <p:cNvPr id="40" name="Mandi Prices · Cotton header"/>
          <p:cNvSpPr/>
          <p:nvPr/>
        </p:nvSpPr>
        <p:spPr>
          <a:xfrm>
            <a:off x="8869680" y="1828800"/>
            <a:ext cx="2112264" cy="457200"/>
          </a:xfrm>
          <a:prstGeom prst="roundRect">
            <a:avLst>
              <a:gd name="adj" fmla="val 20000"/>
            </a:avLst>
          </a:prstGeom>
          <a:solidFill>
            <a:schemeClr val="accent3"/>
          </a:solidFill>
          <a:ln/>
        </p:spPr>
      </p:sp>
      <p:sp>
        <p:nvSpPr>
          <p:cNvPr id="41" name="Mandi Prices · Cotton header base"/>
          <p:cNvSpPr/>
          <p:nvPr/>
        </p:nvSpPr>
        <p:spPr>
          <a:xfrm>
            <a:off x="8869680" y="2057400"/>
            <a:ext cx="2112264" cy="228600"/>
          </a:xfrm>
          <a:prstGeom prst="rect">
            <a:avLst/>
          </a:prstGeom>
          <a:solidFill>
            <a:schemeClr val="accent3"/>
          </a:solidFill>
          <a:ln/>
        </p:spPr>
      </p:sp>
      <p:sp>
        <p:nvSpPr>
          <p:cNvPr id="42" name="Text 38"/>
          <p:cNvSpPr txBox="1"/>
          <p:nvPr/>
        </p:nvSpPr>
        <p:spPr>
          <a:xfrm>
            <a:off x="9006840" y="1828800"/>
            <a:ext cx="1837944" cy="457200"/>
          </a:xfrm>
          <a:prstGeom prst="rect">
            <a:avLst/>
          </a:prstGeom>
          <a:noFill/>
          <a:ln/>
        </p:spPr>
        <p:txBody>
          <a:bodyPr wrap="square" lIns="0" tIns="0" rIns="0" bIns="0" rtlCol="0" anchor="ctr"/>
          <a:lstStyle/>
          <a:p>
            <a:pPr indent="0" marL="0">
              <a:buNone/>
            </a:pPr>
            <a:r>
              <a:rPr lang="en-US" sz="1300" b="1" dirty="0">
                <a:solidFill>
                  <a:schemeClr val="bg1"/>
                </a:solidFill>
              </a:rPr>
              <a:t>Mandi Prices · Cotton</a:t>
            </a:r>
            <a:endParaRPr lang="en-US" sz="1300" dirty="0"/>
          </a:p>
        </p:txBody>
      </p:sp>
      <p:sp>
        <p:nvSpPr>
          <p:cNvPr id="43" name="Text 39"/>
          <p:cNvSpPr txBox="1"/>
          <p:nvPr/>
        </p:nvSpPr>
        <p:spPr>
          <a:xfrm>
            <a:off x="8485632" y="5852160"/>
            <a:ext cx="2880360" cy="320040"/>
          </a:xfrm>
          <a:prstGeom prst="rect">
            <a:avLst/>
          </a:prstGeom>
          <a:noFill/>
          <a:ln/>
        </p:spPr>
        <p:txBody>
          <a:bodyPr wrap="square" lIns="0" tIns="0" rIns="0" bIns="0" rtlCol="0" anchor="t"/>
          <a:lstStyle/>
          <a:p>
            <a:pPr algn="ctr" indent="0" marL="0">
              <a:buNone/>
            </a:pPr>
            <a:r>
              <a:rPr lang="en-US" sz="1500" b="1" dirty="0">
                <a:solidFill>
                  <a:schemeClr val="accent1"/>
                </a:solidFill>
              </a:rPr>
              <a:t>3 · Sell at the best price</a:t>
            </a:r>
            <a:endParaRPr lang="en-US" sz="1500" dirty="0"/>
          </a:p>
        </p:txBody>
      </p:sp>
      <p:sp>
        <p:nvSpPr>
          <p:cNvPr id="44" name="Nagpur row"/>
          <p:cNvSpPr/>
          <p:nvPr/>
        </p:nvSpPr>
        <p:spPr>
          <a:xfrm>
            <a:off x="8979408" y="2468880"/>
            <a:ext cx="1892808" cy="594360"/>
          </a:xfrm>
          <a:prstGeom prst="roundRect">
            <a:avLst>
              <a:gd name="adj" fmla="val 12308"/>
            </a:avLst>
          </a:prstGeom>
          <a:solidFill>
            <a:schemeClr val="bg2"/>
          </a:solidFill>
          <a:ln/>
        </p:spPr>
      </p:sp>
      <p:sp>
        <p:nvSpPr>
          <p:cNvPr id="45" name="Text 41"/>
          <p:cNvSpPr txBox="1"/>
          <p:nvPr/>
        </p:nvSpPr>
        <p:spPr>
          <a:xfrm>
            <a:off x="9070848" y="2468880"/>
            <a:ext cx="914400" cy="594360"/>
          </a:xfrm>
          <a:prstGeom prst="rect">
            <a:avLst/>
          </a:prstGeom>
          <a:noFill/>
          <a:ln/>
        </p:spPr>
        <p:txBody>
          <a:bodyPr wrap="square" lIns="0" tIns="0" rIns="0" bIns="0" rtlCol="0" anchor="ctr"/>
          <a:lstStyle/>
          <a:p>
            <a:pPr indent="0" marL="0">
              <a:buNone/>
            </a:pPr>
            <a:r>
              <a:rPr lang="en-US" sz="1200" b="1" dirty="0">
                <a:solidFill>
                  <a:schemeClr val="tx1"/>
                </a:solidFill>
              </a:rPr>
              <a:t>Nagpur</a:t>
            </a:r>
            <a:endParaRPr lang="en-US" sz="1200" dirty="0"/>
          </a:p>
        </p:txBody>
      </p:sp>
      <p:sp>
        <p:nvSpPr>
          <p:cNvPr id="46" name="Text 42"/>
          <p:cNvSpPr txBox="1"/>
          <p:nvPr/>
        </p:nvSpPr>
        <p:spPr>
          <a:xfrm>
            <a:off x="9875520" y="2468880"/>
            <a:ext cx="905256" cy="594360"/>
          </a:xfrm>
          <a:prstGeom prst="rect">
            <a:avLst/>
          </a:prstGeom>
          <a:noFill/>
          <a:ln/>
        </p:spPr>
        <p:txBody>
          <a:bodyPr wrap="square" lIns="0" tIns="0" rIns="0" bIns="0" rtlCol="0" anchor="ctr"/>
          <a:lstStyle/>
          <a:p>
            <a:pPr algn="r" indent="0" marL="0">
              <a:buNone/>
            </a:pPr>
            <a:r>
              <a:rPr lang="en-US" sz="1200" b="1" dirty="0">
                <a:solidFill>
                  <a:schemeClr val="tx1"/>
                </a:solidFill>
              </a:rPr>
              <a:t>₹7,150/q</a:t>
            </a:r>
            <a:endParaRPr lang="en-US" sz="1200" dirty="0"/>
          </a:p>
        </p:txBody>
      </p:sp>
      <p:sp>
        <p:nvSpPr>
          <p:cNvPr id="47" name="Amravati row"/>
          <p:cNvSpPr/>
          <p:nvPr/>
        </p:nvSpPr>
        <p:spPr>
          <a:xfrm>
            <a:off x="8979408" y="3182112"/>
            <a:ext cx="1892808" cy="594360"/>
          </a:xfrm>
          <a:prstGeom prst="roundRect">
            <a:avLst>
              <a:gd name="adj" fmla="val 12308"/>
            </a:avLst>
          </a:prstGeom>
          <a:solidFill>
            <a:schemeClr val="accent1">
              <a:alpha val="55000"/>
            </a:schemeClr>
          </a:solidFill>
          <a:ln/>
        </p:spPr>
      </p:sp>
      <p:sp>
        <p:nvSpPr>
          <p:cNvPr id="48" name="Text 44"/>
          <p:cNvSpPr txBox="1"/>
          <p:nvPr/>
        </p:nvSpPr>
        <p:spPr>
          <a:xfrm>
            <a:off x="9070848" y="3182112"/>
            <a:ext cx="914400" cy="365760"/>
          </a:xfrm>
          <a:prstGeom prst="rect">
            <a:avLst/>
          </a:prstGeom>
          <a:noFill/>
          <a:ln/>
        </p:spPr>
        <p:txBody>
          <a:bodyPr wrap="square" lIns="0" tIns="0" rIns="0" bIns="0" rtlCol="0" anchor="ctr"/>
          <a:lstStyle/>
          <a:p>
            <a:pPr indent="0" marL="0">
              <a:buNone/>
            </a:pPr>
            <a:r>
              <a:rPr lang="en-US" sz="1200" b="1" dirty="0">
                <a:solidFill>
                  <a:schemeClr val="tx1"/>
                </a:solidFill>
              </a:rPr>
              <a:t>Amravati</a:t>
            </a:r>
            <a:endParaRPr lang="en-US" sz="1200" dirty="0"/>
          </a:p>
        </p:txBody>
      </p:sp>
      <p:sp>
        <p:nvSpPr>
          <p:cNvPr id="49" name="Text 45"/>
          <p:cNvSpPr txBox="1"/>
          <p:nvPr/>
        </p:nvSpPr>
        <p:spPr>
          <a:xfrm>
            <a:off x="9070848" y="3511296"/>
            <a:ext cx="914400" cy="201168"/>
          </a:xfrm>
          <a:prstGeom prst="rect">
            <a:avLst/>
          </a:prstGeom>
          <a:noFill/>
          <a:ln/>
        </p:spPr>
        <p:txBody>
          <a:bodyPr wrap="square" lIns="0" tIns="0" rIns="0" bIns="0" rtlCol="0" anchor="t"/>
          <a:lstStyle/>
          <a:p>
            <a:pPr indent="0" marL="0">
              <a:buNone/>
            </a:pPr>
            <a:r>
              <a:rPr lang="en-US" sz="900" b="1" dirty="0">
                <a:solidFill>
                  <a:schemeClr val="accent3"/>
                </a:solidFill>
              </a:rPr>
              <a:t>BEST PRICE</a:t>
            </a:r>
            <a:endParaRPr lang="en-US" sz="900" dirty="0"/>
          </a:p>
        </p:txBody>
      </p:sp>
      <p:sp>
        <p:nvSpPr>
          <p:cNvPr id="50" name="Text 46"/>
          <p:cNvSpPr txBox="1"/>
          <p:nvPr/>
        </p:nvSpPr>
        <p:spPr>
          <a:xfrm>
            <a:off x="9875520" y="3182112"/>
            <a:ext cx="905256" cy="594360"/>
          </a:xfrm>
          <a:prstGeom prst="rect">
            <a:avLst/>
          </a:prstGeom>
          <a:noFill/>
          <a:ln/>
        </p:spPr>
        <p:txBody>
          <a:bodyPr wrap="square" lIns="0" tIns="0" rIns="0" bIns="0" rtlCol="0" anchor="ctr"/>
          <a:lstStyle/>
          <a:p>
            <a:pPr algn="r" indent="0" marL="0">
              <a:buNone/>
            </a:pPr>
            <a:r>
              <a:rPr lang="en-US" sz="1200" b="1" dirty="0">
                <a:solidFill>
                  <a:schemeClr val="tx1"/>
                </a:solidFill>
              </a:rPr>
              <a:t>₹7,320/q</a:t>
            </a:r>
            <a:endParaRPr lang="en-US" sz="1200" dirty="0"/>
          </a:p>
        </p:txBody>
      </p:sp>
      <p:sp>
        <p:nvSpPr>
          <p:cNvPr id="51" name="Wardha row"/>
          <p:cNvSpPr/>
          <p:nvPr/>
        </p:nvSpPr>
        <p:spPr>
          <a:xfrm>
            <a:off x="8979408" y="3895344"/>
            <a:ext cx="1892808" cy="594360"/>
          </a:xfrm>
          <a:prstGeom prst="roundRect">
            <a:avLst>
              <a:gd name="adj" fmla="val 12308"/>
            </a:avLst>
          </a:prstGeom>
          <a:solidFill>
            <a:schemeClr val="bg2"/>
          </a:solidFill>
          <a:ln/>
        </p:spPr>
      </p:sp>
      <p:sp>
        <p:nvSpPr>
          <p:cNvPr id="52" name="Text 48"/>
          <p:cNvSpPr txBox="1"/>
          <p:nvPr/>
        </p:nvSpPr>
        <p:spPr>
          <a:xfrm>
            <a:off x="9070848" y="3895344"/>
            <a:ext cx="914400" cy="594360"/>
          </a:xfrm>
          <a:prstGeom prst="rect">
            <a:avLst/>
          </a:prstGeom>
          <a:noFill/>
          <a:ln/>
        </p:spPr>
        <p:txBody>
          <a:bodyPr wrap="square" lIns="0" tIns="0" rIns="0" bIns="0" rtlCol="0" anchor="ctr"/>
          <a:lstStyle/>
          <a:p>
            <a:pPr indent="0" marL="0">
              <a:buNone/>
            </a:pPr>
            <a:r>
              <a:rPr lang="en-US" sz="1200" b="1" dirty="0">
                <a:solidFill>
                  <a:schemeClr val="tx1"/>
                </a:solidFill>
              </a:rPr>
              <a:t>Wardha</a:t>
            </a:r>
            <a:endParaRPr lang="en-US" sz="1200" dirty="0"/>
          </a:p>
        </p:txBody>
      </p:sp>
      <p:sp>
        <p:nvSpPr>
          <p:cNvPr id="53" name="Text 49"/>
          <p:cNvSpPr txBox="1"/>
          <p:nvPr/>
        </p:nvSpPr>
        <p:spPr>
          <a:xfrm>
            <a:off x="9875520" y="3895344"/>
            <a:ext cx="905256" cy="594360"/>
          </a:xfrm>
          <a:prstGeom prst="rect">
            <a:avLst/>
          </a:prstGeom>
          <a:noFill/>
          <a:ln/>
        </p:spPr>
        <p:txBody>
          <a:bodyPr wrap="square" lIns="0" tIns="0" rIns="0" bIns="0" rtlCol="0" anchor="ctr"/>
          <a:lstStyle/>
          <a:p>
            <a:pPr algn="r" indent="0" marL="0">
              <a:buNone/>
            </a:pPr>
            <a:r>
              <a:rPr lang="en-US" sz="1200" b="1" dirty="0">
                <a:solidFill>
                  <a:schemeClr val="tx1"/>
                </a:solidFill>
              </a:rPr>
              <a:t>₹6,980/q</a:t>
            </a:r>
            <a:endParaRPr lang="en-US" sz="1200" dirty="0"/>
          </a:p>
        </p:txBody>
      </p:sp>
      <p:sp>
        <p:nvSpPr>
          <p:cNvPr id="54" name="Text 50"/>
          <p:cNvSpPr txBox="1"/>
          <p:nvPr/>
        </p:nvSpPr>
        <p:spPr>
          <a:xfrm>
            <a:off x="8979408" y="4663440"/>
            <a:ext cx="1892808" cy="502920"/>
          </a:xfrm>
          <a:prstGeom prst="rect">
            <a:avLst/>
          </a:prstGeom>
          <a:noFill/>
          <a:ln/>
        </p:spPr>
        <p:txBody>
          <a:bodyPr wrap="square" lIns="0" tIns="0" rIns="0" bIns="0" rtlCol="0" anchor="t"/>
          <a:lstStyle/>
          <a:p>
            <a:pPr indent="0" marL="0">
              <a:buNone/>
            </a:pPr>
            <a:r>
              <a:rPr lang="en-US" sz="1100" b="1" dirty="0">
                <a:solidFill>
                  <a:schemeClr val="accent3"/>
                </a:solidFill>
              </a:rPr>
              <a:t>Sell at Amravati: +₹170 per quintal vs. your nearest mandi</a:t>
            </a:r>
            <a:endParaRPr lang="en-US" sz="1100" dirty="0"/>
          </a:p>
        </p:txBody>
      </p:sp>
      <p:sp>
        <p:nvSpPr>
          <p:cNvPr id="55" name="Text 51"/>
          <p:cNvSpPr txBox="1"/>
          <p:nvPr/>
        </p:nvSpPr>
        <p:spPr>
          <a:xfrm>
            <a:off x="8979408" y="5166360"/>
            <a:ext cx="1892808" cy="201168"/>
          </a:xfrm>
          <a:prstGeom prst="rect">
            <a:avLst/>
          </a:prstGeom>
          <a:noFill/>
          <a:ln/>
        </p:spPr>
        <p:txBody>
          <a:bodyPr wrap="square" lIns="0" tIns="0" rIns="0" bIns="0" rtlCol="0" anchor="t"/>
          <a:lstStyle/>
          <a:p>
            <a:pPr indent="0" marL="0">
              <a:buNone/>
            </a:pPr>
            <a:r>
              <a:rPr lang="en-US" sz="900" i="1" dirty="0">
                <a:solidFill>
                  <a:schemeClr val="tx2"/>
                </a:solidFill>
              </a:rPr>
              <a:t>Illustrative prices</a:t>
            </a:r>
            <a:endParaRPr lang="en-US" sz="9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09  ·  IMPACT</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What Success Looks Like</a:t>
            </a:r>
            <a:endParaRPr lang="en-US" sz="3600" dirty="0"/>
          </a:p>
        </p:txBody>
      </p:sp>
      <p:sp>
        <p:nvSpPr>
          <p:cNvPr id="4" name="30% tile"/>
          <p:cNvSpPr/>
          <p:nvPr/>
        </p:nvSpPr>
        <p:spPr>
          <a:xfrm>
            <a:off x="548640" y="1691640"/>
            <a:ext cx="2606040" cy="1828800"/>
          </a:xfrm>
          <a:prstGeom prst="roundRect">
            <a:avLst>
              <a:gd name="adj" fmla="val 6000"/>
            </a:avLst>
          </a:prstGeom>
          <a:solidFill>
            <a:schemeClr val="accent1">
              <a:alpha val="12000"/>
            </a:schemeClr>
          </a:solidFill>
          <a:ln w="9525">
            <a:solidFill>
              <a:schemeClr val="accent1">
                <a:alpha val="50000"/>
              </a:schemeClr>
            </a:solidFill>
            <a:prstDash val="solid"/>
          </a:ln>
        </p:spPr>
      </p:sp>
      <p:sp>
        <p:nvSpPr>
          <p:cNvPr id="5" name="Text 3"/>
          <p:cNvSpPr txBox="1"/>
          <p:nvPr/>
        </p:nvSpPr>
        <p:spPr>
          <a:xfrm>
            <a:off x="777240" y="1783080"/>
            <a:ext cx="2194560" cy="868680"/>
          </a:xfrm>
          <a:prstGeom prst="rect">
            <a:avLst/>
          </a:prstGeom>
          <a:noFill/>
          <a:ln/>
        </p:spPr>
        <p:txBody>
          <a:bodyPr wrap="square" lIns="0" tIns="0" rIns="0" bIns="0" rtlCol="0" anchor="ctr"/>
          <a:lstStyle/>
          <a:p>
            <a:pPr indent="0" marL="0">
              <a:buNone/>
            </a:pPr>
            <a:r>
              <a:rPr lang="en-US" sz="5200" b="1" dirty="0">
                <a:solidFill>
                  <a:schemeClr val="accent1"/>
                </a:solidFill>
                <a:latin typeface="+mj-lt" pitchFamily="34" charset="0"/>
                <a:ea typeface="+mj-lt" pitchFamily="34" charset="-122"/>
                <a:cs typeface="+mj-lt" pitchFamily="34" charset="-120"/>
              </a:rPr>
              <a:t>30%</a:t>
            </a:r>
            <a:endParaRPr lang="en-US" sz="5200" dirty="0"/>
          </a:p>
        </p:txBody>
      </p:sp>
      <p:sp>
        <p:nvSpPr>
          <p:cNvPr id="6" name="Text 4"/>
          <p:cNvSpPr txBox="1"/>
          <p:nvPr/>
        </p:nvSpPr>
        <p:spPr>
          <a:xfrm>
            <a:off x="777240" y="2651760"/>
            <a:ext cx="2194560" cy="731520"/>
          </a:xfrm>
          <a:prstGeom prst="rect">
            <a:avLst/>
          </a:prstGeom>
          <a:noFill/>
          <a:ln/>
        </p:spPr>
        <p:txBody>
          <a:bodyPr wrap="square" lIns="0" tIns="0" rIns="0" bIns="0" rtlCol="0" anchor="t"/>
          <a:lstStyle/>
          <a:p>
            <a:pPr indent="0" marL="0">
              <a:buNone/>
            </a:pPr>
            <a:r>
              <a:rPr lang="en-US" sz="1500" dirty="0">
                <a:solidFill>
                  <a:schemeClr val="bg1"/>
                </a:solidFill>
              </a:rPr>
              <a:t>less crop loss through early disease detection</a:t>
            </a:r>
            <a:endParaRPr lang="en-US" sz="1500" dirty="0"/>
          </a:p>
        </p:txBody>
      </p:sp>
      <p:sp>
        <p:nvSpPr>
          <p:cNvPr id="7" name="20% tile"/>
          <p:cNvSpPr/>
          <p:nvPr/>
        </p:nvSpPr>
        <p:spPr>
          <a:xfrm>
            <a:off x="3364992" y="1691640"/>
            <a:ext cx="2606040" cy="1828800"/>
          </a:xfrm>
          <a:prstGeom prst="roundRect">
            <a:avLst>
              <a:gd name="adj" fmla="val 6000"/>
            </a:avLst>
          </a:prstGeom>
          <a:solidFill>
            <a:schemeClr val="accent1">
              <a:alpha val="12000"/>
            </a:schemeClr>
          </a:solidFill>
          <a:ln w="9525">
            <a:solidFill>
              <a:schemeClr val="accent1">
                <a:alpha val="50000"/>
              </a:schemeClr>
            </a:solidFill>
            <a:prstDash val="solid"/>
          </a:ln>
        </p:spPr>
      </p:sp>
      <p:sp>
        <p:nvSpPr>
          <p:cNvPr id="8" name="Text 6"/>
          <p:cNvSpPr txBox="1"/>
          <p:nvPr/>
        </p:nvSpPr>
        <p:spPr>
          <a:xfrm>
            <a:off x="3593592" y="1783080"/>
            <a:ext cx="2194560" cy="868680"/>
          </a:xfrm>
          <a:prstGeom prst="rect">
            <a:avLst/>
          </a:prstGeom>
          <a:noFill/>
          <a:ln/>
        </p:spPr>
        <p:txBody>
          <a:bodyPr wrap="square" lIns="0" tIns="0" rIns="0" bIns="0" rtlCol="0" anchor="ctr"/>
          <a:lstStyle/>
          <a:p>
            <a:pPr indent="0" marL="0">
              <a:buNone/>
            </a:pPr>
            <a:r>
              <a:rPr lang="en-US" sz="5200" b="1" dirty="0">
                <a:solidFill>
                  <a:schemeClr val="accent1"/>
                </a:solidFill>
                <a:latin typeface="+mj-lt" pitchFamily="34" charset="0"/>
                <a:ea typeface="+mj-lt" pitchFamily="34" charset="-122"/>
                <a:cs typeface="+mj-lt" pitchFamily="34" charset="-120"/>
              </a:rPr>
              <a:t>20%</a:t>
            </a:r>
            <a:endParaRPr lang="en-US" sz="5200" dirty="0"/>
          </a:p>
        </p:txBody>
      </p:sp>
      <p:sp>
        <p:nvSpPr>
          <p:cNvPr id="9" name="Text 7"/>
          <p:cNvSpPr txBox="1"/>
          <p:nvPr/>
        </p:nvSpPr>
        <p:spPr>
          <a:xfrm>
            <a:off x="3593592" y="2651760"/>
            <a:ext cx="2194560" cy="731520"/>
          </a:xfrm>
          <a:prstGeom prst="rect">
            <a:avLst/>
          </a:prstGeom>
          <a:noFill/>
          <a:ln/>
        </p:spPr>
        <p:txBody>
          <a:bodyPr wrap="square" lIns="0" tIns="0" rIns="0" bIns="0" rtlCol="0" anchor="t"/>
          <a:lstStyle/>
          <a:p>
            <a:pPr indent="0" marL="0">
              <a:buNone/>
            </a:pPr>
            <a:r>
              <a:rPr lang="en-US" sz="1500" dirty="0">
                <a:solidFill>
                  <a:schemeClr val="bg1"/>
                </a:solidFill>
              </a:rPr>
              <a:t>lower spend on pesticides and fertiliser</a:t>
            </a:r>
            <a:endParaRPr lang="en-US" sz="1500" dirty="0"/>
          </a:p>
        </p:txBody>
      </p:sp>
      <p:sp>
        <p:nvSpPr>
          <p:cNvPr id="10" name="15% tile"/>
          <p:cNvSpPr/>
          <p:nvPr/>
        </p:nvSpPr>
        <p:spPr>
          <a:xfrm>
            <a:off x="6181344" y="1691640"/>
            <a:ext cx="2606040" cy="1828800"/>
          </a:xfrm>
          <a:prstGeom prst="roundRect">
            <a:avLst>
              <a:gd name="adj" fmla="val 6000"/>
            </a:avLst>
          </a:prstGeom>
          <a:solidFill>
            <a:schemeClr val="accent1">
              <a:alpha val="12000"/>
            </a:schemeClr>
          </a:solidFill>
          <a:ln w="9525">
            <a:solidFill>
              <a:schemeClr val="accent1">
                <a:alpha val="50000"/>
              </a:schemeClr>
            </a:solidFill>
            <a:prstDash val="solid"/>
          </a:ln>
        </p:spPr>
      </p:sp>
      <p:sp>
        <p:nvSpPr>
          <p:cNvPr id="11" name="Text 9"/>
          <p:cNvSpPr txBox="1"/>
          <p:nvPr/>
        </p:nvSpPr>
        <p:spPr>
          <a:xfrm>
            <a:off x="6409944" y="1783080"/>
            <a:ext cx="2194560" cy="868680"/>
          </a:xfrm>
          <a:prstGeom prst="rect">
            <a:avLst/>
          </a:prstGeom>
          <a:noFill/>
          <a:ln/>
        </p:spPr>
        <p:txBody>
          <a:bodyPr wrap="square" lIns="0" tIns="0" rIns="0" bIns="0" rtlCol="0" anchor="ctr"/>
          <a:lstStyle/>
          <a:p>
            <a:pPr indent="0" marL="0">
              <a:buNone/>
            </a:pPr>
            <a:r>
              <a:rPr lang="en-US" sz="5200" b="1" dirty="0">
                <a:solidFill>
                  <a:schemeClr val="accent1"/>
                </a:solidFill>
                <a:latin typeface="+mj-lt" pitchFamily="34" charset="0"/>
                <a:ea typeface="+mj-lt" pitchFamily="34" charset="-122"/>
                <a:cs typeface="+mj-lt" pitchFamily="34" charset="-120"/>
              </a:rPr>
              <a:t>15%</a:t>
            </a:r>
            <a:endParaRPr lang="en-US" sz="5200" dirty="0"/>
          </a:p>
        </p:txBody>
      </p:sp>
      <p:sp>
        <p:nvSpPr>
          <p:cNvPr id="12" name="Text 10"/>
          <p:cNvSpPr txBox="1"/>
          <p:nvPr/>
        </p:nvSpPr>
        <p:spPr>
          <a:xfrm>
            <a:off x="6409944" y="2651760"/>
            <a:ext cx="2194560" cy="731520"/>
          </a:xfrm>
          <a:prstGeom prst="rect">
            <a:avLst/>
          </a:prstGeom>
          <a:noFill/>
          <a:ln/>
        </p:spPr>
        <p:txBody>
          <a:bodyPr wrap="square" lIns="0" tIns="0" rIns="0" bIns="0" rtlCol="0" anchor="t"/>
          <a:lstStyle/>
          <a:p>
            <a:pPr indent="0" marL="0">
              <a:buNone/>
            </a:pPr>
            <a:r>
              <a:rPr lang="en-US" sz="1500" dirty="0">
                <a:solidFill>
                  <a:schemeClr val="bg1"/>
                </a:solidFill>
              </a:rPr>
              <a:t>better price by selling at the right mandi</a:t>
            </a:r>
            <a:endParaRPr lang="en-US" sz="1500" dirty="0"/>
          </a:p>
        </p:txBody>
      </p:sp>
      <p:sp>
        <p:nvSpPr>
          <p:cNvPr id="13" name="1M tile"/>
          <p:cNvSpPr/>
          <p:nvPr/>
        </p:nvSpPr>
        <p:spPr>
          <a:xfrm>
            <a:off x="8997696" y="1691640"/>
            <a:ext cx="2606040" cy="1828800"/>
          </a:xfrm>
          <a:prstGeom prst="roundRect">
            <a:avLst>
              <a:gd name="adj" fmla="val 6000"/>
            </a:avLst>
          </a:prstGeom>
          <a:solidFill>
            <a:schemeClr val="accent1">
              <a:alpha val="12000"/>
            </a:schemeClr>
          </a:solidFill>
          <a:ln w="9525">
            <a:solidFill>
              <a:schemeClr val="accent1">
                <a:alpha val="50000"/>
              </a:schemeClr>
            </a:solidFill>
            <a:prstDash val="solid"/>
          </a:ln>
        </p:spPr>
      </p:sp>
      <p:sp>
        <p:nvSpPr>
          <p:cNvPr id="14" name="Text 12"/>
          <p:cNvSpPr txBox="1"/>
          <p:nvPr/>
        </p:nvSpPr>
        <p:spPr>
          <a:xfrm>
            <a:off x="9226296" y="1783080"/>
            <a:ext cx="2194560" cy="868680"/>
          </a:xfrm>
          <a:prstGeom prst="rect">
            <a:avLst/>
          </a:prstGeom>
          <a:noFill/>
          <a:ln/>
        </p:spPr>
        <p:txBody>
          <a:bodyPr wrap="square" lIns="0" tIns="0" rIns="0" bIns="0" rtlCol="0" anchor="ctr"/>
          <a:lstStyle/>
          <a:p>
            <a:pPr indent="0" marL="0">
              <a:buNone/>
            </a:pPr>
            <a:r>
              <a:rPr lang="en-US" sz="5200" b="1" dirty="0">
                <a:solidFill>
                  <a:schemeClr val="accent1"/>
                </a:solidFill>
                <a:latin typeface="+mj-lt" pitchFamily="34" charset="0"/>
                <a:ea typeface="+mj-lt" pitchFamily="34" charset="-122"/>
                <a:cs typeface="+mj-lt" pitchFamily="34" charset="-120"/>
              </a:rPr>
              <a:t>1M</a:t>
            </a:r>
            <a:endParaRPr lang="en-US" sz="5200" dirty="0"/>
          </a:p>
        </p:txBody>
      </p:sp>
      <p:sp>
        <p:nvSpPr>
          <p:cNvPr id="15" name="Text 13"/>
          <p:cNvSpPr txBox="1"/>
          <p:nvPr/>
        </p:nvSpPr>
        <p:spPr>
          <a:xfrm>
            <a:off x="9226296" y="2651760"/>
            <a:ext cx="2194560" cy="731520"/>
          </a:xfrm>
          <a:prstGeom prst="rect">
            <a:avLst/>
          </a:prstGeom>
          <a:noFill/>
          <a:ln/>
        </p:spPr>
        <p:txBody>
          <a:bodyPr wrap="square" lIns="0" tIns="0" rIns="0" bIns="0" rtlCol="0" anchor="t"/>
          <a:lstStyle/>
          <a:p>
            <a:pPr indent="0" marL="0">
              <a:buNone/>
            </a:pPr>
            <a:r>
              <a:rPr lang="en-US" sz="1500" dirty="0">
                <a:solidFill>
                  <a:schemeClr val="bg1"/>
                </a:solidFill>
              </a:rPr>
              <a:t>farmers reached within 18 months</a:t>
            </a:r>
            <a:endParaRPr lang="en-US" sz="1500" dirty="0"/>
          </a:p>
        </p:txBody>
      </p:sp>
      <p:sp>
        <p:nvSpPr>
          <p:cNvPr id="16" name="Text 14"/>
          <p:cNvSpPr txBox="1"/>
          <p:nvPr/>
        </p:nvSpPr>
        <p:spPr>
          <a:xfrm>
            <a:off x="548640" y="3584448"/>
            <a:ext cx="11064240" cy="274320"/>
          </a:xfrm>
          <a:prstGeom prst="rect">
            <a:avLst/>
          </a:prstGeom>
          <a:noFill/>
          <a:ln/>
        </p:spPr>
        <p:txBody>
          <a:bodyPr wrap="square" lIns="0" tIns="0" rIns="0" bIns="0" rtlCol="0" anchor="t"/>
          <a:lstStyle/>
          <a:p>
            <a:pPr indent="0" marL="0">
              <a:buNone/>
            </a:pPr>
            <a:r>
              <a:rPr lang="en-US" sz="1100" i="1" dirty="0">
                <a:solidFill>
                  <a:schemeClr val="bg2"/>
                </a:solidFill>
              </a:rPr>
              <a:t>Pilot targets, to be validated in our 500-farmer field pilot</a:t>
            </a:r>
            <a:endParaRPr lang="en-US" sz="1100" dirty="0"/>
          </a:p>
        </p:txBody>
      </p:sp>
      <p:sp>
        <p:nvSpPr>
          <p:cNvPr id="17" name="For the Farmer card"/>
          <p:cNvSpPr/>
          <p:nvPr/>
        </p:nvSpPr>
        <p:spPr>
          <a:xfrm>
            <a:off x="548640" y="4023360"/>
            <a:ext cx="3520440" cy="2057400"/>
          </a:xfrm>
          <a:prstGeom prst="roundRect">
            <a:avLst>
              <a:gd name="adj" fmla="val 5333"/>
            </a:avLst>
          </a:prstGeom>
          <a:solidFill>
            <a:schemeClr val="tx2">
              <a:alpha val="85000"/>
            </a:schemeClr>
          </a:solidFill>
          <a:ln w="9525">
            <a:solidFill>
              <a:schemeClr val="accent2">
                <a:alpha val="35000"/>
              </a:schemeClr>
            </a:solidFill>
            <a:prstDash val="solid"/>
          </a:ln>
        </p:spPr>
      </p:sp>
      <p:sp>
        <p:nvSpPr>
          <p:cNvPr id="18" name="For the Farmer circle"/>
          <p:cNvSpPr/>
          <p:nvPr/>
        </p:nvSpPr>
        <p:spPr>
          <a:xfrm>
            <a:off x="822960" y="4297680"/>
            <a:ext cx="731520" cy="731520"/>
          </a:xfrm>
          <a:prstGeom prst="ellipse">
            <a:avLst/>
          </a:prstGeom>
          <a:solidFill>
            <a:schemeClr val="accent2"/>
          </a:solidFill>
          <a:ln/>
        </p:spPr>
      </p:sp>
      <p:pic>
        <p:nvPicPr>
          <p:cNvPr id="19" name="For the Farmer icon" descr="For the Farmer">    </p:cNvPr>
          <p:cNvPicPr>
            <a:picLocks noChangeAspect="1"/>
          </p:cNvPicPr>
          <p:nvPr/>
        </p:nvPicPr>
        <p:blipFill>
          <a:blip r:embed="rId1"/>
          <a:stretch>
            <a:fillRect/>
          </a:stretch>
        </p:blipFill>
        <p:spPr>
          <a:xfrm>
            <a:off x="998525" y="4473245"/>
            <a:ext cx="380390" cy="380390"/>
          </a:xfrm>
          <a:prstGeom prst="rect">
            <a:avLst/>
          </a:prstGeom>
        </p:spPr>
      </p:pic>
      <p:sp>
        <p:nvSpPr>
          <p:cNvPr id="20" name="Text 17"/>
          <p:cNvSpPr txBox="1"/>
          <p:nvPr/>
        </p:nvSpPr>
        <p:spPr>
          <a:xfrm>
            <a:off x="1737360" y="4297680"/>
            <a:ext cx="2194560" cy="731520"/>
          </a:xfrm>
          <a:prstGeom prst="rect">
            <a:avLst/>
          </a:prstGeom>
          <a:noFill/>
          <a:ln/>
        </p:spPr>
        <p:txBody>
          <a:bodyPr wrap="square" lIns="0" tIns="0" rIns="0" bIns="0" rtlCol="0" anchor="ctr"/>
          <a:lstStyle/>
          <a:p>
            <a:pPr indent="0" marL="0">
              <a:buNone/>
            </a:pPr>
            <a:r>
              <a:rPr lang="en-US" sz="1900" b="1" dirty="0">
                <a:solidFill>
                  <a:schemeClr val="bg1"/>
                </a:solidFill>
              </a:rPr>
              <a:t>For the Farmer</a:t>
            </a:r>
            <a:endParaRPr lang="en-US" sz="1900" dirty="0"/>
          </a:p>
        </p:txBody>
      </p:sp>
      <p:sp>
        <p:nvSpPr>
          <p:cNvPr id="21" name="Text 18"/>
          <p:cNvSpPr txBox="1"/>
          <p:nvPr/>
        </p:nvSpPr>
        <p:spPr>
          <a:xfrm>
            <a:off x="822960" y="5166360"/>
            <a:ext cx="2971800" cy="822960"/>
          </a:xfrm>
          <a:prstGeom prst="rect">
            <a:avLst/>
          </a:prstGeom>
          <a:noFill/>
          <a:ln/>
        </p:spPr>
        <p:txBody>
          <a:bodyPr wrap="square" lIns="0" tIns="0" rIns="0" bIns="0" rtlCol="0" anchor="t"/>
          <a:lstStyle/>
          <a:p>
            <a:pPr indent="0" marL="0">
              <a:buNone/>
            </a:pPr>
            <a:r>
              <a:rPr lang="en-US" sz="1500" dirty="0">
                <a:solidFill>
                  <a:schemeClr val="bg2"/>
                </a:solidFill>
              </a:rPr>
              <a:t>More income, less risk, and decisions made in their own language.</a:t>
            </a:r>
            <a:endParaRPr lang="en-US" sz="1500" dirty="0"/>
          </a:p>
        </p:txBody>
      </p:sp>
      <p:sp>
        <p:nvSpPr>
          <p:cNvPr id="22" name="For the Planet card"/>
          <p:cNvSpPr/>
          <p:nvPr/>
        </p:nvSpPr>
        <p:spPr>
          <a:xfrm>
            <a:off x="4334256" y="4023360"/>
            <a:ext cx="3520440" cy="2057400"/>
          </a:xfrm>
          <a:prstGeom prst="roundRect">
            <a:avLst>
              <a:gd name="adj" fmla="val 5333"/>
            </a:avLst>
          </a:prstGeom>
          <a:solidFill>
            <a:schemeClr val="tx2">
              <a:alpha val="85000"/>
            </a:schemeClr>
          </a:solidFill>
          <a:ln w="9525">
            <a:solidFill>
              <a:schemeClr val="accent2">
                <a:alpha val="35000"/>
              </a:schemeClr>
            </a:solidFill>
            <a:prstDash val="solid"/>
          </a:ln>
        </p:spPr>
      </p:sp>
      <p:sp>
        <p:nvSpPr>
          <p:cNvPr id="23" name="For the Planet circle"/>
          <p:cNvSpPr/>
          <p:nvPr/>
        </p:nvSpPr>
        <p:spPr>
          <a:xfrm>
            <a:off x="4608576" y="4297680"/>
            <a:ext cx="731520" cy="731520"/>
          </a:xfrm>
          <a:prstGeom prst="ellipse">
            <a:avLst/>
          </a:prstGeom>
          <a:solidFill>
            <a:schemeClr val="accent2"/>
          </a:solidFill>
          <a:ln/>
        </p:spPr>
      </p:sp>
      <p:pic>
        <p:nvPicPr>
          <p:cNvPr id="24" name="For the Planet icon" descr="For the Planet">    </p:cNvPr>
          <p:cNvPicPr>
            <a:picLocks noChangeAspect="1"/>
          </p:cNvPicPr>
          <p:nvPr/>
        </p:nvPicPr>
        <p:blipFill>
          <a:blip r:embed="rId2"/>
          <a:stretch>
            <a:fillRect/>
          </a:stretch>
        </p:blipFill>
        <p:spPr>
          <a:xfrm>
            <a:off x="4784141" y="4473245"/>
            <a:ext cx="380390" cy="380390"/>
          </a:xfrm>
          <a:prstGeom prst="rect">
            <a:avLst/>
          </a:prstGeom>
        </p:spPr>
      </p:pic>
      <p:sp>
        <p:nvSpPr>
          <p:cNvPr id="25" name="Text 21"/>
          <p:cNvSpPr txBox="1"/>
          <p:nvPr/>
        </p:nvSpPr>
        <p:spPr>
          <a:xfrm>
            <a:off x="5522976" y="4297680"/>
            <a:ext cx="2194560" cy="731520"/>
          </a:xfrm>
          <a:prstGeom prst="rect">
            <a:avLst/>
          </a:prstGeom>
          <a:noFill/>
          <a:ln/>
        </p:spPr>
        <p:txBody>
          <a:bodyPr wrap="square" lIns="0" tIns="0" rIns="0" bIns="0" rtlCol="0" anchor="ctr"/>
          <a:lstStyle/>
          <a:p>
            <a:pPr indent="0" marL="0">
              <a:buNone/>
            </a:pPr>
            <a:r>
              <a:rPr lang="en-US" sz="1900" b="1" dirty="0">
                <a:solidFill>
                  <a:schemeClr val="bg1"/>
                </a:solidFill>
              </a:rPr>
              <a:t>For the Planet</a:t>
            </a:r>
            <a:endParaRPr lang="en-US" sz="1900" dirty="0"/>
          </a:p>
        </p:txBody>
      </p:sp>
      <p:sp>
        <p:nvSpPr>
          <p:cNvPr id="26" name="Text 22"/>
          <p:cNvSpPr txBox="1"/>
          <p:nvPr/>
        </p:nvSpPr>
        <p:spPr>
          <a:xfrm>
            <a:off x="4608576" y="5166360"/>
            <a:ext cx="2971800" cy="822960"/>
          </a:xfrm>
          <a:prstGeom prst="rect">
            <a:avLst/>
          </a:prstGeom>
          <a:noFill/>
          <a:ln/>
        </p:spPr>
        <p:txBody>
          <a:bodyPr wrap="square" lIns="0" tIns="0" rIns="0" bIns="0" rtlCol="0" anchor="t"/>
          <a:lstStyle/>
          <a:p>
            <a:pPr indent="0" marL="0">
              <a:buNone/>
            </a:pPr>
            <a:r>
              <a:rPr lang="en-US" sz="1500" dirty="0">
                <a:solidFill>
                  <a:schemeClr val="bg2"/>
                </a:solidFill>
              </a:rPr>
              <a:t>The right chemical dose, smarter water use and healthier soil.</a:t>
            </a:r>
            <a:endParaRPr lang="en-US" sz="1500" dirty="0"/>
          </a:p>
        </p:txBody>
      </p:sp>
      <p:sp>
        <p:nvSpPr>
          <p:cNvPr id="27" name="For the Nation card"/>
          <p:cNvSpPr/>
          <p:nvPr/>
        </p:nvSpPr>
        <p:spPr>
          <a:xfrm>
            <a:off x="8119872" y="4023360"/>
            <a:ext cx="3520440" cy="2057400"/>
          </a:xfrm>
          <a:prstGeom prst="roundRect">
            <a:avLst>
              <a:gd name="adj" fmla="val 5333"/>
            </a:avLst>
          </a:prstGeom>
          <a:solidFill>
            <a:schemeClr val="tx2">
              <a:alpha val="85000"/>
            </a:schemeClr>
          </a:solidFill>
          <a:ln w="9525">
            <a:solidFill>
              <a:schemeClr val="accent2">
                <a:alpha val="35000"/>
              </a:schemeClr>
            </a:solidFill>
            <a:prstDash val="solid"/>
          </a:ln>
        </p:spPr>
      </p:sp>
      <p:sp>
        <p:nvSpPr>
          <p:cNvPr id="28" name="For the Nation circle"/>
          <p:cNvSpPr/>
          <p:nvPr/>
        </p:nvSpPr>
        <p:spPr>
          <a:xfrm>
            <a:off x="8394192" y="4297680"/>
            <a:ext cx="731520" cy="731520"/>
          </a:xfrm>
          <a:prstGeom prst="ellipse">
            <a:avLst/>
          </a:prstGeom>
          <a:solidFill>
            <a:schemeClr val="accent2"/>
          </a:solidFill>
          <a:ln/>
        </p:spPr>
      </p:sp>
      <p:pic>
        <p:nvPicPr>
          <p:cNvPr id="29" name="For the Nation icon" descr="For the Nation">    </p:cNvPr>
          <p:cNvPicPr>
            <a:picLocks noChangeAspect="1"/>
          </p:cNvPicPr>
          <p:nvPr/>
        </p:nvPicPr>
        <p:blipFill>
          <a:blip r:embed="rId3"/>
          <a:stretch>
            <a:fillRect/>
          </a:stretch>
        </p:blipFill>
        <p:spPr>
          <a:xfrm>
            <a:off x="8569757" y="4473245"/>
            <a:ext cx="380390" cy="380390"/>
          </a:xfrm>
          <a:prstGeom prst="rect">
            <a:avLst/>
          </a:prstGeom>
        </p:spPr>
      </p:pic>
      <p:sp>
        <p:nvSpPr>
          <p:cNvPr id="30" name="Text 25"/>
          <p:cNvSpPr txBox="1"/>
          <p:nvPr/>
        </p:nvSpPr>
        <p:spPr>
          <a:xfrm>
            <a:off x="9308592" y="4297680"/>
            <a:ext cx="2194560" cy="731520"/>
          </a:xfrm>
          <a:prstGeom prst="rect">
            <a:avLst/>
          </a:prstGeom>
          <a:noFill/>
          <a:ln/>
        </p:spPr>
        <p:txBody>
          <a:bodyPr wrap="square" lIns="0" tIns="0" rIns="0" bIns="0" rtlCol="0" anchor="ctr"/>
          <a:lstStyle/>
          <a:p>
            <a:pPr indent="0" marL="0">
              <a:buNone/>
            </a:pPr>
            <a:r>
              <a:rPr lang="en-US" sz="1900" b="1" dirty="0">
                <a:solidFill>
                  <a:schemeClr val="bg1"/>
                </a:solidFill>
              </a:rPr>
              <a:t>For the Nation</a:t>
            </a:r>
            <a:endParaRPr lang="en-US" sz="1900" dirty="0"/>
          </a:p>
        </p:txBody>
      </p:sp>
      <p:sp>
        <p:nvSpPr>
          <p:cNvPr id="31" name="Text 26"/>
          <p:cNvSpPr txBox="1"/>
          <p:nvPr/>
        </p:nvSpPr>
        <p:spPr>
          <a:xfrm>
            <a:off x="8394192" y="5166360"/>
            <a:ext cx="2971800" cy="822960"/>
          </a:xfrm>
          <a:prstGeom prst="rect">
            <a:avLst/>
          </a:prstGeom>
          <a:noFill/>
          <a:ln/>
        </p:spPr>
        <p:txBody>
          <a:bodyPr wrap="square" lIns="0" tIns="0" rIns="0" bIns="0" rtlCol="0" anchor="t"/>
          <a:lstStyle/>
          <a:p>
            <a:pPr indent="0" marL="0">
              <a:buNone/>
            </a:pPr>
            <a:r>
              <a:rPr lang="en-US" sz="1500" dirty="0">
                <a:solidFill>
                  <a:schemeClr val="bg2"/>
                </a:solidFill>
              </a:rPr>
              <a:t>Stronger food security that advances SDG 2: Zero Hunger.</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10  ·  WHY US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What Makes KrishiMitra Different</a:t>
            </a:r>
            <a:endParaRPr lang="en-US" sz="3600" dirty="0"/>
          </a:p>
        </p:txBody>
      </p:sp>
      <p:graphicFrame>
        <p:nvGraphicFramePr>
          <p:cNvPr id="13" name="Comparison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4206240"/>
                <a:gridCol w="2286000"/>
                <a:gridCol w="2286000"/>
                <a:gridCol w="2313432"/>
              </a:tblGrid>
              <a:tr h="548640">
                <a:tc>
                  <a:txBody>
                    <a:bodyPr/>
                    <a:lstStyle/>
                    <a:p>
                      <a:pPr algn="l" indent="0" marL="0">
                        <a:buNone/>
                      </a:pPr>
                      <a:r>
                        <a:rPr lang="en-US" sz="1500" b="1" dirty="0">
                          <a:solidFill>
                            <a:schemeClr val="bg1"/>
                          </a:solidFill>
                        </a:rPr>
                        <a:t>Capability</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rPr>
                        <a:t>Generic Agri Apps</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rPr>
                        <a:t>Kisan Call Centre</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tx1"/>
                          </a:solidFill>
                        </a:rPr>
                        <a:t>KrishiMitra AI</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accent1"/>
                    </a:solidFill>
                  </a:tcPr>
                </a:tc>
              </a:tr>
              <a:tr h="548640">
                <a:tc>
                  <a:txBody>
                    <a:bodyPr/>
                    <a:lstStyle/>
                    <a:p>
                      <a:pPr indent="0" marL="0">
                        <a:buNone/>
                      </a:pPr>
                      <a:r>
                        <a:rPr lang="en-US" sz="1500" dirty="0">
                          <a:solidFill>
                            <a:schemeClr val="bg1"/>
                          </a:solidFill>
                        </a:rPr>
                        <a:t>Photo-based disease diagnosis</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accent1"/>
                          </a:solidFill>
                        </a:rPr>
                        <a:t>Partial</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accent4"/>
                          </a:solidFill>
                        </a:rPr>
                        <a:t>No</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accent2"/>
                          </a:solidFill>
                        </a:rPr>
                        <a:t>Yes</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accent1">
                        <a:alpha val="20000"/>
                      </a:schemeClr>
                    </a:solidFill>
                  </a:tcPr>
                </a:tc>
              </a:tr>
              <a:tr h="548640">
                <a:tc>
                  <a:txBody>
                    <a:bodyPr/>
                    <a:lstStyle/>
                    <a:p>
                      <a:pPr indent="0" marL="0">
                        <a:buNone/>
                      </a:pPr>
                      <a:r>
                        <a:rPr lang="en-US" sz="1500" dirty="0">
                          <a:solidFill>
                            <a:schemeClr val="bg1"/>
                          </a:solidFill>
                        </a:rPr>
                        <a:t>Voice, in the farmer's own language</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1"/>
                          </a:solidFill>
                        </a:rPr>
                        <a:t>Partial</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2"/>
                          </a:solidFill>
                        </a:rPr>
                        <a:t>Yes</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2"/>
                          </a:solidFill>
                        </a:rPr>
                        <a:t>Yes</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accent1">
                        <a:alpha val="20000"/>
                      </a:schemeClr>
                    </a:solidFill>
                  </a:tcPr>
                </a:tc>
              </a:tr>
              <a:tr h="548640">
                <a:tc>
                  <a:txBody>
                    <a:bodyPr/>
                    <a:lstStyle/>
                    <a:p>
                      <a:pPr indent="0" marL="0">
                        <a:buNone/>
                      </a:pPr>
                      <a:r>
                        <a:rPr lang="en-US" sz="1500" dirty="0">
                          <a:solidFill>
                            <a:schemeClr val="bg1"/>
                          </a:solidFill>
                        </a:rPr>
                        <a:t>Advice tailored to farm, weather &amp; soil</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accent1"/>
                          </a:solidFill>
                        </a:rPr>
                        <a:t>Partial</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accent1"/>
                          </a:solidFill>
                        </a:rPr>
                        <a:t>Partial</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accent2"/>
                          </a:solidFill>
                        </a:rPr>
                        <a:t>Yes</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accent1">
                        <a:alpha val="20000"/>
                      </a:schemeClr>
                    </a:solidFill>
                  </a:tcPr>
                </a:tc>
              </a:tr>
              <a:tr h="548640">
                <a:tc>
                  <a:txBody>
                    <a:bodyPr/>
                    <a:lstStyle/>
                    <a:p>
                      <a:pPr indent="0" marL="0">
                        <a:buNone/>
                      </a:pPr>
                      <a:r>
                        <a:rPr lang="en-US" sz="1500" dirty="0">
                          <a:solidFill>
                            <a:schemeClr val="bg1"/>
                          </a:solidFill>
                        </a:rPr>
                        <a:t>Live mandi prices + best place to sell</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1"/>
                          </a:solidFill>
                        </a:rPr>
                        <a:t>Partial</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1"/>
                          </a:solidFill>
                        </a:rPr>
                        <a:t>Partial</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2"/>
                          </a:solidFill>
                        </a:rPr>
                        <a:t>Yes</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accent1">
                        <a:alpha val="20000"/>
                      </a:schemeClr>
                    </a:solidFill>
                  </a:tcPr>
                </a:tc>
              </a:tr>
              <a:tr h="548640">
                <a:tc>
                  <a:txBody>
                    <a:bodyPr/>
                    <a:lstStyle/>
                    <a:p>
                      <a:pPr indent="0" marL="0">
                        <a:buNone/>
                      </a:pPr>
                      <a:r>
                        <a:rPr lang="en-US" sz="1500" dirty="0">
                          <a:solidFill>
                            <a:schemeClr val="bg1"/>
                          </a:solidFill>
                        </a:rPr>
                        <a:t>Instant answers, 24 × 7</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accent2"/>
                          </a:solidFill>
                        </a:rPr>
                        <a:t>Yes</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accent1"/>
                          </a:solidFill>
                        </a:rPr>
                        <a:t>Partial</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accent2"/>
                          </a:solidFill>
                        </a:rPr>
                        <a:t>Yes</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accent1">
                        <a:alpha val="20000"/>
                      </a:schemeClr>
                    </a:solidFill>
                  </a:tcPr>
                </a:tc>
              </a:tr>
              <a:tr h="548640">
                <a:tc>
                  <a:txBody>
                    <a:bodyPr/>
                    <a:lstStyle/>
                    <a:p>
                      <a:pPr indent="0" marL="0">
                        <a:buNone/>
                      </a:pPr>
                      <a:r>
                        <a:rPr lang="en-US" sz="1500" dirty="0">
                          <a:solidFill>
                            <a:schemeClr val="bg1"/>
                          </a:solidFill>
                        </a:rPr>
                        <a:t>Works without a smartphone</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4"/>
                          </a:solidFill>
                        </a:rPr>
                        <a:t>No</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2"/>
                          </a:solidFill>
                        </a:rPr>
                        <a:t>Yes</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accent2"/>
                          </a:solidFill>
                        </a:rPr>
                        <a:t>Yes</a:t>
                      </a:r>
                      <a:endParaRPr lang="en-US" sz="1500" dirty="0"/>
                    </a:p>
                  </a:txBody>
                  <a:tcPr marL="137160" marR="137160" marT="0" marB="0" anchor="ctr">
                    <a:lnL w="9525" cap="flat" cmpd="sng" algn="ctr">
                      <a:solidFill>
                        <a:srgbClr val="14392A"/>
                      </a:solidFill>
                      <a:prstDash val="solid"/>
                      <a:round/>
                      <a:headEnd type="none" w="med" len="med"/>
                      <a:tailEnd type="none" w="med" len="med"/>
                    </a:lnL>
                    <a:lnR w="9525" cap="flat" cmpd="sng" algn="ctr">
                      <a:solidFill>
                        <a:srgbClr val="14392A"/>
                      </a:solidFill>
                      <a:prstDash val="solid"/>
                      <a:round/>
                      <a:headEnd type="none" w="med" len="med"/>
                      <a:tailEnd type="none" w="med" len="med"/>
                    </a:lnR>
                    <a:lnT w="9525" cap="flat" cmpd="sng" algn="ctr">
                      <a:solidFill>
                        <a:srgbClr val="14392A"/>
                      </a:solidFill>
                      <a:prstDash val="solid"/>
                      <a:round/>
                      <a:headEnd type="none" w="med" len="med"/>
                      <a:tailEnd type="none" w="med" len="med"/>
                    </a:lnT>
                    <a:lnB w="9525" cap="flat" cmpd="sng" algn="ctr">
                      <a:solidFill>
                        <a:srgbClr val="14392A"/>
                      </a:solidFill>
                      <a:prstDash val="solid"/>
                      <a:round/>
                      <a:headEnd type="none" w="med" len="med"/>
                      <a:tailEnd type="none" w="med" len="med"/>
                    </a:lnB>
                    <a:solidFill>
                      <a:schemeClr val="accent1">
                        <a:alpha val="20000"/>
                      </a:schemeClr>
                    </a:solidFill>
                  </a:tcPr>
                </a:tc>
              </a:tr>
            </a:tbl>
          </a:graphicData>
        </a:graphic>
      </p:graphicFrame>
      <p:sp>
        <p:nvSpPr>
          <p:cNvPr id="5" name="Edge circle"/>
          <p:cNvSpPr/>
          <p:nvPr/>
        </p:nvSpPr>
        <p:spPr>
          <a:xfrm>
            <a:off x="548640" y="5623560"/>
            <a:ext cx="502920" cy="502920"/>
          </a:xfrm>
          <a:prstGeom prst="ellipse">
            <a:avLst/>
          </a:prstGeom>
          <a:solidFill>
            <a:schemeClr val="accent1"/>
          </a:solidFill>
          <a:ln/>
        </p:spPr>
      </p:sp>
      <p:pic>
        <p:nvPicPr>
          <p:cNvPr id="6" name="Edge icon" descr="Edge">    </p:cNvPr>
          <p:cNvPicPr>
            <a:picLocks noChangeAspect="1"/>
          </p:cNvPicPr>
          <p:nvPr/>
        </p:nvPicPr>
        <p:blipFill>
          <a:blip r:embed="rId1"/>
          <a:stretch>
            <a:fillRect/>
          </a:stretch>
        </p:blipFill>
        <p:spPr>
          <a:xfrm>
            <a:off x="669341" y="5744261"/>
            <a:ext cx="261518" cy="261518"/>
          </a:xfrm>
          <a:prstGeom prst="rect">
            <a:avLst/>
          </a:prstGeom>
        </p:spPr>
      </p:pic>
      <p:sp>
        <p:nvSpPr>
          <p:cNvPr id="7" name="Text 3"/>
          <p:cNvSpPr txBox="1"/>
          <p:nvPr/>
        </p:nvSpPr>
        <p:spPr>
          <a:xfrm>
            <a:off x="1234440" y="5623560"/>
            <a:ext cx="10332720" cy="502920"/>
          </a:xfrm>
          <a:prstGeom prst="rect">
            <a:avLst/>
          </a:prstGeom>
          <a:noFill/>
          <a:ln/>
        </p:spPr>
        <p:txBody>
          <a:bodyPr wrap="square" lIns="0" tIns="0" rIns="0" bIns="0" rtlCol="0" anchor="ctr"/>
          <a:lstStyle/>
          <a:p>
            <a:pPr indent="0" marL="0">
              <a:buNone/>
            </a:pPr>
            <a:r>
              <a:rPr lang="en-US" sz="1600" b="1" dirty="0">
                <a:solidFill>
                  <a:schemeClr val="accent1"/>
                </a:solidFill>
              </a:rPr>
              <a:t>Our edge: one assistant that sees, listens and speaks the farmer's language.</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11  ·  BUSINESS MODEL</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Free for Farmers, Sustainable by Design</a:t>
            </a:r>
            <a:endParaRPr lang="en-US" sz="3600" dirty="0"/>
          </a:p>
        </p:txBody>
      </p:sp>
      <p:sp>
        <p:nvSpPr>
          <p:cNvPr id="4" name="Free card"/>
          <p:cNvSpPr/>
          <p:nvPr/>
        </p:nvSpPr>
        <p:spPr>
          <a:xfrm>
            <a:off x="548640" y="1691640"/>
            <a:ext cx="3840480" cy="4389120"/>
          </a:xfrm>
          <a:prstGeom prst="roundRect">
            <a:avLst>
              <a:gd name="adj" fmla="val 2857"/>
            </a:avLst>
          </a:prstGeom>
          <a:solidFill>
            <a:schemeClr val="accent1"/>
          </a:solidFill>
          <a:ln/>
        </p:spPr>
      </p:sp>
      <p:pic>
        <p:nvPicPr>
          <p:cNvPr id="5" name="Farmer icon" descr="Farmer">    </p:cNvPr>
          <p:cNvPicPr>
            <a:picLocks noChangeAspect="1"/>
          </p:cNvPicPr>
          <p:nvPr/>
        </p:nvPicPr>
        <p:blipFill>
          <a:blip r:embed="rId1"/>
          <a:stretch>
            <a:fillRect/>
          </a:stretch>
        </p:blipFill>
        <p:spPr>
          <a:xfrm>
            <a:off x="868680" y="2148840"/>
            <a:ext cx="1005840" cy="1005840"/>
          </a:xfrm>
          <a:prstGeom prst="rect">
            <a:avLst/>
          </a:prstGeom>
        </p:spPr>
      </p:pic>
      <p:sp>
        <p:nvSpPr>
          <p:cNvPr id="6" name="Text 3"/>
          <p:cNvSpPr txBox="1"/>
          <p:nvPr/>
        </p:nvSpPr>
        <p:spPr>
          <a:xfrm>
            <a:off x="868680" y="3246120"/>
            <a:ext cx="3200400" cy="1097280"/>
          </a:xfrm>
          <a:prstGeom prst="rect">
            <a:avLst/>
          </a:prstGeom>
          <a:noFill/>
          <a:ln/>
        </p:spPr>
        <p:txBody>
          <a:bodyPr wrap="square" lIns="0" tIns="0" rIns="0" bIns="0" rtlCol="0" anchor="ctr"/>
          <a:lstStyle/>
          <a:p>
            <a:pPr indent="0" marL="0">
              <a:buNone/>
            </a:pPr>
            <a:r>
              <a:rPr lang="en-US" sz="8000" b="1" dirty="0">
                <a:solidFill>
                  <a:schemeClr val="tx1"/>
                </a:solidFill>
                <a:latin typeface="+mj-lt" pitchFamily="34" charset="0"/>
                <a:ea typeface="+mj-lt" pitchFamily="34" charset="-122"/>
                <a:cs typeface="+mj-lt" pitchFamily="34" charset="-120"/>
              </a:rPr>
              <a:t>₹0</a:t>
            </a:r>
            <a:endParaRPr lang="en-US" sz="8000" dirty="0"/>
          </a:p>
        </p:txBody>
      </p:sp>
      <p:sp>
        <p:nvSpPr>
          <p:cNvPr id="7" name="Text 4"/>
          <p:cNvSpPr txBox="1"/>
          <p:nvPr/>
        </p:nvSpPr>
        <p:spPr>
          <a:xfrm>
            <a:off x="868680" y="4343400"/>
            <a:ext cx="3200400" cy="457200"/>
          </a:xfrm>
          <a:prstGeom prst="rect">
            <a:avLst/>
          </a:prstGeom>
          <a:noFill/>
          <a:ln/>
        </p:spPr>
        <p:txBody>
          <a:bodyPr wrap="square" lIns="0" tIns="0" rIns="0" bIns="0" rtlCol="0" anchor="t"/>
          <a:lstStyle/>
          <a:p>
            <a:pPr indent="0" marL="0">
              <a:buNone/>
            </a:pPr>
            <a:r>
              <a:rPr lang="en-US" sz="2200" b="1" dirty="0">
                <a:solidFill>
                  <a:schemeClr val="tx1"/>
                </a:solidFill>
              </a:rPr>
              <a:t>for farmers. Always.</a:t>
            </a:r>
            <a:endParaRPr lang="en-US" sz="2200" dirty="0"/>
          </a:p>
        </p:txBody>
      </p:sp>
      <p:sp>
        <p:nvSpPr>
          <p:cNvPr id="8" name="Text 5"/>
          <p:cNvSpPr txBox="1"/>
          <p:nvPr/>
        </p:nvSpPr>
        <p:spPr>
          <a:xfrm>
            <a:off x="868680" y="4892040"/>
            <a:ext cx="3200400" cy="914400"/>
          </a:xfrm>
          <a:prstGeom prst="rect">
            <a:avLst/>
          </a:prstGeom>
          <a:noFill/>
          <a:ln/>
        </p:spPr>
        <p:txBody>
          <a:bodyPr wrap="square" lIns="0" tIns="0" rIns="0" bIns="0" rtlCol="0" anchor="t"/>
          <a:lstStyle/>
          <a:p>
            <a:pPr indent="0" marL="0">
              <a:buNone/>
            </a:pPr>
            <a:r>
              <a:rPr lang="en-US" sz="1500" dirty="0">
                <a:solidFill>
                  <a:schemeClr val="tx1"/>
                </a:solidFill>
              </a:rPr>
              <a:t>Core advisory, alerts and prices stay free: trust first, scale second.</a:t>
            </a:r>
            <a:endParaRPr lang="en-US" sz="1500" dirty="0"/>
          </a:p>
        </p:txBody>
      </p:sp>
      <p:sp>
        <p:nvSpPr>
          <p:cNvPr id="9" name="FPOs &amp; Co-operatives card"/>
          <p:cNvSpPr/>
          <p:nvPr/>
        </p:nvSpPr>
        <p:spPr>
          <a:xfrm>
            <a:off x="4663440" y="1691640"/>
            <a:ext cx="6976872" cy="1280160"/>
          </a:xfrm>
          <a:prstGeom prst="roundRect">
            <a:avLst>
              <a:gd name="adj" fmla="val 8571"/>
            </a:avLst>
          </a:prstGeom>
          <a:solidFill>
            <a:schemeClr val="tx2">
              <a:alpha val="85000"/>
            </a:schemeClr>
          </a:solidFill>
          <a:ln w="9525">
            <a:solidFill>
              <a:schemeClr val="accent2">
                <a:alpha val="35000"/>
              </a:schemeClr>
            </a:solidFill>
            <a:prstDash val="solid"/>
          </a:ln>
        </p:spPr>
      </p:sp>
      <p:sp>
        <p:nvSpPr>
          <p:cNvPr id="10" name="FPOs &amp; Co-operatives circle"/>
          <p:cNvSpPr/>
          <p:nvPr/>
        </p:nvSpPr>
        <p:spPr>
          <a:xfrm>
            <a:off x="4937760" y="1965960"/>
            <a:ext cx="731520" cy="731520"/>
          </a:xfrm>
          <a:prstGeom prst="ellipse">
            <a:avLst/>
          </a:prstGeom>
          <a:solidFill>
            <a:schemeClr val="accent2"/>
          </a:solidFill>
          <a:ln/>
        </p:spPr>
      </p:sp>
      <p:pic>
        <p:nvPicPr>
          <p:cNvPr id="11" name="FPOs &amp; Co-operatives icon" descr="FPOs &amp; Co-operatives">    </p:cNvPr>
          <p:cNvPicPr>
            <a:picLocks noChangeAspect="1"/>
          </p:cNvPicPr>
          <p:nvPr/>
        </p:nvPicPr>
        <p:blipFill>
          <a:blip r:embed="rId2"/>
          <a:stretch>
            <a:fillRect/>
          </a:stretch>
        </p:blipFill>
        <p:spPr>
          <a:xfrm>
            <a:off x="5113325" y="2141525"/>
            <a:ext cx="380390" cy="380390"/>
          </a:xfrm>
          <a:prstGeom prst="rect">
            <a:avLst/>
          </a:prstGeom>
        </p:spPr>
      </p:pic>
      <p:sp>
        <p:nvSpPr>
          <p:cNvPr id="12" name="Text 8"/>
          <p:cNvSpPr txBox="1"/>
          <p:nvPr/>
        </p:nvSpPr>
        <p:spPr>
          <a:xfrm>
            <a:off x="5943600" y="1892808"/>
            <a:ext cx="3840480" cy="365760"/>
          </a:xfrm>
          <a:prstGeom prst="rect">
            <a:avLst/>
          </a:prstGeom>
          <a:noFill/>
          <a:ln/>
        </p:spPr>
        <p:txBody>
          <a:bodyPr wrap="square" lIns="0" tIns="0" rIns="0" bIns="0" rtlCol="0" anchor="t"/>
          <a:lstStyle/>
          <a:p>
            <a:pPr indent="0" marL="0">
              <a:buNone/>
            </a:pPr>
            <a:r>
              <a:rPr lang="en-US" sz="1800" b="1" dirty="0">
                <a:solidFill>
                  <a:schemeClr val="bg1"/>
                </a:solidFill>
              </a:rPr>
              <a:t>FPOs &amp; Co-operatives</a:t>
            </a:r>
            <a:endParaRPr lang="en-US" sz="1800" dirty="0"/>
          </a:p>
        </p:txBody>
      </p:sp>
      <p:sp>
        <p:nvSpPr>
          <p:cNvPr id="13" name="Text 9"/>
          <p:cNvSpPr txBox="1"/>
          <p:nvPr/>
        </p:nvSpPr>
        <p:spPr>
          <a:xfrm>
            <a:off x="5943600" y="2258568"/>
            <a:ext cx="4023360" cy="640080"/>
          </a:xfrm>
          <a:prstGeom prst="rect">
            <a:avLst/>
          </a:prstGeom>
          <a:noFill/>
          <a:ln/>
        </p:spPr>
        <p:txBody>
          <a:bodyPr wrap="square" lIns="0" tIns="0" rIns="0" bIns="0" rtlCol="0" anchor="t"/>
          <a:lstStyle/>
          <a:p>
            <a:pPr indent="0" marL="0">
              <a:buNone/>
            </a:pPr>
            <a:r>
              <a:rPr lang="en-US" sz="1400" dirty="0">
                <a:solidFill>
                  <a:schemeClr val="bg2"/>
                </a:solidFill>
              </a:rPr>
              <a:t>A dashboard to advise and track thousands of member farmers.</a:t>
            </a:r>
            <a:endParaRPr lang="en-US" sz="1400" dirty="0"/>
          </a:p>
        </p:txBody>
      </p:sp>
      <p:sp>
        <p:nvSpPr>
          <p:cNvPr id="14" name="SUBSCRIPTION tag"/>
          <p:cNvSpPr/>
          <p:nvPr/>
        </p:nvSpPr>
        <p:spPr>
          <a:xfrm>
            <a:off x="10058400" y="2148840"/>
            <a:ext cx="1371600" cy="365760"/>
          </a:xfrm>
          <a:prstGeom prst="roundRect">
            <a:avLst>
              <a:gd name="adj" fmla="val 50000"/>
            </a:avLst>
          </a:prstGeom>
          <a:solidFill>
            <a:schemeClr val="tx1">
              <a:alpha val="0"/>
            </a:schemeClr>
          </a:solidFill>
          <a:ln w="12700">
            <a:solidFill>
              <a:schemeClr val="accent1"/>
            </a:solidFill>
            <a:prstDash val="solid"/>
          </a:ln>
        </p:spPr>
      </p:sp>
      <p:sp>
        <p:nvSpPr>
          <p:cNvPr id="15" name="Text 11"/>
          <p:cNvSpPr txBox="1"/>
          <p:nvPr/>
        </p:nvSpPr>
        <p:spPr>
          <a:xfrm>
            <a:off x="10058400" y="2148840"/>
            <a:ext cx="1371600" cy="36576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SUBSCRIPTION</a:t>
            </a:r>
            <a:endParaRPr lang="en-US" sz="1000" dirty="0"/>
          </a:p>
        </p:txBody>
      </p:sp>
      <p:sp>
        <p:nvSpPr>
          <p:cNvPr id="16" name="Agri-Input &amp; Insurance Partners card"/>
          <p:cNvSpPr/>
          <p:nvPr/>
        </p:nvSpPr>
        <p:spPr>
          <a:xfrm>
            <a:off x="4663440" y="3246120"/>
            <a:ext cx="6976872" cy="1280160"/>
          </a:xfrm>
          <a:prstGeom prst="roundRect">
            <a:avLst>
              <a:gd name="adj" fmla="val 8571"/>
            </a:avLst>
          </a:prstGeom>
          <a:solidFill>
            <a:schemeClr val="tx2">
              <a:alpha val="85000"/>
            </a:schemeClr>
          </a:solidFill>
          <a:ln w="9525">
            <a:solidFill>
              <a:schemeClr val="accent2">
                <a:alpha val="35000"/>
              </a:schemeClr>
            </a:solidFill>
            <a:prstDash val="solid"/>
          </a:ln>
        </p:spPr>
      </p:sp>
      <p:sp>
        <p:nvSpPr>
          <p:cNvPr id="17" name="Agri-Input &amp; Insurance Partners circle"/>
          <p:cNvSpPr/>
          <p:nvPr/>
        </p:nvSpPr>
        <p:spPr>
          <a:xfrm>
            <a:off x="4937760" y="3520440"/>
            <a:ext cx="731520" cy="731520"/>
          </a:xfrm>
          <a:prstGeom prst="ellipse">
            <a:avLst/>
          </a:prstGeom>
          <a:solidFill>
            <a:schemeClr val="accent2"/>
          </a:solidFill>
          <a:ln/>
        </p:spPr>
      </p:sp>
      <p:pic>
        <p:nvPicPr>
          <p:cNvPr id="18" name="Agri-Input &amp; Insurance Partners icon" descr="Agri-Input &amp; Insurance Partners">    </p:cNvPr>
          <p:cNvPicPr>
            <a:picLocks noChangeAspect="1"/>
          </p:cNvPicPr>
          <p:nvPr/>
        </p:nvPicPr>
        <p:blipFill>
          <a:blip r:embed="rId3"/>
          <a:stretch>
            <a:fillRect/>
          </a:stretch>
        </p:blipFill>
        <p:spPr>
          <a:xfrm>
            <a:off x="5113325" y="3696005"/>
            <a:ext cx="380390" cy="380390"/>
          </a:xfrm>
          <a:prstGeom prst="rect">
            <a:avLst/>
          </a:prstGeom>
        </p:spPr>
      </p:pic>
      <p:sp>
        <p:nvSpPr>
          <p:cNvPr id="19" name="Text 14"/>
          <p:cNvSpPr txBox="1"/>
          <p:nvPr/>
        </p:nvSpPr>
        <p:spPr>
          <a:xfrm>
            <a:off x="5943600" y="3447288"/>
            <a:ext cx="3840480" cy="365760"/>
          </a:xfrm>
          <a:prstGeom prst="rect">
            <a:avLst/>
          </a:prstGeom>
          <a:noFill/>
          <a:ln/>
        </p:spPr>
        <p:txBody>
          <a:bodyPr wrap="square" lIns="0" tIns="0" rIns="0" bIns="0" rtlCol="0" anchor="t"/>
          <a:lstStyle/>
          <a:p>
            <a:pPr indent="0" marL="0">
              <a:buNone/>
            </a:pPr>
            <a:r>
              <a:rPr lang="en-US" sz="1800" b="1" dirty="0">
                <a:solidFill>
                  <a:schemeClr val="bg1"/>
                </a:solidFill>
              </a:rPr>
              <a:t>Agri-Input &amp; Insurance Partners</a:t>
            </a:r>
            <a:endParaRPr lang="en-US" sz="1800" dirty="0"/>
          </a:p>
        </p:txBody>
      </p:sp>
      <p:sp>
        <p:nvSpPr>
          <p:cNvPr id="20" name="Text 15"/>
          <p:cNvSpPr txBox="1"/>
          <p:nvPr/>
        </p:nvSpPr>
        <p:spPr>
          <a:xfrm>
            <a:off x="5943600" y="3813048"/>
            <a:ext cx="4023360" cy="640080"/>
          </a:xfrm>
          <a:prstGeom prst="rect">
            <a:avLst/>
          </a:prstGeom>
          <a:noFill/>
          <a:ln/>
        </p:spPr>
        <p:txBody>
          <a:bodyPr wrap="square" lIns="0" tIns="0" rIns="0" bIns="0" rtlCol="0" anchor="t"/>
          <a:lstStyle/>
          <a:p>
            <a:pPr indent="0" marL="0">
              <a:buNone/>
            </a:pPr>
            <a:r>
              <a:rPr lang="en-US" sz="1400" dirty="0">
                <a:solidFill>
                  <a:schemeClr val="bg2"/>
                </a:solidFill>
              </a:rPr>
              <a:t>Verified product listings and consent-based, anonymised crop-risk insights.</a:t>
            </a:r>
            <a:endParaRPr lang="en-US" sz="1400" dirty="0"/>
          </a:p>
        </p:txBody>
      </p:sp>
      <p:sp>
        <p:nvSpPr>
          <p:cNvPr id="21" name="PARTNERSHIP tag"/>
          <p:cNvSpPr/>
          <p:nvPr/>
        </p:nvSpPr>
        <p:spPr>
          <a:xfrm>
            <a:off x="10058400" y="3703320"/>
            <a:ext cx="1371600" cy="365760"/>
          </a:xfrm>
          <a:prstGeom prst="roundRect">
            <a:avLst>
              <a:gd name="adj" fmla="val 50000"/>
            </a:avLst>
          </a:prstGeom>
          <a:solidFill>
            <a:schemeClr val="tx1">
              <a:alpha val="0"/>
            </a:schemeClr>
          </a:solidFill>
          <a:ln w="12700">
            <a:solidFill>
              <a:schemeClr val="accent1"/>
            </a:solidFill>
            <a:prstDash val="solid"/>
          </a:ln>
        </p:spPr>
      </p:sp>
      <p:sp>
        <p:nvSpPr>
          <p:cNvPr id="22" name="Text 17"/>
          <p:cNvSpPr txBox="1"/>
          <p:nvPr/>
        </p:nvSpPr>
        <p:spPr>
          <a:xfrm>
            <a:off x="10058400" y="3703320"/>
            <a:ext cx="1371600" cy="36576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PARTNERSHIP</a:t>
            </a:r>
            <a:endParaRPr lang="en-US" sz="1000" dirty="0"/>
          </a:p>
        </p:txBody>
      </p:sp>
      <p:sp>
        <p:nvSpPr>
          <p:cNvPr id="23" name="Government &amp; CSR card"/>
          <p:cNvSpPr/>
          <p:nvPr/>
        </p:nvSpPr>
        <p:spPr>
          <a:xfrm>
            <a:off x="4663440" y="4800600"/>
            <a:ext cx="6976872" cy="1280160"/>
          </a:xfrm>
          <a:prstGeom prst="roundRect">
            <a:avLst>
              <a:gd name="adj" fmla="val 8571"/>
            </a:avLst>
          </a:prstGeom>
          <a:solidFill>
            <a:schemeClr val="tx2">
              <a:alpha val="85000"/>
            </a:schemeClr>
          </a:solidFill>
          <a:ln w="9525">
            <a:solidFill>
              <a:schemeClr val="accent2">
                <a:alpha val="35000"/>
              </a:schemeClr>
            </a:solidFill>
            <a:prstDash val="solid"/>
          </a:ln>
        </p:spPr>
      </p:sp>
      <p:sp>
        <p:nvSpPr>
          <p:cNvPr id="24" name="Government &amp; CSR circle"/>
          <p:cNvSpPr/>
          <p:nvPr/>
        </p:nvSpPr>
        <p:spPr>
          <a:xfrm>
            <a:off x="4937760" y="5074920"/>
            <a:ext cx="731520" cy="731520"/>
          </a:xfrm>
          <a:prstGeom prst="ellipse">
            <a:avLst/>
          </a:prstGeom>
          <a:solidFill>
            <a:schemeClr val="accent2"/>
          </a:solidFill>
          <a:ln/>
        </p:spPr>
      </p:sp>
      <p:pic>
        <p:nvPicPr>
          <p:cNvPr id="25" name="Government &amp; CSR icon" descr="Government &amp; CSR">    </p:cNvPr>
          <p:cNvPicPr>
            <a:picLocks noChangeAspect="1"/>
          </p:cNvPicPr>
          <p:nvPr/>
        </p:nvPicPr>
        <p:blipFill>
          <a:blip r:embed="rId4"/>
          <a:stretch>
            <a:fillRect/>
          </a:stretch>
        </p:blipFill>
        <p:spPr>
          <a:xfrm>
            <a:off x="5113325" y="5250485"/>
            <a:ext cx="380390" cy="380390"/>
          </a:xfrm>
          <a:prstGeom prst="rect">
            <a:avLst/>
          </a:prstGeom>
        </p:spPr>
      </p:pic>
      <p:sp>
        <p:nvSpPr>
          <p:cNvPr id="26" name="Text 20"/>
          <p:cNvSpPr txBox="1"/>
          <p:nvPr/>
        </p:nvSpPr>
        <p:spPr>
          <a:xfrm>
            <a:off x="5943600" y="5001768"/>
            <a:ext cx="3840480" cy="365760"/>
          </a:xfrm>
          <a:prstGeom prst="rect">
            <a:avLst/>
          </a:prstGeom>
          <a:noFill/>
          <a:ln/>
        </p:spPr>
        <p:txBody>
          <a:bodyPr wrap="square" lIns="0" tIns="0" rIns="0" bIns="0" rtlCol="0" anchor="t"/>
          <a:lstStyle/>
          <a:p>
            <a:pPr indent="0" marL="0">
              <a:buNone/>
            </a:pPr>
            <a:r>
              <a:rPr lang="en-US" sz="1800" b="1" dirty="0">
                <a:solidFill>
                  <a:schemeClr val="bg1"/>
                </a:solidFill>
              </a:rPr>
              <a:t>Government &amp; CSR</a:t>
            </a:r>
            <a:endParaRPr lang="en-US" sz="1800" dirty="0"/>
          </a:p>
        </p:txBody>
      </p:sp>
      <p:sp>
        <p:nvSpPr>
          <p:cNvPr id="27" name="Text 21"/>
          <p:cNvSpPr txBox="1"/>
          <p:nvPr/>
        </p:nvSpPr>
        <p:spPr>
          <a:xfrm>
            <a:off x="5943600" y="5367528"/>
            <a:ext cx="4023360" cy="640080"/>
          </a:xfrm>
          <a:prstGeom prst="rect">
            <a:avLst/>
          </a:prstGeom>
          <a:noFill/>
          <a:ln/>
        </p:spPr>
        <p:txBody>
          <a:bodyPr wrap="square" lIns="0" tIns="0" rIns="0" bIns="0" rtlCol="0" anchor="t"/>
          <a:lstStyle/>
          <a:p>
            <a:pPr indent="0" marL="0">
              <a:buNone/>
            </a:pPr>
            <a:r>
              <a:rPr lang="en-US" sz="1400" dirty="0">
                <a:solidFill>
                  <a:schemeClr val="bg2"/>
                </a:solidFill>
              </a:rPr>
              <a:t>White-label deployments for state agriculture departments.</a:t>
            </a:r>
            <a:endParaRPr lang="en-US" sz="1400" dirty="0"/>
          </a:p>
        </p:txBody>
      </p:sp>
      <p:sp>
        <p:nvSpPr>
          <p:cNvPr id="28" name="CONTRACTS tag"/>
          <p:cNvSpPr/>
          <p:nvPr/>
        </p:nvSpPr>
        <p:spPr>
          <a:xfrm>
            <a:off x="10058400" y="5257800"/>
            <a:ext cx="1371600" cy="365760"/>
          </a:xfrm>
          <a:prstGeom prst="roundRect">
            <a:avLst>
              <a:gd name="adj" fmla="val 50000"/>
            </a:avLst>
          </a:prstGeom>
          <a:solidFill>
            <a:schemeClr val="tx1">
              <a:alpha val="0"/>
            </a:schemeClr>
          </a:solidFill>
          <a:ln w="12700">
            <a:solidFill>
              <a:schemeClr val="accent1"/>
            </a:solidFill>
            <a:prstDash val="solid"/>
          </a:ln>
        </p:spPr>
      </p:sp>
      <p:sp>
        <p:nvSpPr>
          <p:cNvPr id="29" name="Text 23"/>
          <p:cNvSpPr txBox="1"/>
          <p:nvPr/>
        </p:nvSpPr>
        <p:spPr>
          <a:xfrm>
            <a:off x="10058400" y="5257800"/>
            <a:ext cx="1371600" cy="36576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CONTRACTS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12  ·  ROADMAP</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From Seed to Harvest: Our Growth Plan</a:t>
            </a:r>
            <a:endParaRPr lang="en-US" sz="3600" dirty="0"/>
          </a:p>
        </p:txBody>
      </p:sp>
      <p:sp>
        <p:nvSpPr>
          <p:cNvPr id="4" name="Timeline"/>
          <p:cNvSpPr/>
          <p:nvPr/>
        </p:nvSpPr>
        <p:spPr>
          <a:xfrm>
            <a:off x="1097280" y="2743200"/>
            <a:ext cx="9966960" cy="0"/>
          </a:xfrm>
          <a:prstGeom prst="line">
            <a:avLst/>
          </a:prstGeom>
          <a:noFill/>
          <a:ln w="31750">
            <a:solidFill>
              <a:schemeClr val="accent1"/>
            </a:solidFill>
            <a:prstDash val="dash"/>
          </a:ln>
        </p:spPr>
      </p:sp>
      <p:sp>
        <p:nvSpPr>
          <p:cNvPr id="5" name="Text 3"/>
          <p:cNvSpPr txBox="1"/>
          <p:nvPr/>
        </p:nvSpPr>
        <p:spPr>
          <a:xfrm>
            <a:off x="548640" y="1600200"/>
            <a:ext cx="2606040" cy="320040"/>
          </a:xfrm>
          <a:prstGeom prst="rect">
            <a:avLst/>
          </a:prstGeom>
          <a:noFill/>
          <a:ln/>
        </p:spPr>
        <p:txBody>
          <a:bodyPr wrap="square" lIns="0" tIns="0" rIns="0" bIns="0" rtlCol="0" anchor="t"/>
          <a:lstStyle/>
          <a:p>
            <a:pPr algn="ctr" indent="0" marL="0">
              <a:buNone/>
            </a:pPr>
            <a:r>
              <a:rPr lang="en-US" sz="1300" b="1" spc="200" kern="0" dirty="0">
                <a:solidFill>
                  <a:schemeClr val="accent1"/>
                </a:solidFill>
              </a:rPr>
              <a:t>NOW · SEED</a:t>
            </a:r>
            <a:endParaRPr lang="en-US" sz="1300" dirty="0"/>
          </a:p>
        </p:txBody>
      </p:sp>
      <p:sp>
        <p:nvSpPr>
          <p:cNvPr id="6" name="Hackathon MVP circle"/>
          <p:cNvSpPr/>
          <p:nvPr/>
        </p:nvSpPr>
        <p:spPr>
          <a:xfrm>
            <a:off x="1394460" y="2286000"/>
            <a:ext cx="914400" cy="914400"/>
          </a:xfrm>
          <a:prstGeom prst="ellipse">
            <a:avLst/>
          </a:prstGeom>
          <a:solidFill>
            <a:schemeClr val="accent1"/>
          </a:solidFill>
          <a:ln/>
        </p:spPr>
      </p:sp>
      <p:pic>
        <p:nvPicPr>
          <p:cNvPr id="7" name="Hackathon MVP icon" descr="Hackathon MVP">    </p:cNvPr>
          <p:cNvPicPr>
            <a:picLocks noChangeAspect="1"/>
          </p:cNvPicPr>
          <p:nvPr/>
        </p:nvPicPr>
        <p:blipFill>
          <a:blip r:embed="rId1"/>
          <a:stretch>
            <a:fillRect/>
          </a:stretch>
        </p:blipFill>
        <p:spPr>
          <a:xfrm>
            <a:off x="1613916" y="2505456"/>
            <a:ext cx="475488" cy="475488"/>
          </a:xfrm>
          <a:prstGeom prst="rect">
            <a:avLst/>
          </a:prstGeom>
        </p:spPr>
      </p:pic>
      <p:sp>
        <p:nvSpPr>
          <p:cNvPr id="8" name="Hackathon MVP card"/>
          <p:cNvSpPr/>
          <p:nvPr/>
        </p:nvSpPr>
        <p:spPr>
          <a:xfrm>
            <a:off x="548640" y="3520440"/>
            <a:ext cx="2606040" cy="2286000"/>
          </a:xfrm>
          <a:prstGeom prst="roundRect">
            <a:avLst>
              <a:gd name="adj" fmla="val 4800"/>
            </a:avLst>
          </a:prstGeom>
          <a:solidFill>
            <a:schemeClr val="tx2">
              <a:alpha val="85000"/>
            </a:schemeClr>
          </a:solidFill>
          <a:ln w="9525">
            <a:solidFill>
              <a:schemeClr val="accent2">
                <a:alpha val="35000"/>
              </a:schemeClr>
            </a:solidFill>
            <a:prstDash val="solid"/>
          </a:ln>
        </p:spPr>
      </p:sp>
      <p:sp>
        <p:nvSpPr>
          <p:cNvPr id="9" name="Text 6"/>
          <p:cNvSpPr txBox="1"/>
          <p:nvPr/>
        </p:nvSpPr>
        <p:spPr>
          <a:xfrm>
            <a:off x="777240" y="3703320"/>
            <a:ext cx="2194560" cy="411480"/>
          </a:xfrm>
          <a:prstGeom prst="rect">
            <a:avLst/>
          </a:prstGeom>
          <a:noFill/>
          <a:ln/>
        </p:spPr>
        <p:txBody>
          <a:bodyPr wrap="square" lIns="0" tIns="0" rIns="0" bIns="0" rtlCol="0" anchor="t"/>
          <a:lstStyle/>
          <a:p>
            <a:pPr indent="0" marL="0">
              <a:buNone/>
            </a:pPr>
            <a:r>
              <a:rPr lang="en-US" sz="1900" b="1" dirty="0">
                <a:solidFill>
                  <a:schemeClr val="bg1"/>
                </a:solidFill>
              </a:rPr>
              <a:t>Hackathon MVP</a:t>
            </a:r>
            <a:endParaRPr lang="en-US" sz="1900" dirty="0"/>
          </a:p>
        </p:txBody>
      </p:sp>
      <p:sp>
        <p:nvSpPr>
          <p:cNvPr id="10" name="Text 7"/>
          <p:cNvSpPr txBox="1"/>
          <p:nvPr/>
        </p:nvSpPr>
        <p:spPr>
          <a:xfrm>
            <a:off x="777240" y="4206240"/>
            <a:ext cx="224028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Crop Doctor for 5 crops</a:t>
            </a:r>
            <a:endParaRPr lang="en-US" sz="1500" dirty="0"/>
          </a:p>
          <a:p>
            <a:pPr marL="342900" indent="-342900">
              <a:spcAft>
                <a:spcPts val="800"/>
              </a:spcAft>
              <a:buSzPct val="100000"/>
              <a:buChar char="•"/>
            </a:pPr>
            <a:r>
              <a:rPr lang="en-US" sz="1500" dirty="0">
                <a:solidFill>
                  <a:schemeClr val="bg2"/>
                </a:solidFill>
              </a:rPr>
              <a:t>Voice in 3 languages</a:t>
            </a:r>
            <a:endParaRPr lang="en-US" sz="1500" dirty="0"/>
          </a:p>
          <a:p>
            <a:pPr marL="342900" indent="-342900">
              <a:spcAft>
                <a:spcPts val="800"/>
              </a:spcAft>
              <a:buSzPct val="100000"/>
              <a:buChar char="•"/>
            </a:pPr>
            <a:r>
              <a:rPr lang="en-US" sz="1500" dirty="0">
                <a:solidFill>
                  <a:schemeClr val="bg2"/>
                </a:solidFill>
              </a:rPr>
              <a:t>Live mandi prices</a:t>
            </a:r>
            <a:endParaRPr lang="en-US" sz="1500" dirty="0"/>
          </a:p>
        </p:txBody>
      </p:sp>
      <p:sp>
        <p:nvSpPr>
          <p:cNvPr id="11" name="Text 8"/>
          <p:cNvSpPr txBox="1"/>
          <p:nvPr/>
        </p:nvSpPr>
        <p:spPr>
          <a:xfrm>
            <a:off x="3364992" y="1600200"/>
            <a:ext cx="2606040" cy="320040"/>
          </a:xfrm>
          <a:prstGeom prst="rect">
            <a:avLst/>
          </a:prstGeom>
          <a:noFill/>
          <a:ln/>
        </p:spPr>
        <p:txBody>
          <a:bodyPr wrap="square" lIns="0" tIns="0" rIns="0" bIns="0" rtlCol="0" anchor="t"/>
          <a:lstStyle/>
          <a:p>
            <a:pPr algn="ctr" indent="0" marL="0">
              <a:buNone/>
            </a:pPr>
            <a:r>
              <a:rPr lang="en-US" sz="1300" b="1" spc="200" kern="0" dirty="0">
                <a:solidFill>
                  <a:schemeClr val="accent1"/>
                </a:solidFill>
              </a:rPr>
              <a:t>MONTH 3 · SPROUT</a:t>
            </a:r>
            <a:endParaRPr lang="en-US" sz="1300" dirty="0"/>
          </a:p>
        </p:txBody>
      </p:sp>
      <p:sp>
        <p:nvSpPr>
          <p:cNvPr id="12" name="Field Pilot circle"/>
          <p:cNvSpPr/>
          <p:nvPr/>
        </p:nvSpPr>
        <p:spPr>
          <a:xfrm>
            <a:off x="4210812" y="2286000"/>
            <a:ext cx="914400" cy="914400"/>
          </a:xfrm>
          <a:prstGeom prst="ellipse">
            <a:avLst/>
          </a:prstGeom>
          <a:solidFill>
            <a:schemeClr val="accent1"/>
          </a:solidFill>
          <a:ln/>
        </p:spPr>
      </p:sp>
      <p:pic>
        <p:nvPicPr>
          <p:cNvPr id="13" name="Field Pilot icon" descr="Field Pilot">    </p:cNvPr>
          <p:cNvPicPr>
            <a:picLocks noChangeAspect="1"/>
          </p:cNvPicPr>
          <p:nvPr/>
        </p:nvPicPr>
        <p:blipFill>
          <a:blip r:embed="rId2"/>
          <a:stretch>
            <a:fillRect/>
          </a:stretch>
        </p:blipFill>
        <p:spPr>
          <a:xfrm>
            <a:off x="4430268" y="2505456"/>
            <a:ext cx="475488" cy="475488"/>
          </a:xfrm>
          <a:prstGeom prst="rect">
            <a:avLst/>
          </a:prstGeom>
        </p:spPr>
      </p:pic>
      <p:sp>
        <p:nvSpPr>
          <p:cNvPr id="14" name="Field Pilot card"/>
          <p:cNvSpPr/>
          <p:nvPr/>
        </p:nvSpPr>
        <p:spPr>
          <a:xfrm>
            <a:off x="3364992" y="3520440"/>
            <a:ext cx="2606040" cy="2286000"/>
          </a:xfrm>
          <a:prstGeom prst="roundRect">
            <a:avLst>
              <a:gd name="adj" fmla="val 4800"/>
            </a:avLst>
          </a:prstGeom>
          <a:solidFill>
            <a:schemeClr val="tx2">
              <a:alpha val="85000"/>
            </a:schemeClr>
          </a:solidFill>
          <a:ln w="9525">
            <a:solidFill>
              <a:schemeClr val="accent2">
                <a:alpha val="35000"/>
              </a:schemeClr>
            </a:solidFill>
            <a:prstDash val="solid"/>
          </a:ln>
        </p:spPr>
      </p:sp>
      <p:sp>
        <p:nvSpPr>
          <p:cNvPr id="15" name="Text 11"/>
          <p:cNvSpPr txBox="1"/>
          <p:nvPr/>
        </p:nvSpPr>
        <p:spPr>
          <a:xfrm>
            <a:off x="3593592" y="3703320"/>
            <a:ext cx="2194560" cy="411480"/>
          </a:xfrm>
          <a:prstGeom prst="rect">
            <a:avLst/>
          </a:prstGeom>
          <a:noFill/>
          <a:ln/>
        </p:spPr>
        <p:txBody>
          <a:bodyPr wrap="square" lIns="0" tIns="0" rIns="0" bIns="0" rtlCol="0" anchor="t"/>
          <a:lstStyle/>
          <a:p>
            <a:pPr indent="0" marL="0">
              <a:buNone/>
            </a:pPr>
            <a:r>
              <a:rPr lang="en-US" sz="1900" b="1" dirty="0">
                <a:solidFill>
                  <a:schemeClr val="bg1"/>
                </a:solidFill>
              </a:rPr>
              <a:t>Field Pilot</a:t>
            </a:r>
            <a:endParaRPr lang="en-US" sz="1900" dirty="0"/>
          </a:p>
        </p:txBody>
      </p:sp>
      <p:sp>
        <p:nvSpPr>
          <p:cNvPr id="16" name="Text 12"/>
          <p:cNvSpPr txBox="1"/>
          <p:nvPr/>
        </p:nvSpPr>
        <p:spPr>
          <a:xfrm>
            <a:off x="3593592" y="4206240"/>
            <a:ext cx="224028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500 farmers, 2 districts</a:t>
            </a:r>
            <a:endParaRPr lang="en-US" sz="1500" dirty="0"/>
          </a:p>
          <a:p>
            <a:pPr marL="342900" indent="-342900">
              <a:spcAft>
                <a:spcPts val="800"/>
              </a:spcAft>
              <a:buSzPct val="100000"/>
              <a:buChar char="•"/>
            </a:pPr>
            <a:r>
              <a:rPr lang="en-US" sz="1500" dirty="0">
                <a:solidFill>
                  <a:schemeClr val="bg2"/>
                </a:solidFill>
              </a:rPr>
              <a:t>Partner with 1 FPO</a:t>
            </a:r>
            <a:endParaRPr lang="en-US" sz="1500" dirty="0"/>
          </a:p>
          <a:p>
            <a:pPr marL="342900" indent="-342900">
              <a:spcAft>
                <a:spcPts val="800"/>
              </a:spcAft>
              <a:buSzPct val="100000"/>
              <a:buChar char="•"/>
            </a:pPr>
            <a:r>
              <a:rPr lang="en-US" sz="1500" dirty="0">
                <a:solidFill>
                  <a:schemeClr val="bg2"/>
                </a:solidFill>
              </a:rPr>
              <a:t>Measure yield &amp; income</a:t>
            </a:r>
            <a:endParaRPr lang="en-US" sz="1500" dirty="0"/>
          </a:p>
        </p:txBody>
      </p:sp>
      <p:sp>
        <p:nvSpPr>
          <p:cNvPr id="17" name="Text 13"/>
          <p:cNvSpPr txBox="1"/>
          <p:nvPr/>
        </p:nvSpPr>
        <p:spPr>
          <a:xfrm>
            <a:off x="6181344" y="1600200"/>
            <a:ext cx="2606040" cy="320040"/>
          </a:xfrm>
          <a:prstGeom prst="rect">
            <a:avLst/>
          </a:prstGeom>
          <a:noFill/>
          <a:ln/>
        </p:spPr>
        <p:txBody>
          <a:bodyPr wrap="square" lIns="0" tIns="0" rIns="0" bIns="0" rtlCol="0" anchor="t"/>
          <a:lstStyle/>
          <a:p>
            <a:pPr algn="ctr" indent="0" marL="0">
              <a:buNone/>
            </a:pPr>
            <a:r>
              <a:rPr lang="en-US" sz="1300" b="1" spc="200" kern="0" dirty="0">
                <a:solidFill>
                  <a:schemeClr val="accent1"/>
                </a:solidFill>
              </a:rPr>
              <a:t>MONTH 6 · GROW</a:t>
            </a:r>
            <a:endParaRPr lang="en-US" sz="1300" dirty="0"/>
          </a:p>
        </p:txBody>
      </p:sp>
      <p:sp>
        <p:nvSpPr>
          <p:cNvPr id="18" name="Expand circle"/>
          <p:cNvSpPr/>
          <p:nvPr/>
        </p:nvSpPr>
        <p:spPr>
          <a:xfrm>
            <a:off x="7027164" y="2286000"/>
            <a:ext cx="914400" cy="914400"/>
          </a:xfrm>
          <a:prstGeom prst="ellipse">
            <a:avLst/>
          </a:prstGeom>
          <a:solidFill>
            <a:schemeClr val="accent1"/>
          </a:solidFill>
          <a:ln/>
        </p:spPr>
      </p:sp>
      <p:pic>
        <p:nvPicPr>
          <p:cNvPr id="19" name="Expand icon" descr="Expand">    </p:cNvPr>
          <p:cNvPicPr>
            <a:picLocks noChangeAspect="1"/>
          </p:cNvPicPr>
          <p:nvPr/>
        </p:nvPicPr>
        <p:blipFill>
          <a:blip r:embed="rId3"/>
          <a:stretch>
            <a:fillRect/>
          </a:stretch>
        </p:blipFill>
        <p:spPr>
          <a:xfrm>
            <a:off x="7246620" y="2505456"/>
            <a:ext cx="475488" cy="475488"/>
          </a:xfrm>
          <a:prstGeom prst="rect">
            <a:avLst/>
          </a:prstGeom>
        </p:spPr>
      </p:pic>
      <p:sp>
        <p:nvSpPr>
          <p:cNvPr id="20" name="Expand card"/>
          <p:cNvSpPr/>
          <p:nvPr/>
        </p:nvSpPr>
        <p:spPr>
          <a:xfrm>
            <a:off x="6181344" y="3520440"/>
            <a:ext cx="2606040" cy="2286000"/>
          </a:xfrm>
          <a:prstGeom prst="roundRect">
            <a:avLst>
              <a:gd name="adj" fmla="val 4800"/>
            </a:avLst>
          </a:prstGeom>
          <a:solidFill>
            <a:schemeClr val="tx2">
              <a:alpha val="85000"/>
            </a:schemeClr>
          </a:solidFill>
          <a:ln w="9525">
            <a:solidFill>
              <a:schemeClr val="accent2">
                <a:alpha val="35000"/>
              </a:schemeClr>
            </a:solidFill>
            <a:prstDash val="solid"/>
          </a:ln>
        </p:spPr>
      </p:sp>
      <p:sp>
        <p:nvSpPr>
          <p:cNvPr id="21" name="Text 16"/>
          <p:cNvSpPr txBox="1"/>
          <p:nvPr/>
        </p:nvSpPr>
        <p:spPr>
          <a:xfrm>
            <a:off x="6409944" y="3703320"/>
            <a:ext cx="2194560" cy="411480"/>
          </a:xfrm>
          <a:prstGeom prst="rect">
            <a:avLst/>
          </a:prstGeom>
          <a:noFill/>
          <a:ln/>
        </p:spPr>
        <p:txBody>
          <a:bodyPr wrap="square" lIns="0" tIns="0" rIns="0" bIns="0" rtlCol="0" anchor="t"/>
          <a:lstStyle/>
          <a:p>
            <a:pPr indent="0" marL="0">
              <a:buNone/>
            </a:pPr>
            <a:r>
              <a:rPr lang="en-US" sz="1900" b="1" dirty="0">
                <a:solidFill>
                  <a:schemeClr val="bg1"/>
                </a:solidFill>
              </a:rPr>
              <a:t>Expand</a:t>
            </a:r>
            <a:endParaRPr lang="en-US" sz="1900" dirty="0"/>
          </a:p>
        </p:txBody>
      </p:sp>
      <p:sp>
        <p:nvSpPr>
          <p:cNvPr id="22" name="Text 17"/>
          <p:cNvSpPr txBox="1"/>
          <p:nvPr/>
        </p:nvSpPr>
        <p:spPr>
          <a:xfrm>
            <a:off x="6409944" y="4206240"/>
            <a:ext cx="224028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10 Indian languages</a:t>
            </a:r>
            <a:endParaRPr lang="en-US" sz="1500" dirty="0"/>
          </a:p>
          <a:p>
            <a:pPr marL="342900" indent="-342900">
              <a:spcAft>
                <a:spcPts val="800"/>
              </a:spcAft>
              <a:buSzPct val="100000"/>
              <a:buChar char="•"/>
            </a:pPr>
            <a:r>
              <a:rPr lang="en-US" sz="1500" dirty="0">
                <a:solidFill>
                  <a:schemeClr val="bg2"/>
                </a:solidFill>
              </a:rPr>
              <a:t>IVR + offline mode</a:t>
            </a:r>
            <a:endParaRPr lang="en-US" sz="1500" dirty="0"/>
          </a:p>
          <a:p>
            <a:pPr marL="342900" indent="-342900">
              <a:spcAft>
                <a:spcPts val="800"/>
              </a:spcAft>
              <a:buSzPct val="100000"/>
              <a:buChar char="•"/>
            </a:pPr>
            <a:r>
              <a:rPr lang="en-US" sz="1500" dirty="0">
                <a:solidFill>
                  <a:schemeClr val="bg2"/>
                </a:solidFill>
              </a:rPr>
              <a:t>Scheme finder live</a:t>
            </a:r>
            <a:endParaRPr lang="en-US" sz="1500" dirty="0"/>
          </a:p>
        </p:txBody>
      </p:sp>
      <p:sp>
        <p:nvSpPr>
          <p:cNvPr id="23" name="Text 18"/>
          <p:cNvSpPr txBox="1"/>
          <p:nvPr/>
        </p:nvSpPr>
        <p:spPr>
          <a:xfrm>
            <a:off x="8997696" y="1600200"/>
            <a:ext cx="2606040" cy="320040"/>
          </a:xfrm>
          <a:prstGeom prst="rect">
            <a:avLst/>
          </a:prstGeom>
          <a:noFill/>
          <a:ln/>
        </p:spPr>
        <p:txBody>
          <a:bodyPr wrap="square" lIns="0" tIns="0" rIns="0" bIns="0" rtlCol="0" anchor="t"/>
          <a:lstStyle/>
          <a:p>
            <a:pPr algn="ctr" indent="0" marL="0">
              <a:buNone/>
            </a:pPr>
            <a:r>
              <a:rPr lang="en-US" sz="1300" b="1" spc="200" kern="0" dirty="0">
                <a:solidFill>
                  <a:schemeClr val="accent1"/>
                </a:solidFill>
              </a:rPr>
              <a:t>MONTH 18 · HARVEST</a:t>
            </a:r>
            <a:endParaRPr lang="en-US" sz="1300" dirty="0"/>
          </a:p>
        </p:txBody>
      </p:sp>
      <p:sp>
        <p:nvSpPr>
          <p:cNvPr id="24" name="Scale circle"/>
          <p:cNvSpPr/>
          <p:nvPr/>
        </p:nvSpPr>
        <p:spPr>
          <a:xfrm>
            <a:off x="9843516" y="2286000"/>
            <a:ext cx="914400" cy="914400"/>
          </a:xfrm>
          <a:prstGeom prst="ellipse">
            <a:avLst/>
          </a:prstGeom>
          <a:solidFill>
            <a:schemeClr val="accent1"/>
          </a:solidFill>
          <a:ln/>
        </p:spPr>
      </p:sp>
      <p:pic>
        <p:nvPicPr>
          <p:cNvPr id="25" name="Scale icon" descr="Scale">    </p:cNvPr>
          <p:cNvPicPr>
            <a:picLocks noChangeAspect="1"/>
          </p:cNvPicPr>
          <p:nvPr/>
        </p:nvPicPr>
        <p:blipFill>
          <a:blip r:embed="rId4"/>
          <a:stretch>
            <a:fillRect/>
          </a:stretch>
        </p:blipFill>
        <p:spPr>
          <a:xfrm>
            <a:off x="10062972" y="2505456"/>
            <a:ext cx="475488" cy="475488"/>
          </a:xfrm>
          <a:prstGeom prst="rect">
            <a:avLst/>
          </a:prstGeom>
        </p:spPr>
      </p:pic>
      <p:sp>
        <p:nvSpPr>
          <p:cNvPr id="26" name="Scale card"/>
          <p:cNvSpPr/>
          <p:nvPr/>
        </p:nvSpPr>
        <p:spPr>
          <a:xfrm>
            <a:off x="8997696" y="3520440"/>
            <a:ext cx="2606040" cy="2286000"/>
          </a:xfrm>
          <a:prstGeom prst="roundRect">
            <a:avLst>
              <a:gd name="adj" fmla="val 4800"/>
            </a:avLst>
          </a:prstGeom>
          <a:solidFill>
            <a:schemeClr val="tx2">
              <a:alpha val="85000"/>
            </a:schemeClr>
          </a:solidFill>
          <a:ln w="9525">
            <a:solidFill>
              <a:schemeClr val="accent2">
                <a:alpha val="35000"/>
              </a:schemeClr>
            </a:solidFill>
            <a:prstDash val="solid"/>
          </a:ln>
        </p:spPr>
      </p:sp>
      <p:sp>
        <p:nvSpPr>
          <p:cNvPr id="27" name="Text 21"/>
          <p:cNvSpPr txBox="1"/>
          <p:nvPr/>
        </p:nvSpPr>
        <p:spPr>
          <a:xfrm>
            <a:off x="9226296" y="3703320"/>
            <a:ext cx="2194560" cy="411480"/>
          </a:xfrm>
          <a:prstGeom prst="rect">
            <a:avLst/>
          </a:prstGeom>
          <a:noFill/>
          <a:ln/>
        </p:spPr>
        <p:txBody>
          <a:bodyPr wrap="square" lIns="0" tIns="0" rIns="0" bIns="0" rtlCol="0" anchor="t"/>
          <a:lstStyle/>
          <a:p>
            <a:pPr indent="0" marL="0">
              <a:buNone/>
            </a:pPr>
            <a:r>
              <a:rPr lang="en-US" sz="1900" b="1" dirty="0">
                <a:solidFill>
                  <a:schemeClr val="bg1"/>
                </a:solidFill>
              </a:rPr>
              <a:t>Scale</a:t>
            </a:r>
            <a:endParaRPr lang="en-US" sz="1900" dirty="0"/>
          </a:p>
        </p:txBody>
      </p:sp>
      <p:sp>
        <p:nvSpPr>
          <p:cNvPr id="28" name="Text 22"/>
          <p:cNvSpPr txBox="1"/>
          <p:nvPr/>
        </p:nvSpPr>
        <p:spPr>
          <a:xfrm>
            <a:off x="9226296" y="4206240"/>
            <a:ext cx="224028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1 million farmers</a:t>
            </a:r>
            <a:endParaRPr lang="en-US" sz="1500" dirty="0"/>
          </a:p>
          <a:p>
            <a:pPr marL="342900" indent="-342900">
              <a:spcAft>
                <a:spcPts val="800"/>
              </a:spcAft>
              <a:buSzPct val="100000"/>
              <a:buChar char="•"/>
            </a:pPr>
            <a:r>
              <a:rPr lang="en-US" sz="1500" dirty="0">
                <a:solidFill>
                  <a:schemeClr val="bg2"/>
                </a:solidFill>
              </a:rPr>
              <a:t>5 states</a:t>
            </a:r>
            <a:endParaRPr lang="en-US" sz="1500" dirty="0"/>
          </a:p>
          <a:p>
            <a:pPr marL="342900" indent="-342900">
              <a:spcAft>
                <a:spcPts val="800"/>
              </a:spcAft>
              <a:buSzPct val="100000"/>
              <a:buChar char="•"/>
            </a:pPr>
            <a:r>
              <a:rPr lang="en-US" sz="1500" dirty="0">
                <a:solidFill>
                  <a:schemeClr val="bg2"/>
                </a:solidFill>
              </a:rPr>
              <a:t>Govt &amp; insurer tie-ups</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1672" cy="1325880"/>
          </a:xfrm>
          <a:prstGeom prst="rect">
            <a:avLst/>
          </a:prstGeom>
          <a:noFill/>
          <a:ln/>
        </p:spPr>
        <p:txBody>
          <a:bodyPr wrap="square" lIns="0" tIns="0" rIns="0" bIns="0" rtlCol="0" anchor="ctr"/>
          <a:lstStyle/>
          <a:p>
            <a:pPr algn="ctr" indent="0" marL="0">
              <a:buNone/>
            </a:pPr>
            <a:r>
              <a:rPr lang="en-US" sz="8000" b="1" dirty="0">
                <a:solidFill>
                  <a:schemeClr val="bg1"/>
                </a:solidFill>
              </a:rPr>
              <a:t>Thank You</a:t>
            </a:r>
            <a:endParaRPr lang="en-US" sz="8000" dirty="0"/>
          </a:p>
        </p:txBody>
      </p:sp>
      <p:sp>
        <p:nvSpPr>
          <p:cNvPr id="3" name="Tagline"/>
          <p:cNvSpPr txBox="1"/>
          <p:nvPr/>
        </p:nvSpPr>
        <p:spPr>
          <a:xfrm>
            <a:off x="548640" y="1874520"/>
            <a:ext cx="11091672" cy="502920"/>
          </a:xfrm>
          <a:prstGeom prst="rect">
            <a:avLst/>
          </a:prstGeom>
          <a:noFill/>
          <a:ln/>
        </p:spPr>
        <p:txBody>
          <a:bodyPr wrap="square" lIns="0" tIns="0" rIns="0" bIns="0" rtlCol="0" anchor="t"/>
          <a:lstStyle/>
          <a:p>
            <a:pPr algn="ctr" indent="0" marL="0">
              <a:buNone/>
            </a:pPr>
            <a:r>
              <a:rPr lang="en-US" sz="2600" i="1" dirty="0">
                <a:solidFill>
                  <a:schemeClr val="accent1"/>
                </a:solidFill>
                <a:latin typeface="+mj-lt" pitchFamily="34" charset="0"/>
                <a:ea typeface="+mj-lt" pitchFamily="34" charset="-122"/>
                <a:cs typeface="+mj-lt" pitchFamily="34" charset="-120"/>
              </a:rPr>
              <a:t>From seed to sale, no farmer left alone.</a:t>
            </a:r>
            <a:endParaRPr lang="en-US" sz="2600" dirty="0"/>
          </a:p>
        </p:txBody>
      </p:sp>
      <p:sp>
        <p:nvSpPr>
          <p:cNvPr id="4" name="Questions"/>
          <p:cNvSpPr txBox="1"/>
          <p:nvPr/>
        </p:nvSpPr>
        <p:spPr>
          <a:xfrm>
            <a:off x="548640" y="2468880"/>
            <a:ext cx="11091672" cy="411480"/>
          </a:xfrm>
          <a:prstGeom prst="rect">
            <a:avLst/>
          </a:prstGeom>
          <a:noFill/>
          <a:ln/>
        </p:spPr>
        <p:txBody>
          <a:bodyPr wrap="square" lIns="0" tIns="0" rIns="0" bIns="0" rtlCol="0" anchor="t"/>
          <a:lstStyle/>
          <a:p>
            <a:pPr algn="ctr" indent="0" marL="0">
              <a:buNone/>
            </a:pPr>
            <a:r>
              <a:rPr lang="en-US" sz="1800" dirty="0">
                <a:solidFill>
                  <a:schemeClr val="bg1"/>
                </a:solidFill>
              </a:rPr>
              <a:t>Questions? Let's grow together.</a:t>
            </a:r>
            <a:endParaRPr lang="en-US" sz="1800" dirty="0"/>
          </a:p>
        </p:txBody>
      </p:sp>
      <p:sp>
        <p:nvSpPr>
          <p:cNvPr id="5" name="Jai Kisan"/>
          <p:cNvSpPr txBox="1"/>
          <p:nvPr/>
        </p:nvSpPr>
        <p:spPr>
          <a:xfrm>
            <a:off x="548640" y="5806440"/>
            <a:ext cx="4572000" cy="411480"/>
          </a:xfrm>
          <a:prstGeom prst="rect">
            <a:avLst/>
          </a:prstGeom>
          <a:noFill/>
          <a:ln/>
        </p:spPr>
        <p:txBody>
          <a:bodyPr wrap="square" lIns="0" tIns="0" rIns="0" bIns="0" rtlCol="0" anchor="t"/>
          <a:lstStyle/>
          <a:p>
            <a:pPr indent="0" marL="0">
              <a:buNone/>
            </a:pPr>
            <a:r>
              <a:rPr lang="en-US" sz="2200" b="1" spc="600" kern="0" dirty="0">
                <a:solidFill>
                  <a:schemeClr val="accent1"/>
                </a:solidFill>
              </a:rPr>
              <a:t>JAI KISAN</a:t>
            </a:r>
            <a:endParaRPr lang="en-US" sz="2200" dirty="0"/>
          </a:p>
        </p:txBody>
      </p:sp>
      <p:sp>
        <p:nvSpPr>
          <p:cNvPr id="6" name="Team footer"/>
          <p:cNvSpPr txBox="1"/>
          <p:nvPr/>
        </p:nvSpPr>
        <p:spPr>
          <a:xfrm>
            <a:off x="548640" y="6236208"/>
            <a:ext cx="6400800" cy="320040"/>
          </a:xfrm>
          <a:prstGeom prst="rect">
            <a:avLst/>
          </a:prstGeom>
          <a:noFill/>
          <a:ln/>
        </p:spPr>
        <p:txBody>
          <a:bodyPr wrap="square" lIns="0" tIns="0" rIns="0" bIns="0" rtlCol="0" anchor="t"/>
          <a:lstStyle/>
          <a:p>
            <a:pPr indent="0" marL="0">
              <a:buNone/>
            </a:pPr>
            <a:r>
              <a:rPr lang="en-US" sz="1300" dirty="0">
                <a:solidFill>
                  <a:schemeClr val="bg2"/>
                </a:solidFill>
              </a:rPr>
              <a:t>[Your Team Name]  ·  KrishiMitra AI  ·  Kai Sandai Hackathon</a:t>
            </a:r>
            <a:endParaRPr lang="en-US" sz="1300" dirty="0"/>
          </a:p>
        </p:txBody>
      </p:sp>
    </p:spTree>
  </p:cSld>
  <p:clrMapOvr>
    <a:masterClrMapping/>
  </p:clrMapOvr>
</p:sld>
</file>

<file path=ppt/theme/theme1.xml><?xml version="1.0" encoding="utf-8"?>
<a:theme xmlns:a="http://schemas.openxmlformats.org/drawingml/2006/main" name="KrishiMitra Harvest">
  <a:themeElements>
    <a:clrScheme name="KrishiMitra Harvest">
      <a:dk1>
        <a:srgbClr val="0B1F14"/>
      </a:dk1>
      <a:lt1>
        <a:srgbClr val="FFFFFF"/>
      </a:lt1>
      <a:dk2>
        <a:srgbClr val="14392A"/>
      </a:dk2>
      <a:lt2>
        <a:srgbClr val="EAF4E4"/>
      </a:lt2>
      <a:accent1>
        <a:srgbClr val="F2B705"/>
      </a:accent1>
      <a:accent2>
        <a:srgbClr val="7BC950"/>
      </a:accent2>
      <a:accent3>
        <a:srgbClr val="2E8B57"/>
      </a:accent3>
      <a:accent4>
        <a:srgbClr val="E4572E"/>
      </a:accent4>
      <a:accent5>
        <a:srgbClr val="4FB3BF"/>
      </a:accent5>
      <a:accent6>
        <a:srgbClr val="A47148"/>
      </a:accent6>
      <a:hlink>
        <a:srgbClr val="F2B705"/>
      </a:hlink>
      <a:folHlink>
        <a:srgbClr val="7BC950"/>
      </a:folHlink>
    </a:clrScheme>
    <a:fontScheme name="KrishiMitra Harv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KrishiMitra AI — Kai Sandai Hackathon Pitch</dc:title>
  <dc:subject>PptxGenJS Presentation</dc:subject>
  <dc:creator>Hackathon Team</dc:creator>
  <cp:lastModifiedBy>Hackathon Team</cp:lastModifiedBy>
  <cp:revision>1</cp:revision>
  <dcterms:created xsi:type="dcterms:W3CDTF">2026-10-29T18:55:38Z</dcterms:created>
  <dcterms:modified xsi:type="dcterms:W3CDTF">2026-10-29T18:55:38Z</dcterms:modified>
</cp:coreProperties>
</file>